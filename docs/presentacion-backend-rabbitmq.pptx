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483f87b3-37de-b288-6ad7-39cc01814f09}">
          <p14:sldIdLst>
            <p14:sldId id="256"/>
            <p14:sldId id="257"/>
            <p14:sldId id="258"/>
          </p14:sldIdLst>
        </p14:section>
        <p14:section name="Conceptos de RabbitMQ" id="{074dea89-be21-221d-0d8d-bf30aafb45f9}">
          <p14:sldIdLst>
            <p14:sldId id="259"/>
            <p14:sldId id="260"/>
            <p14:sldId id="261"/>
          </p14:sldIdLst>
        </p14:section>
        <p14:section name="Topología y flujo" id="{9d2dfec4-e117-dea6-3d41-0bc05b0459e1}">
          <p14:sldIdLst>
            <p14:sldId id="262"/>
            <p14:sldId id="263"/>
            <p14:sldId id="264"/>
            <p14:sldId id="265"/>
          </p14:sldIdLst>
        </p14:section>
        <p14:section name="Confiabilidad" id="{21136ebf-97f9-f10d-3927-b10899cb79ff}">
          <p14:sldIdLst>
            <p14:sldId id="266"/>
            <p14:sldId id="267"/>
          </p14:sldIdLst>
        </p14:section>
        <p14:section name="Frontend y operación" id="{40e36f14-ff4d-5b2e-fe14-373c542efc89}">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Presento el backend de ReservaFit, una app para reservar horarios en gimnasios de barrio. El foco es la mensajería con RabbitMQ: cómo una reserva creada en un microservicio llega a otros dos sin que se conozcan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frontend es una SPA en React que inicia sesión con Microsoft (MSAL) y manda el token JWT al gateway. El gateway enruta por path a cada microservicio. Hay cinco servicios Spring Boot: usuarios, gimnasios, reservas y notificaciones, más el gateway. Lo importante para hoy: ms-reservas publica eventos a RabbitMQ y ms-gimnasios y ms-notificaciones los consumen. La base es un MySQL compartido, pero cada servicio solo usa sus tablas, así que la comunicación entre ellos es por HTTP o por mensajes, nunca por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ms-reservas llamara por HTTP a cada servicio que quiere saber de una reserva, quedaría acoplado a todos ellos: si uno se cae, la reserva falla o el aviso se pierde. Con un evento, ms-reservas solo anuncia 'se creó una reserva' y cada interesado tiene su propia cola. De hecho, ms-notificaciones se agregó en esta rama y el productor casi no cambió: solo se le agregaron campos al mensaje. Ojo: ms-reservas igual usa HTTP para pedir horarios a ms-gimnasios, porque ahí necesita la respuesta al tiro. Mensajes para avisar, HTTP para preguntar.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conceptos. El productor es quien envía el mensaje y el consumidor quien lo recibe; no necesitan conocerse. El exchange es como un cartero: recibe todos los mensajes y decide a qué colas van. Para decidir usa la routing key, una etiqueta que lleva el mensaje, y el binding, la regla de cada cola. La cola es una fila de espera: si el servicio está apagado, los mensajes lo esperan ahí. El mensaje mismo es un JSON con los datos de la reserva. Y la cola de errores guarda los mensajes que no se pudieron procesar.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RabbitMQ tiene tres tipos de exchange principales. Direct compara la routing key exacta; lo usamos para el exchange de dead letters, donde cada DLQ se enlaza con su nombre. Topic permite patrones: asterisco calza exactamente una palabra y gato calza cero o más. Nuestro exchange de eventos es topic y las colas se enlazan con booking.*, que acepta created y cancelled pero no booking solo ni una key con tres palabras. Fanout copiaría todo a todas las colas; topic nos deja filtrar si en el futuro publicamos otros tipos de eventos.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distinción clave. A la izquierda, lo que hacemos: dos colas distintas enlazadas al mismo exchange con el mismo patrón, entonces cada mensaje se copia a las dos y cada servicio procesa su copia por su cuenta. A la derecha, el otro patrón: si levantara dos instancias de ms-gimnasios leyendo de la misma cola, se repartirían los mensajes, y eso sirve para escalar. En ReservaFit cada servicio es dueño de su cola y la declara en su propio RabbitConfig.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topología completa. ms-reservas envía cada mensaje al exchange reservafit.events con la etiqueta booking.created o booking.cancelled. Hay dos colas con la regla booking.*: gimnasios.bookings, de ms-gimnasios, y notificaciones.bookings, de ms-notificaciones; cada una recibe su copia. Abajo está el camino de los errores: si un mensaje no se puede procesar, la cola lo manda a un exchange de errores, que lo deja en la cola de errores de ese servicio.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mensaje que viaja por RabbitMQ: un JSON con los datos de la reserva. Cada servicio tiene su propia copia de esta clase, así que no comparten código; lo único que tiene que coincidir son los nombres de los campos. En esta rama agregamos el nombre del gimnasio y el horario, para que ms-notificaciones pueda escribir 'Reservaste en Fuerza Barrio Gym…' sin tener que preguntarle nada a otro servicio.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Recorramos una reserva de punta a punta. Uno: en el frontend el usuario pulsa Reservar y se manda POST /api/reservas al gateway con el token. Dos: ms-reservas revisa que la fecha sea válida y que el horario esté libre, y guarda. Tres: prepara el mensaje, pero todavía no lo envía. Cuatro: la reserva queda guardada y el usuario ve su confirmación. Cinco: recién ahí se envía el mensaje a RabbitMQ. Seis: el exchange lo copia a las dos colas. Siete: cada consumidor hace lo suyo en paralelo. Ocho: la campana del frontend lo muestra. La cancelación sigue el mismo camino con booking.cancelled.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¿Cuándo se manda el mensaje? Si se mandara antes de guardar y la reserva fallara, por ejemplo porque dos personas pidieron el mismo horario al mismo tiempo, los otros servicios recibirían una reserva que no existe. Por eso ms-reservas espera a que la reserva quede guardada en la base de datos y recién ahí envía el mensaje. Si RabbitMQ falla, la reserva no se pierde: el usuario igual recibe su confirmación y el error queda en el log. Lo que se podría mejorar: si RabbitMQ está caído justo en ese instante, ese aviso no se vuelve a enviar.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RabbitMQ asegura que el mensaje llega, pero en casos raros puede llegar dos veces, por ejemplo si un servicio se cae justo después de procesarlo. Por eso los dos servicios que reciben están preparados. ms-gimnasios guarda la reserva con el mismo número que tiene en ms-reservas, así que si llega repetida simplemente sobrescribe el mismo registro. ms-notificaciones revisa si ya creó ese aviso antes de crearlo, y la base de datos tampoco permite duplicados.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pasa si un servicio no puede procesar un mensaje? Primero se reintenta, esperando 1, 2 y 4 segundos entre intentos; muchas veces el problema era pasajero y se arregla solo. Si después de 4 intentos sigue fallando, se deja de intentar para no trabar la cola, se registra el error y el mensaje pasa a la cola de errores. Ahí queda guardado: se puede revisar o reenviar desde el panel de RabbitMQ. Por ejemplo, una reserva de un gimnasio que no existe termina en gimnasios.bookings.dlq.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Aunque la presentación es del backend, el frontend es donde se ve el resultado. La campana de notificaciones consulta GET /api/notificaciones cada 30 segundos y no consulta si la pestaña está oculta. Como el mensaje viaja por RabbitMQ después de la respuesta HTTP, justo al reservar no está listo todavía: por eso, al reservar o cancelar, el panel dispara un evento del navegador y la campana recarga 1,5 segundos después. Esto es consistencia eventual en la práctica. Elegimos polling en vez de WebSocket o SSE por simplicidad: el gateway y la seguridad ya funcionan con HTTP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se levanta con Docker Compose. El orden importa por RabbitMQ: ms-gimnasios y ms-notificaciones crean sus colas al partir, así que ms-reservas espera a que estén listos; si no, sus primeros mensajes no tendrían dónde llegar. Los datos de MySQL y RabbitMQ se guardan en disco, así que los mensajes pendientes sobreviven a un reinicio. Para la demo uso el panel de RabbitMQ en el puerto 15672, donde se ven las colas y los mensajes.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seis ideas. Los servicios son independientes: ms-reservas avisa y no necesita saber quién escucha. Cada servicio tiene su propia cola y recibe su copia. El mensaje solo sale si la reserva se guardó. Los mensajes repetidos no duplican nada. Los errores se reintentan y, si siguen, quedan guardados para revisarlos. Y el usuario ve el resultado en la campana del frontend.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24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703320"/>
            <a:ext cx="10698480" cy="109728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ReservaFit · Backend y RabbitMQ</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F24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ircle-1"/>
          <p:cNvSpPr/>
          <p:nvPr/>
        </p:nvSpPr>
        <p:spPr>
          <a:xfrm>
            <a:off x="731520" y="1051560"/>
            <a:ext cx="868680" cy="868680"/>
          </a:xfrm>
          <a:prstGeom prst="ellipse">
            <a:avLst/>
          </a:prstGeom>
          <a:solidFill>
            <a:schemeClr val="accent1"/>
          </a:solidFill>
          <a:ln/>
        </p:spPr>
      </p:sp>
      <p:pic>
        <p:nvPicPr>
          <p:cNvPr id="3" name="icon-2" descr="preencoded.png">    </p:cNvPr>
          <p:cNvPicPr>
            <a:picLocks noChangeAspect="1"/>
          </p:cNvPicPr>
          <p:nvPr/>
        </p:nvPicPr>
        <p:blipFill>
          <a:blip r:embed="rId1"/>
          <a:stretch>
            <a:fillRect/>
          </a:stretch>
        </p:blipFill>
        <p:spPr>
          <a:xfrm>
            <a:off x="948690" y="1268730"/>
            <a:ext cx="434340" cy="434340"/>
          </a:xfrm>
          <a:prstGeom prst="rect">
            <a:avLst/>
          </a:prstGeom>
        </p:spPr>
      </p:pic>
      <p:sp>
        <p:nvSpPr>
          <p:cNvPr id="4" name="Text 0"/>
          <p:cNvSpPr/>
          <p:nvPr>
            <p:ph idx="100" type="title" hasCustomPrompt="1"/>
          </p:nvPr>
        </p:nvSpPr>
        <p:spPr>
          <a:xfrm>
            <a:off x="731520" y="2103120"/>
            <a:ext cx="10698480" cy="1463040"/>
          </a:xfrm>
          <a:prstGeom prst="rect">
            <a:avLst/>
          </a:prstGeom>
          <a:noFill/>
          <a:ln/>
        </p:spPr>
        <p:txBody>
          <a:bodyPr wrap="square" lIns="0" tIns="0" rIns="0" bIns="0" rtlCol="0" anchor="b"/>
          <a:lstStyle/>
          <a:p>
            <a:pPr algn="l" indent="0" marL="0">
              <a:buNone/>
            </a:pPr>
            <a:r>
              <a:rPr lang="en-US" sz="4800" b="1" dirty="0">
                <a:solidFill>
                  <a:schemeClr val="bg1"/>
                </a:solidFill>
              </a:rPr>
              <a:t>Mensajería asíncrona con RabbitMQ</a:t>
            </a:r>
            <a:endParaRPr lang="en-US" sz="4800" dirty="0"/>
          </a:p>
        </p:txBody>
      </p:sp>
      <p:sp>
        <p:nvSpPr>
          <p:cNvPr id="5" name="Text 0"/>
          <p:cNvSpPr/>
          <p:nvPr>
            <p:ph idx="101" type="body" hasCustomPrompt="1"/>
          </p:nvPr>
        </p:nvSpPr>
        <p:spPr>
          <a:xfrm>
            <a:off x="731520" y="3703320"/>
            <a:ext cx="10698480" cy="1097280"/>
          </a:xfrm>
          <a:prstGeom prst="rect">
            <a:avLst/>
          </a:prstGeom>
          <a:noFill/>
          <a:ln/>
        </p:spPr>
        <p:txBody>
          <a:bodyPr wrap="square" lIns="0" tIns="0" rIns="0" bIns="0" rtlCol="0" anchor="t"/>
          <a:lstStyle/>
          <a:p>
            <a:pPr algn="l" indent="0" marL="0">
              <a:buNone/>
            </a:pPr>
            <a:r>
              <a:rPr lang="en-US" sz="2200" dirty="0">
                <a:solidFill>
                  <a:schemeClr val="bg2"/>
                </a:solidFill>
              </a:rPr>
              <a:t>Backend de ReservaFit: cómo viaja una reserva entre microservicios</a:t>
            </a:r>
            <a:endParaRPr lang="en-US" sz="2200" dirty="0"/>
          </a:p>
        </p:txBody>
      </p:sp>
      <p:sp>
        <p:nvSpPr>
          <p:cNvPr id="6" name="text-3"/>
          <p:cNvSpPr txBox="1"/>
          <p:nvPr/>
        </p:nvSpPr>
        <p:spPr>
          <a:xfrm>
            <a:off x="731520" y="5760720"/>
            <a:ext cx="10698480" cy="365760"/>
          </a:xfrm>
          <a:prstGeom prst="rect">
            <a:avLst/>
          </a:prstGeom>
          <a:noFill/>
          <a:ln/>
        </p:spPr>
        <p:txBody>
          <a:bodyPr wrap="square" lIns="0" tIns="0" rIns="0" bIns="0" rtlCol="0" anchor="ctr"/>
          <a:lstStyle/>
          <a:p>
            <a:pPr algn="l" indent="0" marL="0">
              <a:buNone/>
            </a:pPr>
            <a:r>
              <a:rPr lang="en-US" sz="1400" dirty="0">
                <a:solidFill>
                  <a:schemeClr val="accent6"/>
                </a:solidFill>
              </a:rPr>
              <a:t>Spring Boot 4 · Spring AMQP · RabbitMQ · MySQL · Docker Compose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Arquitectura: cinco servicios detrás de un gateway</a:t>
            </a:r>
            <a:endParaRPr lang="en-US" sz="3200" dirty="0"/>
          </a:p>
        </p:txBody>
      </p:sp>
      <p:sp>
        <p:nvSpPr>
          <p:cNvPr id="3" name="box-4"/>
          <p:cNvSpPr/>
          <p:nvPr/>
        </p:nvSpPr>
        <p:spPr>
          <a:xfrm>
            <a:off x="548640" y="2514600"/>
            <a:ext cx="1737360" cy="1188720"/>
          </a:xfrm>
          <a:prstGeom prst="roundRect">
            <a:avLst>
              <a:gd name="adj" fmla="val 9231"/>
            </a:avLst>
          </a:prstGeom>
          <a:solidFill>
            <a:schemeClr val="accent5"/>
          </a:solidFill>
          <a:ln/>
        </p:spPr>
      </p:sp>
      <p:sp>
        <p:nvSpPr>
          <p:cNvPr id="4" name="label-5"/>
          <p:cNvSpPr txBox="1"/>
          <p:nvPr/>
        </p:nvSpPr>
        <p:spPr>
          <a:xfrm>
            <a:off x="548640" y="2514600"/>
            <a:ext cx="1737360" cy="1188720"/>
          </a:xfrm>
          <a:prstGeom prst="rect">
            <a:avLst/>
          </a:prstGeom>
          <a:noFill/>
          <a:ln/>
        </p:spPr>
        <p:txBody>
          <a:bodyPr wrap="square" lIns="762" tIns="762" rIns="762" bIns="762" rtlCol="0" anchor="ctr"/>
          <a:lstStyle/>
          <a:p>
            <a:pPr algn="ctr" indent="0" marL="0">
              <a:buNone/>
            </a:pPr>
            <a:r>
              <a:rPr lang="en-US" sz="1500" b="1" dirty="0">
                <a:solidFill>
                  <a:schemeClr val="bg1"/>
                </a:solidFill>
              </a:rPr>
              <a:t>Frontend SPA</a:t>
            </a:r>
            <a:endParaRPr lang="en-US" sz="1500" dirty="0"/>
          </a:p>
          <a:p>
            <a:pPr algn="ctr" indent="0" marL="0">
              <a:buNone/>
            </a:pPr>
            <a:r>
              <a:rPr lang="en-US" sz="1500" dirty="0">
                <a:solidFill>
                  <a:schemeClr val="bg1"/>
                </a:solidFill>
              </a:rPr>
              <a:t>React + MSAL</a:t>
            </a:r>
            <a:endParaRPr lang="en-US" sz="1500" dirty="0"/>
          </a:p>
        </p:txBody>
      </p:sp>
      <p:sp>
        <p:nvSpPr>
          <p:cNvPr id="5" name="arrow-6"/>
          <p:cNvSpPr/>
          <p:nvPr/>
        </p:nvSpPr>
        <p:spPr>
          <a:xfrm>
            <a:off x="2286000" y="3108960"/>
            <a:ext cx="822960" cy="914"/>
          </a:xfrm>
          <a:prstGeom prst="line">
            <a:avLst/>
          </a:prstGeom>
          <a:noFill/>
          <a:ln w="25400">
            <a:solidFill>
              <a:schemeClr val="accent6"/>
            </a:solidFill>
            <a:prstDash val="solid"/>
            <a:tailEnd type="triangle"/>
          </a:ln>
        </p:spPr>
      </p:sp>
      <p:sp>
        <p:nvSpPr>
          <p:cNvPr id="6" name="text-7"/>
          <p:cNvSpPr txBox="1"/>
          <p:nvPr/>
        </p:nvSpPr>
        <p:spPr>
          <a:xfrm>
            <a:off x="2240280" y="2651760"/>
            <a:ext cx="914400" cy="365760"/>
          </a:xfrm>
          <a:prstGeom prst="rect">
            <a:avLst/>
          </a:prstGeom>
          <a:noFill/>
          <a:ln/>
        </p:spPr>
        <p:txBody>
          <a:bodyPr wrap="square" lIns="0" tIns="0" rIns="0" bIns="0" rtlCol="0" anchor="ctr"/>
          <a:lstStyle/>
          <a:p>
            <a:pPr algn="ctr" indent="0" marL="0">
              <a:buNone/>
            </a:pPr>
            <a:r>
              <a:rPr lang="en-US" sz="1100" dirty="0">
                <a:solidFill>
                  <a:schemeClr val="accent6"/>
                </a:solidFill>
              </a:rPr>
              <a:t>HTTP + JWT</a:t>
            </a:r>
            <a:endParaRPr lang="en-US" sz="1100" dirty="0"/>
          </a:p>
        </p:txBody>
      </p:sp>
      <p:sp>
        <p:nvSpPr>
          <p:cNvPr id="7" name="box-8"/>
          <p:cNvSpPr/>
          <p:nvPr/>
        </p:nvSpPr>
        <p:spPr>
          <a:xfrm>
            <a:off x="3108960" y="2514600"/>
            <a:ext cx="1737360" cy="1188720"/>
          </a:xfrm>
          <a:prstGeom prst="roundRect">
            <a:avLst>
              <a:gd name="adj" fmla="val 9231"/>
            </a:avLst>
          </a:prstGeom>
          <a:solidFill>
            <a:schemeClr val="tx2"/>
          </a:solidFill>
          <a:ln/>
        </p:spPr>
      </p:sp>
      <p:sp>
        <p:nvSpPr>
          <p:cNvPr id="8" name="label-9"/>
          <p:cNvSpPr txBox="1"/>
          <p:nvPr/>
        </p:nvSpPr>
        <p:spPr>
          <a:xfrm>
            <a:off x="3108960" y="2514600"/>
            <a:ext cx="1737360" cy="1188720"/>
          </a:xfrm>
          <a:prstGeom prst="rect">
            <a:avLst/>
          </a:prstGeom>
          <a:noFill/>
          <a:ln/>
        </p:spPr>
        <p:txBody>
          <a:bodyPr wrap="square" lIns="762" tIns="762" rIns="762" bIns="762" rtlCol="0" anchor="ctr"/>
          <a:lstStyle/>
          <a:p>
            <a:pPr algn="ctr" indent="0" marL="0">
              <a:buNone/>
            </a:pPr>
            <a:r>
              <a:rPr lang="en-US" sz="1500" b="1" dirty="0">
                <a:solidFill>
                  <a:schemeClr val="bg1"/>
                </a:solidFill>
              </a:rPr>
              <a:t>API Gateway</a:t>
            </a:r>
            <a:endParaRPr lang="en-US" sz="1500" dirty="0"/>
          </a:p>
          <a:p>
            <a:pPr algn="ctr" indent="0" marL="0">
              <a:buNone/>
            </a:pPr>
            <a:r>
              <a:rPr lang="en-US" sz="1500" dirty="0">
                <a:solidFill>
                  <a:schemeClr val="bg1"/>
                </a:solidFill>
              </a:rPr>
              <a:t>:8080</a:t>
            </a:r>
            <a:endParaRPr lang="en-US" sz="1500" dirty="0"/>
          </a:p>
        </p:txBody>
      </p:sp>
      <p:sp>
        <p:nvSpPr>
          <p:cNvPr id="9" name="box-10"/>
          <p:cNvSpPr/>
          <p:nvPr/>
        </p:nvSpPr>
        <p:spPr>
          <a:xfrm>
            <a:off x="5486400" y="1325880"/>
            <a:ext cx="2377440" cy="777240"/>
          </a:xfrm>
          <a:prstGeom prst="roundRect">
            <a:avLst>
              <a:gd name="adj" fmla="val 14118"/>
            </a:avLst>
          </a:prstGeom>
          <a:solidFill>
            <a:schemeClr val="bg2"/>
          </a:solidFill>
          <a:ln/>
        </p:spPr>
      </p:sp>
      <p:sp>
        <p:nvSpPr>
          <p:cNvPr id="10" name="label-11"/>
          <p:cNvSpPr txBox="1"/>
          <p:nvPr/>
        </p:nvSpPr>
        <p:spPr>
          <a:xfrm>
            <a:off x="5486400" y="1325880"/>
            <a:ext cx="2377440" cy="777240"/>
          </a:xfrm>
          <a:prstGeom prst="rect">
            <a:avLst/>
          </a:prstGeom>
          <a:noFill/>
          <a:ln/>
        </p:spPr>
        <p:txBody>
          <a:bodyPr wrap="square" lIns="762" tIns="762" rIns="762" bIns="762" rtlCol="0" anchor="ctr"/>
          <a:lstStyle/>
          <a:p>
            <a:pPr algn="ctr" indent="0" marL="0">
              <a:buNone/>
            </a:pPr>
            <a:r>
              <a:rPr lang="en-US" sz="1400" b="1" dirty="0">
                <a:solidFill>
                  <a:schemeClr val="tx1"/>
                </a:solidFill>
              </a:rPr>
              <a:t>ms-usuarios</a:t>
            </a:r>
            <a:endParaRPr lang="en-US" sz="1400" dirty="0"/>
          </a:p>
          <a:p>
            <a:pPr algn="ctr" indent="0" marL="0">
              <a:buNone/>
            </a:pPr>
            <a:r>
              <a:rPr lang="en-US" sz="1400" dirty="0">
                <a:solidFill>
                  <a:schemeClr val="tx1"/>
                </a:solidFill>
              </a:rPr>
              <a:t>:8081</a:t>
            </a:r>
            <a:endParaRPr lang="en-US" sz="1400" dirty="0"/>
          </a:p>
        </p:txBody>
      </p:sp>
      <p:sp>
        <p:nvSpPr>
          <p:cNvPr id="11" name="arrow-12"/>
          <p:cNvSpPr/>
          <p:nvPr/>
        </p:nvSpPr>
        <p:spPr>
          <a:xfrm flipV="1">
            <a:off x="4846320" y="1714500"/>
            <a:ext cx="640080" cy="1394460"/>
          </a:xfrm>
          <a:prstGeom prst="line">
            <a:avLst/>
          </a:prstGeom>
          <a:noFill/>
          <a:ln w="19050">
            <a:solidFill>
              <a:schemeClr val="accent6"/>
            </a:solidFill>
            <a:prstDash val="solid"/>
            <a:tailEnd type="triangle"/>
          </a:ln>
        </p:spPr>
      </p:sp>
      <p:sp>
        <p:nvSpPr>
          <p:cNvPr id="12" name="box-13"/>
          <p:cNvSpPr/>
          <p:nvPr/>
        </p:nvSpPr>
        <p:spPr>
          <a:xfrm>
            <a:off x="5486400" y="2286000"/>
            <a:ext cx="2377440" cy="777240"/>
          </a:xfrm>
          <a:prstGeom prst="roundRect">
            <a:avLst>
              <a:gd name="adj" fmla="val 14118"/>
            </a:avLst>
          </a:prstGeom>
          <a:solidFill>
            <a:schemeClr val="accent2"/>
          </a:solidFill>
          <a:ln/>
        </p:spPr>
      </p:sp>
      <p:sp>
        <p:nvSpPr>
          <p:cNvPr id="13" name="label-14"/>
          <p:cNvSpPr txBox="1"/>
          <p:nvPr/>
        </p:nvSpPr>
        <p:spPr>
          <a:xfrm>
            <a:off x="5486400" y="2286000"/>
            <a:ext cx="2377440" cy="777240"/>
          </a:xfrm>
          <a:prstGeom prst="rect">
            <a:avLst/>
          </a:prstGeom>
          <a:noFill/>
          <a:ln/>
        </p:spPr>
        <p:txBody>
          <a:bodyPr wrap="square" lIns="762" tIns="762" rIns="762" bIns="762" rtlCol="0" anchor="ctr"/>
          <a:lstStyle/>
          <a:p>
            <a:pPr algn="ctr" indent="0" marL="0">
              <a:buNone/>
            </a:pPr>
            <a:r>
              <a:rPr lang="en-US" sz="1400" b="1" dirty="0">
                <a:solidFill>
                  <a:schemeClr val="bg1"/>
                </a:solidFill>
              </a:rPr>
              <a:t>ms-gimnasios</a:t>
            </a:r>
            <a:endParaRPr lang="en-US" sz="1400" dirty="0"/>
          </a:p>
          <a:p>
            <a:pPr algn="ctr" indent="0" marL="0">
              <a:buNone/>
            </a:pPr>
            <a:r>
              <a:rPr lang="en-US" sz="1400" dirty="0">
                <a:solidFill>
                  <a:schemeClr val="bg1"/>
                </a:solidFill>
              </a:rPr>
              <a:t>:8082  consume</a:t>
            </a:r>
            <a:endParaRPr lang="en-US" sz="1400" dirty="0"/>
          </a:p>
        </p:txBody>
      </p:sp>
      <p:sp>
        <p:nvSpPr>
          <p:cNvPr id="14" name="arrow-15"/>
          <p:cNvSpPr/>
          <p:nvPr/>
        </p:nvSpPr>
        <p:spPr>
          <a:xfrm flipV="1">
            <a:off x="4846320" y="2674620"/>
            <a:ext cx="640080" cy="434340"/>
          </a:xfrm>
          <a:prstGeom prst="line">
            <a:avLst/>
          </a:prstGeom>
          <a:noFill/>
          <a:ln w="19050">
            <a:solidFill>
              <a:schemeClr val="accent6"/>
            </a:solidFill>
            <a:prstDash val="solid"/>
            <a:tailEnd type="triangle"/>
          </a:ln>
        </p:spPr>
      </p:sp>
      <p:sp>
        <p:nvSpPr>
          <p:cNvPr id="15" name="box-16"/>
          <p:cNvSpPr/>
          <p:nvPr/>
        </p:nvSpPr>
        <p:spPr>
          <a:xfrm>
            <a:off x="5486400" y="3246120"/>
            <a:ext cx="2377440" cy="777240"/>
          </a:xfrm>
          <a:prstGeom prst="roundRect">
            <a:avLst>
              <a:gd name="adj" fmla="val 14118"/>
            </a:avLst>
          </a:prstGeom>
          <a:solidFill>
            <a:schemeClr val="accent1"/>
          </a:solidFill>
          <a:ln/>
        </p:spPr>
      </p:sp>
      <p:sp>
        <p:nvSpPr>
          <p:cNvPr id="16" name="label-17"/>
          <p:cNvSpPr txBox="1"/>
          <p:nvPr/>
        </p:nvSpPr>
        <p:spPr>
          <a:xfrm>
            <a:off x="5486400" y="3246120"/>
            <a:ext cx="2377440" cy="777240"/>
          </a:xfrm>
          <a:prstGeom prst="rect">
            <a:avLst/>
          </a:prstGeom>
          <a:noFill/>
          <a:ln/>
        </p:spPr>
        <p:txBody>
          <a:bodyPr wrap="square" lIns="762" tIns="762" rIns="762" bIns="762" rtlCol="0" anchor="ctr"/>
          <a:lstStyle/>
          <a:p>
            <a:pPr algn="ctr" indent="0" marL="0">
              <a:buNone/>
            </a:pPr>
            <a:r>
              <a:rPr lang="en-US" sz="1400" b="1" dirty="0">
                <a:solidFill>
                  <a:schemeClr val="bg1"/>
                </a:solidFill>
              </a:rPr>
              <a:t>ms-reservas</a:t>
            </a:r>
            <a:endParaRPr lang="en-US" sz="1400" dirty="0"/>
          </a:p>
          <a:p>
            <a:pPr algn="ctr" indent="0" marL="0">
              <a:buNone/>
            </a:pPr>
            <a:r>
              <a:rPr lang="en-US" sz="1400" dirty="0">
                <a:solidFill>
                  <a:schemeClr val="bg1"/>
                </a:solidFill>
              </a:rPr>
              <a:t>:8083  publica</a:t>
            </a:r>
            <a:endParaRPr lang="en-US" sz="1400" dirty="0"/>
          </a:p>
        </p:txBody>
      </p:sp>
      <p:sp>
        <p:nvSpPr>
          <p:cNvPr id="17" name="arrow-18"/>
          <p:cNvSpPr/>
          <p:nvPr/>
        </p:nvSpPr>
        <p:spPr>
          <a:xfrm>
            <a:off x="4846320" y="3108960"/>
            <a:ext cx="640080" cy="525780"/>
          </a:xfrm>
          <a:prstGeom prst="line">
            <a:avLst/>
          </a:prstGeom>
          <a:noFill/>
          <a:ln w="19050">
            <a:solidFill>
              <a:schemeClr val="accent6"/>
            </a:solidFill>
            <a:prstDash val="solid"/>
            <a:tailEnd type="triangle"/>
          </a:ln>
        </p:spPr>
      </p:sp>
      <p:sp>
        <p:nvSpPr>
          <p:cNvPr id="18" name="box-19"/>
          <p:cNvSpPr/>
          <p:nvPr/>
        </p:nvSpPr>
        <p:spPr>
          <a:xfrm>
            <a:off x="5486400" y="4206240"/>
            <a:ext cx="2377440" cy="777240"/>
          </a:xfrm>
          <a:prstGeom prst="roundRect">
            <a:avLst>
              <a:gd name="adj" fmla="val 14118"/>
            </a:avLst>
          </a:prstGeom>
          <a:solidFill>
            <a:schemeClr val="accent3"/>
          </a:solidFill>
          <a:ln/>
        </p:spPr>
      </p:sp>
      <p:sp>
        <p:nvSpPr>
          <p:cNvPr id="19" name="label-20"/>
          <p:cNvSpPr txBox="1"/>
          <p:nvPr/>
        </p:nvSpPr>
        <p:spPr>
          <a:xfrm>
            <a:off x="5486400" y="4206240"/>
            <a:ext cx="2377440" cy="777240"/>
          </a:xfrm>
          <a:prstGeom prst="rect">
            <a:avLst/>
          </a:prstGeom>
          <a:noFill/>
          <a:ln/>
        </p:spPr>
        <p:txBody>
          <a:bodyPr wrap="square" lIns="762" tIns="762" rIns="762" bIns="762" rtlCol="0" anchor="ctr"/>
          <a:lstStyle/>
          <a:p>
            <a:pPr algn="ctr" indent="0" marL="0">
              <a:buNone/>
            </a:pPr>
            <a:r>
              <a:rPr lang="en-US" sz="1400" b="1" dirty="0">
                <a:solidFill>
                  <a:schemeClr val="bg1"/>
                </a:solidFill>
              </a:rPr>
              <a:t>ms-notificaciones</a:t>
            </a:r>
            <a:endParaRPr lang="en-US" sz="1400" dirty="0"/>
          </a:p>
          <a:p>
            <a:pPr algn="ctr" indent="0" marL="0">
              <a:buNone/>
            </a:pPr>
            <a:r>
              <a:rPr lang="en-US" sz="1400" dirty="0">
                <a:solidFill>
                  <a:schemeClr val="bg1"/>
                </a:solidFill>
              </a:rPr>
              <a:t>:8084  consume</a:t>
            </a:r>
            <a:endParaRPr lang="en-US" sz="1400" dirty="0"/>
          </a:p>
        </p:txBody>
      </p:sp>
      <p:sp>
        <p:nvSpPr>
          <p:cNvPr id="20" name="arrow-21"/>
          <p:cNvSpPr/>
          <p:nvPr/>
        </p:nvSpPr>
        <p:spPr>
          <a:xfrm>
            <a:off x="4846320" y="3108960"/>
            <a:ext cx="640080" cy="1485900"/>
          </a:xfrm>
          <a:prstGeom prst="line">
            <a:avLst/>
          </a:prstGeom>
          <a:noFill/>
          <a:ln w="19050">
            <a:solidFill>
              <a:schemeClr val="accent6"/>
            </a:solidFill>
            <a:prstDash val="solid"/>
            <a:tailEnd type="triangle"/>
          </a:ln>
        </p:spPr>
      </p:sp>
      <p:sp>
        <p:nvSpPr>
          <p:cNvPr id="21" name="box-22"/>
          <p:cNvSpPr/>
          <p:nvPr/>
        </p:nvSpPr>
        <p:spPr>
          <a:xfrm>
            <a:off x="8778240" y="2057400"/>
            <a:ext cx="2834640" cy="2103120"/>
          </a:xfrm>
          <a:prstGeom prst="roundRect">
            <a:avLst>
              <a:gd name="adj" fmla="val 6522"/>
            </a:avLst>
          </a:prstGeom>
          <a:solidFill>
            <a:schemeClr val="bg2"/>
          </a:solidFill>
          <a:ln w="15875">
            <a:solidFill>
              <a:schemeClr val="accent1"/>
            </a:solidFill>
            <a:prstDash val="solid"/>
          </a:ln>
        </p:spPr>
      </p:sp>
      <p:pic>
        <p:nvPicPr>
          <p:cNvPr id="22" name="icon-23" descr="preencoded.png">    </p:cNvPr>
          <p:cNvPicPr>
            <a:picLocks noChangeAspect="1"/>
          </p:cNvPicPr>
          <p:nvPr/>
        </p:nvPicPr>
        <p:blipFill>
          <a:blip r:embed="rId1"/>
          <a:stretch>
            <a:fillRect/>
          </a:stretch>
        </p:blipFill>
        <p:spPr>
          <a:xfrm>
            <a:off x="9921240" y="2240280"/>
            <a:ext cx="548640" cy="548640"/>
          </a:xfrm>
          <a:prstGeom prst="rect">
            <a:avLst/>
          </a:prstGeom>
        </p:spPr>
      </p:pic>
      <p:sp>
        <p:nvSpPr>
          <p:cNvPr id="23" name="text-24"/>
          <p:cNvSpPr txBox="1"/>
          <p:nvPr/>
        </p:nvSpPr>
        <p:spPr>
          <a:xfrm>
            <a:off x="8778240" y="2834640"/>
            <a:ext cx="2834640" cy="822960"/>
          </a:xfrm>
          <a:prstGeom prst="rect">
            <a:avLst/>
          </a:prstGeom>
          <a:noFill/>
          <a:ln/>
        </p:spPr>
        <p:txBody>
          <a:bodyPr wrap="square" lIns="0" tIns="0" rIns="0" bIns="0" rtlCol="0" anchor="ctr"/>
          <a:lstStyle/>
          <a:p>
            <a:pPr algn="ctr" indent="0" marL="0">
              <a:buNone/>
            </a:pPr>
            <a:r>
              <a:rPr lang="en-US" sz="1800" b="1" dirty="0">
                <a:solidFill>
                  <a:schemeClr val="tx1"/>
                </a:solidFill>
              </a:rPr>
              <a:t>RabbitMQ</a:t>
            </a:r>
            <a:endParaRPr lang="en-US" sz="1300" dirty="0"/>
          </a:p>
          <a:p>
            <a:pPr algn="ctr" indent="0" marL="0">
              <a:buNone/>
            </a:pPr>
            <a:r>
              <a:rPr lang="en-US" sz="1300" dirty="0">
                <a:solidFill>
                  <a:schemeClr val="accent6"/>
                </a:solidFill>
              </a:rPr>
              <a:t>exchange reservafit.events</a:t>
            </a:r>
            <a:endParaRPr lang="en-US" sz="1300" dirty="0"/>
          </a:p>
        </p:txBody>
      </p:sp>
      <p:sp>
        <p:nvSpPr>
          <p:cNvPr id="24" name="arrow-25"/>
          <p:cNvSpPr/>
          <p:nvPr/>
        </p:nvSpPr>
        <p:spPr>
          <a:xfrm flipV="1">
            <a:off x="7863840" y="3429000"/>
            <a:ext cx="914400" cy="210312"/>
          </a:xfrm>
          <a:prstGeom prst="line">
            <a:avLst/>
          </a:prstGeom>
          <a:noFill/>
          <a:ln w="28575">
            <a:solidFill>
              <a:schemeClr val="accent1"/>
            </a:solidFill>
            <a:prstDash val="solid"/>
            <a:tailEnd type="triangle"/>
          </a:ln>
        </p:spPr>
      </p:sp>
      <p:sp>
        <p:nvSpPr>
          <p:cNvPr id="25" name="arrow-26"/>
          <p:cNvSpPr/>
          <p:nvPr/>
        </p:nvSpPr>
        <p:spPr>
          <a:xfrm flipH="1">
            <a:off x="7863840" y="2468880"/>
            <a:ext cx="914400" cy="205740"/>
          </a:xfrm>
          <a:prstGeom prst="line">
            <a:avLst/>
          </a:prstGeom>
          <a:noFill/>
          <a:ln w="28575">
            <a:solidFill>
              <a:schemeClr val="accent2"/>
            </a:solidFill>
            <a:prstDash val="solid"/>
            <a:tailEnd type="triangle"/>
          </a:ln>
        </p:spPr>
      </p:sp>
      <p:sp>
        <p:nvSpPr>
          <p:cNvPr id="26" name="arrow-27"/>
          <p:cNvSpPr/>
          <p:nvPr/>
        </p:nvSpPr>
        <p:spPr>
          <a:xfrm flipH="1">
            <a:off x="7863840" y="3977640"/>
            <a:ext cx="914400" cy="548640"/>
          </a:xfrm>
          <a:prstGeom prst="line">
            <a:avLst/>
          </a:prstGeom>
          <a:noFill/>
          <a:ln w="28575">
            <a:solidFill>
              <a:schemeClr val="accent3"/>
            </a:solidFill>
            <a:prstDash val="solid"/>
            <a:tailEnd type="triangle"/>
          </a:ln>
        </p:spPr>
      </p:sp>
      <p:sp>
        <p:nvSpPr>
          <p:cNvPr id="27" name="box-28"/>
          <p:cNvSpPr/>
          <p:nvPr/>
        </p:nvSpPr>
        <p:spPr>
          <a:xfrm>
            <a:off x="548640" y="5349240"/>
            <a:ext cx="11064240" cy="685800"/>
          </a:xfrm>
          <a:prstGeom prst="roundRect">
            <a:avLst>
              <a:gd name="adj" fmla="val 16000"/>
            </a:avLst>
          </a:prstGeom>
          <a:solidFill>
            <a:schemeClr val="bg2"/>
          </a:solidFill>
          <a:ln/>
        </p:spPr>
      </p:sp>
      <p:sp>
        <p:nvSpPr>
          <p:cNvPr id="28" name="label-29"/>
          <p:cNvSpPr txBox="1"/>
          <p:nvPr/>
        </p:nvSpPr>
        <p:spPr>
          <a:xfrm>
            <a:off x="548640" y="5349240"/>
            <a:ext cx="11064240" cy="685800"/>
          </a:xfrm>
          <a:prstGeom prst="rect">
            <a:avLst/>
          </a:prstGeom>
          <a:noFill/>
          <a:ln/>
        </p:spPr>
        <p:txBody>
          <a:bodyPr wrap="square" lIns="762" tIns="762" rIns="762" bIns="762" rtlCol="0" anchor="ctr"/>
          <a:lstStyle/>
          <a:p>
            <a:pPr algn="ctr" indent="0" marL="0">
              <a:buNone/>
            </a:pPr>
            <a:r>
              <a:rPr lang="en-US" sz="1300" dirty="0">
                <a:solidFill>
                  <a:schemeClr val="tx1"/>
                </a:solidFill>
              </a:rPr>
              <a:t>MySQL compartido, pero cada servicio solo toca sus propias tablas (sin FK entre servicios)</a:t>
            </a:r>
            <a:endParaRPr lang="en-US" sz="1300" dirty="0"/>
          </a:p>
        </p:txBody>
      </p:sp>
      <p:sp>
        <p:nvSpPr>
          <p:cNvPr id="29" name="text-30"/>
          <p:cNvSpPr txBox="1"/>
          <p:nvPr/>
        </p:nvSpPr>
        <p:spPr>
          <a:xfrm>
            <a:off x="548640" y="4114800"/>
            <a:ext cx="4297680" cy="822960"/>
          </a:xfrm>
          <a:prstGeom prst="rect">
            <a:avLst/>
          </a:prstGeom>
          <a:noFill/>
          <a:ln/>
        </p:spPr>
        <p:txBody>
          <a:bodyPr wrap="square" lIns="0" tIns="0" rIns="0" bIns="0" rtlCol="0" anchor="ctr"/>
          <a:lstStyle/>
          <a:p>
            <a:pPr algn="l" indent="0" marL="0">
              <a:buNone/>
            </a:pPr>
            <a:r>
              <a:rPr lang="en-US" sz="1400" dirty="0">
                <a:solidFill>
                  <a:schemeClr val="tx1"/>
                </a:solidFill>
              </a:rPr>
              <a:t>Todo pasa por el gateway: el navegador nunca habla directo con un microservicio</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¿Por qué mensajes y no solo llamadas HTTP?</a:t>
            </a:r>
            <a:endParaRPr lang="en-US" sz="3200" dirty="0"/>
          </a:p>
        </p:txBody>
      </p:sp>
      <p:sp>
        <p:nvSpPr>
          <p:cNvPr id="3" name="box-31"/>
          <p:cNvSpPr/>
          <p:nvPr/>
        </p:nvSpPr>
        <p:spPr>
          <a:xfrm>
            <a:off x="548640" y="1371600"/>
            <a:ext cx="5349240" cy="3931920"/>
          </a:xfrm>
          <a:prstGeom prst="roundRect">
            <a:avLst>
              <a:gd name="adj" fmla="val 3488"/>
            </a:avLst>
          </a:prstGeom>
          <a:solidFill>
            <a:schemeClr val="bg2"/>
          </a:solidFill>
          <a:ln/>
        </p:spPr>
      </p:sp>
      <p:sp>
        <p:nvSpPr>
          <p:cNvPr id="4" name="dot-32"/>
          <p:cNvSpPr/>
          <p:nvPr/>
        </p:nvSpPr>
        <p:spPr>
          <a:xfrm>
            <a:off x="868680" y="1645920"/>
            <a:ext cx="457200" cy="457200"/>
          </a:xfrm>
          <a:prstGeom prst="ellipse">
            <a:avLst/>
          </a:prstGeom>
          <a:solidFill>
            <a:schemeClr val="accent6"/>
          </a:solidFill>
          <a:ln/>
        </p:spPr>
      </p:sp>
      <p:sp>
        <p:nvSpPr>
          <p:cNvPr id="5" name="text-33"/>
          <p:cNvSpPr txBox="1"/>
          <p:nvPr/>
        </p:nvSpPr>
        <p:spPr>
          <a:xfrm>
            <a:off x="1463040" y="1600200"/>
            <a:ext cx="4160520" cy="548640"/>
          </a:xfrm>
          <a:prstGeom prst="rect">
            <a:avLst/>
          </a:prstGeom>
          <a:noFill/>
          <a:ln/>
        </p:spPr>
        <p:txBody>
          <a:bodyPr wrap="square" lIns="0" tIns="0" rIns="0" bIns="0" rtlCol="0" anchor="ctr"/>
          <a:lstStyle/>
          <a:p>
            <a:pPr algn="l" indent="0" marL="0">
              <a:buNone/>
            </a:pPr>
            <a:r>
              <a:rPr lang="en-US" sz="2000" b="1" dirty="0">
                <a:solidFill>
                  <a:schemeClr val="tx1"/>
                </a:solidFill>
              </a:rPr>
              <a:t>Llamada HTTP síncrona</a:t>
            </a:r>
            <a:endParaRPr lang="en-US" sz="2000" dirty="0"/>
          </a:p>
        </p:txBody>
      </p:sp>
      <p:sp>
        <p:nvSpPr>
          <p:cNvPr id="6" name="list-34"/>
          <p:cNvSpPr txBox="1"/>
          <p:nvPr/>
        </p:nvSpPr>
        <p:spPr>
          <a:xfrm>
            <a:off x="914400" y="2377440"/>
            <a:ext cx="4617720" cy="3291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ms-reservas tendría que conocer y llamar a cada servicio interesado</a:t>
            </a:r>
            <a:endParaRPr lang="en-US" sz="1600" dirty="0"/>
          </a:p>
          <a:p>
            <a:pPr marL="228600" indent="-228600">
              <a:spcAft>
                <a:spcPts val="800"/>
              </a:spcAft>
              <a:buSzPct val="100000"/>
              <a:buChar char="•"/>
            </a:pPr>
            <a:r>
              <a:rPr lang="en-US" sz="1600" dirty="0">
                <a:solidFill>
                  <a:schemeClr val="tx1"/>
                </a:solidFill>
              </a:rPr>
              <a:t>Si ms-notificaciones está caído, la reserva falla o se pierde el aviso</a:t>
            </a:r>
            <a:endParaRPr lang="en-US" sz="1600" dirty="0"/>
          </a:p>
          <a:p>
            <a:pPr marL="228600" indent="-228600">
              <a:spcAft>
                <a:spcPts val="800"/>
              </a:spcAft>
              <a:buSzPct val="100000"/>
              <a:buChar char="•"/>
            </a:pPr>
            <a:r>
              <a:rPr lang="en-US" sz="1600" dirty="0">
                <a:solidFill>
                  <a:schemeClr val="tx1"/>
                </a:solidFill>
              </a:rPr>
              <a:t>El usuario tiene que esperar a que respondan todos</a:t>
            </a:r>
            <a:endParaRPr lang="en-US" sz="1600" dirty="0"/>
          </a:p>
          <a:p>
            <a:pPr marL="228600" indent="-228600">
              <a:spcAft>
                <a:spcPts val="800"/>
              </a:spcAft>
              <a:buSzPct val="100000"/>
              <a:buChar char="•"/>
            </a:pPr>
            <a:r>
              <a:rPr lang="en-US" sz="1600" dirty="0">
                <a:solidFill>
                  <a:schemeClr val="tx1"/>
                </a:solidFill>
              </a:rPr>
              <a:t>Agregar un consumidor nuevo obliga a tocar ms-reservas</a:t>
            </a:r>
            <a:endParaRPr lang="en-US" sz="1600" dirty="0"/>
          </a:p>
        </p:txBody>
      </p:sp>
      <p:sp>
        <p:nvSpPr>
          <p:cNvPr id="7" name="box-35"/>
          <p:cNvSpPr/>
          <p:nvPr/>
        </p:nvSpPr>
        <p:spPr>
          <a:xfrm>
            <a:off x="6263640" y="1371600"/>
            <a:ext cx="5349240" cy="3931920"/>
          </a:xfrm>
          <a:prstGeom prst="roundRect">
            <a:avLst>
              <a:gd name="adj" fmla="val 3488"/>
            </a:avLst>
          </a:prstGeom>
          <a:solidFill>
            <a:schemeClr val="bg2"/>
          </a:solidFill>
          <a:ln/>
        </p:spPr>
      </p:sp>
      <p:sp>
        <p:nvSpPr>
          <p:cNvPr id="8" name="dot-36"/>
          <p:cNvSpPr/>
          <p:nvPr/>
        </p:nvSpPr>
        <p:spPr>
          <a:xfrm>
            <a:off x="6583680" y="1645920"/>
            <a:ext cx="457200" cy="457200"/>
          </a:xfrm>
          <a:prstGeom prst="ellipse">
            <a:avLst/>
          </a:prstGeom>
          <a:solidFill>
            <a:schemeClr val="accent1"/>
          </a:solidFill>
          <a:ln/>
        </p:spPr>
      </p:sp>
      <p:sp>
        <p:nvSpPr>
          <p:cNvPr id="9" name="text-37"/>
          <p:cNvSpPr txBox="1"/>
          <p:nvPr/>
        </p:nvSpPr>
        <p:spPr>
          <a:xfrm>
            <a:off x="7178040" y="1600200"/>
            <a:ext cx="4160520" cy="548640"/>
          </a:xfrm>
          <a:prstGeom prst="rect">
            <a:avLst/>
          </a:prstGeom>
          <a:noFill/>
          <a:ln/>
        </p:spPr>
        <p:txBody>
          <a:bodyPr wrap="square" lIns="0" tIns="0" rIns="0" bIns="0" rtlCol="0" anchor="ctr"/>
          <a:lstStyle/>
          <a:p>
            <a:pPr algn="l" indent="0" marL="0">
              <a:buNone/>
            </a:pPr>
            <a:r>
              <a:rPr lang="en-US" sz="2000" b="1" dirty="0">
                <a:solidFill>
                  <a:schemeClr val="tx1"/>
                </a:solidFill>
              </a:rPr>
              <a:t>Evento por RabbitMQ (lo que usamos)</a:t>
            </a:r>
            <a:endParaRPr lang="en-US" sz="2000" dirty="0"/>
          </a:p>
        </p:txBody>
      </p:sp>
      <p:sp>
        <p:nvSpPr>
          <p:cNvPr id="10" name="list-38"/>
          <p:cNvSpPr txBox="1"/>
          <p:nvPr/>
        </p:nvSpPr>
        <p:spPr>
          <a:xfrm>
            <a:off x="6629400" y="2377440"/>
            <a:ext cx="4617720" cy="3291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ms-reservas publica un evento y no sabe quién lo lee</a:t>
            </a:r>
            <a:endParaRPr lang="en-US" sz="1600" dirty="0"/>
          </a:p>
          <a:p>
            <a:pPr marL="228600" indent="-228600">
              <a:spcAft>
                <a:spcPts val="800"/>
              </a:spcAft>
              <a:buSzPct val="100000"/>
              <a:buChar char="•"/>
            </a:pPr>
            <a:r>
              <a:rPr lang="en-US" sz="1600" dirty="0">
                <a:solidFill>
                  <a:schemeClr val="tx1"/>
                </a:solidFill>
              </a:rPr>
              <a:t>Si un consumidor está caído, el mensaje espera en su cola</a:t>
            </a:r>
            <a:endParaRPr lang="en-US" sz="1600" dirty="0"/>
          </a:p>
          <a:p>
            <a:pPr marL="228600" indent="-228600">
              <a:spcAft>
                <a:spcPts val="800"/>
              </a:spcAft>
              <a:buSzPct val="100000"/>
              <a:buChar char="•"/>
            </a:pPr>
            <a:r>
              <a:rPr lang="en-US" sz="1600" dirty="0">
                <a:solidFill>
                  <a:schemeClr val="tx1"/>
                </a:solidFill>
              </a:rPr>
              <a:t>El usuario ve su confirmación apenas se guarda la reserva</a:t>
            </a:r>
            <a:endParaRPr lang="en-US" sz="1600" dirty="0"/>
          </a:p>
          <a:p>
            <a:pPr marL="228600" indent="-228600">
              <a:spcAft>
                <a:spcPts val="800"/>
              </a:spcAft>
              <a:buSzPct val="100000"/>
              <a:buChar char="•"/>
            </a:pPr>
            <a:r>
              <a:rPr lang="en-US" sz="1600" dirty="0">
                <a:solidFill>
                  <a:schemeClr val="tx1"/>
                </a:solidFill>
              </a:rPr>
              <a:t>ms-notificaciones se agregó sin cambiar la lógica del productor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Conceptos clave de RabbitMQ</a:t>
            </a:r>
            <a:endParaRPr lang="en-US" sz="3200" dirty="0"/>
          </a:p>
        </p:txBody>
      </p:sp>
      <p:sp>
        <p:nvSpPr>
          <p:cNvPr id="3" name="box-39"/>
          <p:cNvSpPr/>
          <p:nvPr/>
        </p:nvSpPr>
        <p:spPr>
          <a:xfrm>
            <a:off x="548640" y="1325880"/>
            <a:ext cx="3520440" cy="2331720"/>
          </a:xfrm>
          <a:prstGeom prst="roundRect">
            <a:avLst>
              <a:gd name="adj" fmla="val 4706"/>
            </a:avLst>
          </a:prstGeom>
          <a:solidFill>
            <a:schemeClr val="bg2"/>
          </a:solidFill>
          <a:ln/>
        </p:spPr>
      </p:sp>
      <p:sp>
        <p:nvSpPr>
          <p:cNvPr id="4" name="circle-40"/>
          <p:cNvSpPr/>
          <p:nvPr/>
        </p:nvSpPr>
        <p:spPr>
          <a:xfrm>
            <a:off x="777240" y="1554480"/>
            <a:ext cx="548640" cy="548640"/>
          </a:xfrm>
          <a:prstGeom prst="ellipse">
            <a:avLst/>
          </a:prstGeom>
          <a:solidFill>
            <a:schemeClr val="accent1"/>
          </a:solidFill>
          <a:ln/>
        </p:spPr>
      </p:sp>
      <p:pic>
        <p:nvPicPr>
          <p:cNvPr id="5" name="icon-41" descr="preencoded.png">    </p:cNvPr>
          <p:cNvPicPr>
            <a:picLocks noChangeAspect="1"/>
          </p:cNvPicPr>
          <p:nvPr/>
        </p:nvPicPr>
        <p:blipFill>
          <a:blip r:embed="rId1"/>
          <a:stretch>
            <a:fillRect/>
          </a:stretch>
        </p:blipFill>
        <p:spPr>
          <a:xfrm>
            <a:off x="914400" y="1691640"/>
            <a:ext cx="274320" cy="274320"/>
          </a:xfrm>
          <a:prstGeom prst="rect">
            <a:avLst/>
          </a:prstGeom>
        </p:spPr>
      </p:pic>
      <p:sp>
        <p:nvSpPr>
          <p:cNvPr id="6" name="text-42"/>
          <p:cNvSpPr txBox="1"/>
          <p:nvPr/>
        </p:nvSpPr>
        <p:spPr>
          <a:xfrm>
            <a:off x="1463040" y="1554480"/>
            <a:ext cx="2423160" cy="548640"/>
          </a:xfrm>
          <a:prstGeom prst="rect">
            <a:avLst/>
          </a:prstGeom>
          <a:noFill/>
          <a:ln/>
        </p:spPr>
        <p:txBody>
          <a:bodyPr wrap="square" lIns="0" tIns="0" rIns="0" bIns="0" rtlCol="0" anchor="ctr"/>
          <a:lstStyle/>
          <a:p>
            <a:pPr algn="l" indent="0" marL="0">
              <a:buNone/>
            </a:pPr>
            <a:r>
              <a:rPr lang="en-US" sz="1700" b="1" dirty="0">
                <a:solidFill>
                  <a:schemeClr val="tx1"/>
                </a:solidFill>
              </a:rPr>
              <a:t>Productor y consumidor</a:t>
            </a:r>
            <a:endParaRPr lang="en-US" sz="1700" dirty="0"/>
          </a:p>
        </p:txBody>
      </p:sp>
      <p:sp>
        <p:nvSpPr>
          <p:cNvPr id="7" name="text-43"/>
          <p:cNvSpPr txBox="1"/>
          <p:nvPr/>
        </p:nvSpPr>
        <p:spPr>
          <a:xfrm>
            <a:off x="777240" y="2194560"/>
            <a:ext cx="3063240" cy="914400"/>
          </a:xfrm>
          <a:prstGeom prst="rect">
            <a:avLst/>
          </a:prstGeom>
          <a:noFill/>
          <a:ln/>
        </p:spPr>
        <p:txBody>
          <a:bodyPr wrap="square" lIns="0" tIns="0" rIns="0" bIns="0" rtlCol="0" anchor="t"/>
          <a:lstStyle/>
          <a:p>
            <a:pPr algn="l" indent="0" marL="0">
              <a:buNone/>
            </a:pPr>
            <a:r>
              <a:rPr lang="en-US" sz="1400" dirty="0">
                <a:solidFill>
                  <a:schemeClr val="tx1"/>
                </a:solidFill>
              </a:rPr>
              <a:t>Quien envía el mensaje y quien lo recibe. No necesitan conocerse.</a:t>
            </a:r>
            <a:endParaRPr lang="en-US" sz="1400" dirty="0"/>
          </a:p>
        </p:txBody>
      </p:sp>
      <p:sp>
        <p:nvSpPr>
          <p:cNvPr id="8" name="text-44"/>
          <p:cNvSpPr txBox="1"/>
          <p:nvPr/>
        </p:nvSpPr>
        <p:spPr>
          <a:xfrm>
            <a:off x="777240" y="3108960"/>
            <a:ext cx="3063240" cy="411480"/>
          </a:xfrm>
          <a:prstGeom prst="rect">
            <a:avLst/>
          </a:prstGeom>
          <a:noFill/>
          <a:ln/>
        </p:spPr>
        <p:txBody>
          <a:bodyPr wrap="square" lIns="0" tIns="0" rIns="0" bIns="0" rtlCol="0" anchor="t"/>
          <a:lstStyle/>
          <a:p>
            <a:pPr algn="l" indent="0" marL="0">
              <a:buNone/>
            </a:pPr>
            <a:r>
              <a:rPr lang="en-US" sz="1200" i="1" dirty="0">
                <a:solidFill>
                  <a:schemeClr val="accent6"/>
                </a:solidFill>
              </a:rPr>
              <a:t>ms-reservas envía; ms-gimnasios y ms-notificaciones reciben</a:t>
            </a:r>
            <a:endParaRPr lang="en-US" sz="1200" dirty="0"/>
          </a:p>
        </p:txBody>
      </p:sp>
      <p:sp>
        <p:nvSpPr>
          <p:cNvPr id="9" name="box-45"/>
          <p:cNvSpPr/>
          <p:nvPr/>
        </p:nvSpPr>
        <p:spPr>
          <a:xfrm>
            <a:off x="4320540" y="1325880"/>
            <a:ext cx="3520440" cy="2331720"/>
          </a:xfrm>
          <a:prstGeom prst="roundRect">
            <a:avLst>
              <a:gd name="adj" fmla="val 4706"/>
            </a:avLst>
          </a:prstGeom>
          <a:solidFill>
            <a:schemeClr val="bg2"/>
          </a:solidFill>
          <a:ln/>
        </p:spPr>
      </p:sp>
      <p:sp>
        <p:nvSpPr>
          <p:cNvPr id="10" name="circle-46"/>
          <p:cNvSpPr/>
          <p:nvPr/>
        </p:nvSpPr>
        <p:spPr>
          <a:xfrm>
            <a:off x="4549140" y="1554480"/>
            <a:ext cx="548640" cy="548640"/>
          </a:xfrm>
          <a:prstGeom prst="ellipse">
            <a:avLst/>
          </a:prstGeom>
          <a:solidFill>
            <a:schemeClr val="accent1"/>
          </a:solidFill>
          <a:ln/>
        </p:spPr>
      </p:sp>
      <p:pic>
        <p:nvPicPr>
          <p:cNvPr id="11" name="icon-47" descr="preencoded.png">    </p:cNvPr>
          <p:cNvPicPr>
            <a:picLocks noChangeAspect="1"/>
          </p:cNvPicPr>
          <p:nvPr/>
        </p:nvPicPr>
        <p:blipFill>
          <a:blip r:embed="rId2"/>
          <a:stretch>
            <a:fillRect/>
          </a:stretch>
        </p:blipFill>
        <p:spPr>
          <a:xfrm>
            <a:off x="4686300" y="1691640"/>
            <a:ext cx="274320" cy="274320"/>
          </a:xfrm>
          <a:prstGeom prst="rect">
            <a:avLst/>
          </a:prstGeom>
        </p:spPr>
      </p:pic>
      <p:sp>
        <p:nvSpPr>
          <p:cNvPr id="12" name="text-48"/>
          <p:cNvSpPr txBox="1"/>
          <p:nvPr/>
        </p:nvSpPr>
        <p:spPr>
          <a:xfrm>
            <a:off x="5234940" y="1554480"/>
            <a:ext cx="2423160" cy="548640"/>
          </a:xfrm>
          <a:prstGeom prst="rect">
            <a:avLst/>
          </a:prstGeom>
          <a:noFill/>
          <a:ln/>
        </p:spPr>
        <p:txBody>
          <a:bodyPr wrap="square" lIns="0" tIns="0" rIns="0" bIns="0" rtlCol="0" anchor="ctr"/>
          <a:lstStyle/>
          <a:p>
            <a:pPr algn="l" indent="0" marL="0">
              <a:buNone/>
            </a:pPr>
            <a:r>
              <a:rPr lang="en-US" sz="1700" b="1" dirty="0">
                <a:solidFill>
                  <a:schemeClr val="tx1"/>
                </a:solidFill>
              </a:rPr>
              <a:t>Exchange</a:t>
            </a:r>
            <a:endParaRPr lang="en-US" sz="1700" dirty="0"/>
          </a:p>
        </p:txBody>
      </p:sp>
      <p:sp>
        <p:nvSpPr>
          <p:cNvPr id="13" name="text-49"/>
          <p:cNvSpPr txBox="1"/>
          <p:nvPr/>
        </p:nvSpPr>
        <p:spPr>
          <a:xfrm>
            <a:off x="4549140" y="2194560"/>
            <a:ext cx="3063240" cy="914400"/>
          </a:xfrm>
          <a:prstGeom prst="rect">
            <a:avLst/>
          </a:prstGeom>
          <a:noFill/>
          <a:ln/>
        </p:spPr>
        <p:txBody>
          <a:bodyPr wrap="square" lIns="0" tIns="0" rIns="0" bIns="0" rtlCol="0" anchor="t"/>
          <a:lstStyle/>
          <a:p>
            <a:pPr algn="l" indent="0" marL="0">
              <a:buNone/>
            </a:pPr>
            <a:r>
              <a:rPr lang="en-US" sz="1400" dirty="0">
                <a:solidFill>
                  <a:schemeClr val="tx1"/>
                </a:solidFill>
              </a:rPr>
              <a:t>El "cartero": recibe cada mensaje y decide a qué colas entregarlo.</a:t>
            </a:r>
            <a:endParaRPr lang="en-US" sz="1400" dirty="0"/>
          </a:p>
        </p:txBody>
      </p:sp>
      <p:sp>
        <p:nvSpPr>
          <p:cNvPr id="14" name="text-50"/>
          <p:cNvSpPr txBox="1"/>
          <p:nvPr/>
        </p:nvSpPr>
        <p:spPr>
          <a:xfrm>
            <a:off x="4549140" y="3108960"/>
            <a:ext cx="3063240" cy="411480"/>
          </a:xfrm>
          <a:prstGeom prst="rect">
            <a:avLst/>
          </a:prstGeom>
          <a:noFill/>
          <a:ln/>
        </p:spPr>
        <p:txBody>
          <a:bodyPr wrap="square" lIns="0" tIns="0" rIns="0" bIns="0" rtlCol="0" anchor="t"/>
          <a:lstStyle/>
          <a:p>
            <a:pPr algn="l" indent="0" marL="0">
              <a:buNone/>
            </a:pPr>
            <a:r>
              <a:rPr lang="en-US" sz="1200" i="1" dirty="0">
                <a:solidFill>
                  <a:schemeClr val="accent6"/>
                </a:solidFill>
              </a:rPr>
              <a:t>reservafit.events</a:t>
            </a:r>
            <a:endParaRPr lang="en-US" sz="1200" dirty="0"/>
          </a:p>
        </p:txBody>
      </p:sp>
      <p:sp>
        <p:nvSpPr>
          <p:cNvPr id="15" name="box-51"/>
          <p:cNvSpPr/>
          <p:nvPr/>
        </p:nvSpPr>
        <p:spPr>
          <a:xfrm>
            <a:off x="8092440" y="1325880"/>
            <a:ext cx="3520440" cy="2331720"/>
          </a:xfrm>
          <a:prstGeom prst="roundRect">
            <a:avLst>
              <a:gd name="adj" fmla="val 4706"/>
            </a:avLst>
          </a:prstGeom>
          <a:solidFill>
            <a:schemeClr val="bg2"/>
          </a:solidFill>
          <a:ln/>
        </p:spPr>
      </p:sp>
      <p:sp>
        <p:nvSpPr>
          <p:cNvPr id="16" name="circle-52"/>
          <p:cNvSpPr/>
          <p:nvPr/>
        </p:nvSpPr>
        <p:spPr>
          <a:xfrm>
            <a:off x="8321040" y="1554480"/>
            <a:ext cx="548640" cy="548640"/>
          </a:xfrm>
          <a:prstGeom prst="ellipse">
            <a:avLst/>
          </a:prstGeom>
          <a:solidFill>
            <a:schemeClr val="accent1"/>
          </a:solidFill>
          <a:ln/>
        </p:spPr>
      </p:sp>
      <p:pic>
        <p:nvPicPr>
          <p:cNvPr id="17" name="icon-53" descr="preencoded.png">    </p:cNvPr>
          <p:cNvPicPr>
            <a:picLocks noChangeAspect="1"/>
          </p:cNvPicPr>
          <p:nvPr/>
        </p:nvPicPr>
        <p:blipFill>
          <a:blip r:embed="rId3"/>
          <a:stretch>
            <a:fillRect/>
          </a:stretch>
        </p:blipFill>
        <p:spPr>
          <a:xfrm>
            <a:off x="8458200" y="1691640"/>
            <a:ext cx="274320" cy="274320"/>
          </a:xfrm>
          <a:prstGeom prst="rect">
            <a:avLst/>
          </a:prstGeom>
        </p:spPr>
      </p:pic>
      <p:sp>
        <p:nvSpPr>
          <p:cNvPr id="18" name="text-54"/>
          <p:cNvSpPr txBox="1"/>
          <p:nvPr/>
        </p:nvSpPr>
        <p:spPr>
          <a:xfrm>
            <a:off x="9006840" y="1554480"/>
            <a:ext cx="2423160" cy="548640"/>
          </a:xfrm>
          <a:prstGeom prst="rect">
            <a:avLst/>
          </a:prstGeom>
          <a:noFill/>
          <a:ln/>
        </p:spPr>
        <p:txBody>
          <a:bodyPr wrap="square" lIns="0" tIns="0" rIns="0" bIns="0" rtlCol="0" anchor="ctr"/>
          <a:lstStyle/>
          <a:p>
            <a:pPr algn="l" indent="0" marL="0">
              <a:buNone/>
            </a:pPr>
            <a:r>
              <a:rPr lang="en-US" sz="1700" b="1" dirty="0">
                <a:solidFill>
                  <a:schemeClr val="tx1"/>
                </a:solidFill>
              </a:rPr>
              <a:t>Routing key y binding</a:t>
            </a:r>
            <a:endParaRPr lang="en-US" sz="1700" dirty="0"/>
          </a:p>
        </p:txBody>
      </p:sp>
      <p:sp>
        <p:nvSpPr>
          <p:cNvPr id="19" name="text-55"/>
          <p:cNvSpPr txBox="1"/>
          <p:nvPr/>
        </p:nvSpPr>
        <p:spPr>
          <a:xfrm>
            <a:off x="8321040" y="2194560"/>
            <a:ext cx="3063240" cy="914400"/>
          </a:xfrm>
          <a:prstGeom prst="rect">
            <a:avLst/>
          </a:prstGeom>
          <a:noFill/>
          <a:ln/>
        </p:spPr>
        <p:txBody>
          <a:bodyPr wrap="square" lIns="0" tIns="0" rIns="0" bIns="0" rtlCol="0" anchor="t"/>
          <a:lstStyle/>
          <a:p>
            <a:pPr algn="l" indent="0" marL="0">
              <a:buNone/>
            </a:pPr>
            <a:r>
              <a:rPr lang="en-US" sz="1400" dirty="0">
                <a:solidFill>
                  <a:schemeClr val="tx1"/>
                </a:solidFill>
              </a:rPr>
              <a:t>Una etiqueta en el mensaje y una regla en la cola que dice qué etiquetas acepta.</a:t>
            </a:r>
            <a:endParaRPr lang="en-US" sz="1400" dirty="0"/>
          </a:p>
        </p:txBody>
      </p:sp>
      <p:sp>
        <p:nvSpPr>
          <p:cNvPr id="20" name="text-56"/>
          <p:cNvSpPr txBox="1"/>
          <p:nvPr/>
        </p:nvSpPr>
        <p:spPr>
          <a:xfrm>
            <a:off x="8321040" y="3108960"/>
            <a:ext cx="3063240" cy="411480"/>
          </a:xfrm>
          <a:prstGeom prst="rect">
            <a:avLst/>
          </a:prstGeom>
          <a:noFill/>
          <a:ln/>
        </p:spPr>
        <p:txBody>
          <a:bodyPr wrap="square" lIns="0" tIns="0" rIns="0" bIns="0" rtlCol="0" anchor="t"/>
          <a:lstStyle/>
          <a:p>
            <a:pPr algn="l" indent="0" marL="0">
              <a:buNone/>
            </a:pPr>
            <a:r>
              <a:rPr lang="en-US" sz="1200" i="1" dirty="0">
                <a:solidFill>
                  <a:schemeClr val="accent6"/>
                </a:solidFill>
              </a:rPr>
              <a:t>etiqueta booking.created, regla booking.*</a:t>
            </a:r>
            <a:endParaRPr lang="en-US" sz="1200" dirty="0"/>
          </a:p>
        </p:txBody>
      </p:sp>
      <p:sp>
        <p:nvSpPr>
          <p:cNvPr id="21" name="box-57"/>
          <p:cNvSpPr/>
          <p:nvPr/>
        </p:nvSpPr>
        <p:spPr>
          <a:xfrm>
            <a:off x="548640" y="3931920"/>
            <a:ext cx="3520440" cy="2331720"/>
          </a:xfrm>
          <a:prstGeom prst="roundRect">
            <a:avLst>
              <a:gd name="adj" fmla="val 4706"/>
            </a:avLst>
          </a:prstGeom>
          <a:solidFill>
            <a:schemeClr val="bg2"/>
          </a:solidFill>
          <a:ln/>
        </p:spPr>
      </p:sp>
      <p:sp>
        <p:nvSpPr>
          <p:cNvPr id="22" name="circle-58"/>
          <p:cNvSpPr/>
          <p:nvPr/>
        </p:nvSpPr>
        <p:spPr>
          <a:xfrm>
            <a:off x="777240" y="4160520"/>
            <a:ext cx="548640" cy="548640"/>
          </a:xfrm>
          <a:prstGeom prst="ellipse">
            <a:avLst/>
          </a:prstGeom>
          <a:solidFill>
            <a:schemeClr val="accent2"/>
          </a:solidFill>
          <a:ln/>
        </p:spPr>
      </p:sp>
      <p:pic>
        <p:nvPicPr>
          <p:cNvPr id="23" name="icon-59" descr="preencoded.png">    </p:cNvPr>
          <p:cNvPicPr>
            <a:picLocks noChangeAspect="1"/>
          </p:cNvPicPr>
          <p:nvPr/>
        </p:nvPicPr>
        <p:blipFill>
          <a:blip r:embed="rId4"/>
          <a:stretch>
            <a:fillRect/>
          </a:stretch>
        </p:blipFill>
        <p:spPr>
          <a:xfrm>
            <a:off x="914400" y="4297680"/>
            <a:ext cx="274320" cy="274320"/>
          </a:xfrm>
          <a:prstGeom prst="rect">
            <a:avLst/>
          </a:prstGeom>
        </p:spPr>
      </p:pic>
      <p:sp>
        <p:nvSpPr>
          <p:cNvPr id="24" name="text-60"/>
          <p:cNvSpPr txBox="1"/>
          <p:nvPr/>
        </p:nvSpPr>
        <p:spPr>
          <a:xfrm>
            <a:off x="1463040" y="4160520"/>
            <a:ext cx="2423160" cy="548640"/>
          </a:xfrm>
          <a:prstGeom prst="rect">
            <a:avLst/>
          </a:prstGeom>
          <a:noFill/>
          <a:ln/>
        </p:spPr>
        <p:txBody>
          <a:bodyPr wrap="square" lIns="0" tIns="0" rIns="0" bIns="0" rtlCol="0" anchor="ctr"/>
          <a:lstStyle/>
          <a:p>
            <a:pPr algn="l" indent="0" marL="0">
              <a:buNone/>
            </a:pPr>
            <a:r>
              <a:rPr lang="en-US" sz="1700" b="1" dirty="0">
                <a:solidFill>
                  <a:schemeClr val="tx1"/>
                </a:solidFill>
              </a:rPr>
              <a:t>Cola</a:t>
            </a:r>
            <a:endParaRPr lang="en-US" sz="1700" dirty="0"/>
          </a:p>
        </p:txBody>
      </p:sp>
      <p:sp>
        <p:nvSpPr>
          <p:cNvPr id="25" name="text-61"/>
          <p:cNvSpPr txBox="1"/>
          <p:nvPr/>
        </p:nvSpPr>
        <p:spPr>
          <a:xfrm>
            <a:off x="777240" y="4800600"/>
            <a:ext cx="3063240" cy="914400"/>
          </a:xfrm>
          <a:prstGeom prst="rect">
            <a:avLst/>
          </a:prstGeom>
          <a:noFill/>
          <a:ln/>
        </p:spPr>
        <p:txBody>
          <a:bodyPr wrap="square" lIns="0" tIns="0" rIns="0" bIns="0" rtlCol="0" anchor="t"/>
          <a:lstStyle/>
          <a:p>
            <a:pPr algn="l" indent="0" marL="0">
              <a:buNone/>
            </a:pPr>
            <a:r>
              <a:rPr lang="en-US" sz="1400" dirty="0">
                <a:solidFill>
                  <a:schemeClr val="tx1"/>
                </a:solidFill>
              </a:rPr>
              <a:t>Una fila de espera: guarda los mensajes hasta que el servicio los procesa, aunque esté apagado.</a:t>
            </a:r>
            <a:endParaRPr lang="en-US" sz="1400" dirty="0"/>
          </a:p>
        </p:txBody>
      </p:sp>
      <p:sp>
        <p:nvSpPr>
          <p:cNvPr id="26" name="text-62"/>
          <p:cNvSpPr txBox="1"/>
          <p:nvPr/>
        </p:nvSpPr>
        <p:spPr>
          <a:xfrm>
            <a:off x="777240" y="5715000"/>
            <a:ext cx="3063240" cy="411480"/>
          </a:xfrm>
          <a:prstGeom prst="rect">
            <a:avLst/>
          </a:prstGeom>
          <a:noFill/>
          <a:ln/>
        </p:spPr>
        <p:txBody>
          <a:bodyPr wrap="square" lIns="0" tIns="0" rIns="0" bIns="0" rtlCol="0" anchor="t"/>
          <a:lstStyle/>
          <a:p>
            <a:pPr algn="l" indent="0" marL="0">
              <a:buNone/>
            </a:pPr>
            <a:r>
              <a:rPr lang="en-US" sz="1200" i="1" dirty="0">
                <a:solidFill>
                  <a:schemeClr val="accent6"/>
                </a:solidFill>
              </a:rPr>
              <a:t>una cola por servicio que escucha</a:t>
            </a:r>
            <a:endParaRPr lang="en-US" sz="1200" dirty="0"/>
          </a:p>
        </p:txBody>
      </p:sp>
      <p:sp>
        <p:nvSpPr>
          <p:cNvPr id="27" name="box-63"/>
          <p:cNvSpPr/>
          <p:nvPr/>
        </p:nvSpPr>
        <p:spPr>
          <a:xfrm>
            <a:off x="4320540" y="3931920"/>
            <a:ext cx="3520440" cy="2331720"/>
          </a:xfrm>
          <a:prstGeom prst="roundRect">
            <a:avLst>
              <a:gd name="adj" fmla="val 4706"/>
            </a:avLst>
          </a:prstGeom>
          <a:solidFill>
            <a:schemeClr val="bg2"/>
          </a:solidFill>
          <a:ln/>
        </p:spPr>
      </p:sp>
      <p:sp>
        <p:nvSpPr>
          <p:cNvPr id="28" name="circle-64"/>
          <p:cNvSpPr/>
          <p:nvPr/>
        </p:nvSpPr>
        <p:spPr>
          <a:xfrm>
            <a:off x="4549140" y="4160520"/>
            <a:ext cx="548640" cy="548640"/>
          </a:xfrm>
          <a:prstGeom prst="ellipse">
            <a:avLst/>
          </a:prstGeom>
          <a:solidFill>
            <a:schemeClr val="accent2"/>
          </a:solidFill>
          <a:ln/>
        </p:spPr>
      </p:sp>
      <p:pic>
        <p:nvPicPr>
          <p:cNvPr id="29" name="icon-65" descr="preencoded.png">    </p:cNvPr>
          <p:cNvPicPr>
            <a:picLocks noChangeAspect="1"/>
          </p:cNvPicPr>
          <p:nvPr/>
        </p:nvPicPr>
        <p:blipFill>
          <a:blip r:embed="rId5"/>
          <a:stretch>
            <a:fillRect/>
          </a:stretch>
        </p:blipFill>
        <p:spPr>
          <a:xfrm>
            <a:off x="4686300" y="4297680"/>
            <a:ext cx="274320" cy="274320"/>
          </a:xfrm>
          <a:prstGeom prst="rect">
            <a:avLst/>
          </a:prstGeom>
        </p:spPr>
      </p:pic>
      <p:sp>
        <p:nvSpPr>
          <p:cNvPr id="30" name="text-66"/>
          <p:cNvSpPr txBox="1"/>
          <p:nvPr/>
        </p:nvSpPr>
        <p:spPr>
          <a:xfrm>
            <a:off x="5234940" y="4160520"/>
            <a:ext cx="2423160" cy="548640"/>
          </a:xfrm>
          <a:prstGeom prst="rect">
            <a:avLst/>
          </a:prstGeom>
          <a:noFill/>
          <a:ln/>
        </p:spPr>
        <p:txBody>
          <a:bodyPr wrap="square" lIns="0" tIns="0" rIns="0" bIns="0" rtlCol="0" anchor="ctr"/>
          <a:lstStyle/>
          <a:p>
            <a:pPr algn="l" indent="0" marL="0">
              <a:buNone/>
            </a:pPr>
            <a:r>
              <a:rPr lang="en-US" sz="1700" b="1" dirty="0">
                <a:solidFill>
                  <a:schemeClr val="tx1"/>
                </a:solidFill>
              </a:rPr>
              <a:t>Mensaje</a:t>
            </a:r>
            <a:endParaRPr lang="en-US" sz="1700" dirty="0"/>
          </a:p>
        </p:txBody>
      </p:sp>
      <p:sp>
        <p:nvSpPr>
          <p:cNvPr id="31" name="text-67"/>
          <p:cNvSpPr txBox="1"/>
          <p:nvPr/>
        </p:nvSpPr>
        <p:spPr>
          <a:xfrm>
            <a:off x="4549140" y="4800600"/>
            <a:ext cx="3063240" cy="914400"/>
          </a:xfrm>
          <a:prstGeom prst="rect">
            <a:avLst/>
          </a:prstGeom>
          <a:noFill/>
          <a:ln/>
        </p:spPr>
        <p:txBody>
          <a:bodyPr wrap="square" lIns="0" tIns="0" rIns="0" bIns="0" rtlCol="0" anchor="t"/>
          <a:lstStyle/>
          <a:p>
            <a:pPr algn="l" indent="0" marL="0">
              <a:buNone/>
            </a:pPr>
            <a:r>
              <a:rPr lang="en-US" sz="1400" dirty="0">
                <a:solidFill>
                  <a:schemeClr val="tx1"/>
                </a:solidFill>
              </a:rPr>
              <a:t>Los datos de lo que pasó, en JSON: qué reserva, de quién, dónde y cuándo.</a:t>
            </a:r>
            <a:endParaRPr lang="en-US" sz="1400" dirty="0"/>
          </a:p>
        </p:txBody>
      </p:sp>
      <p:sp>
        <p:nvSpPr>
          <p:cNvPr id="32" name="text-68"/>
          <p:cNvSpPr txBox="1"/>
          <p:nvPr/>
        </p:nvSpPr>
        <p:spPr>
          <a:xfrm>
            <a:off x="4549140" y="5715000"/>
            <a:ext cx="3063240" cy="411480"/>
          </a:xfrm>
          <a:prstGeom prst="rect">
            <a:avLst/>
          </a:prstGeom>
          <a:noFill/>
          <a:ln/>
        </p:spPr>
        <p:txBody>
          <a:bodyPr wrap="square" lIns="0" tIns="0" rIns="0" bIns="0" rtlCol="0" anchor="t"/>
          <a:lstStyle/>
          <a:p>
            <a:pPr algn="l" indent="0" marL="0">
              <a:buNone/>
            </a:pPr>
            <a:r>
              <a:rPr lang="en-US" sz="1200" i="1" dirty="0">
                <a:solidFill>
                  <a:schemeClr val="accent6"/>
                </a:solidFill>
              </a:rPr>
              <a:t>BookingEvent</a:t>
            </a:r>
            <a:endParaRPr lang="en-US" sz="1200" dirty="0"/>
          </a:p>
        </p:txBody>
      </p:sp>
      <p:sp>
        <p:nvSpPr>
          <p:cNvPr id="33" name="box-69"/>
          <p:cNvSpPr/>
          <p:nvPr/>
        </p:nvSpPr>
        <p:spPr>
          <a:xfrm>
            <a:off x="8092440" y="3931920"/>
            <a:ext cx="3520440" cy="2331720"/>
          </a:xfrm>
          <a:prstGeom prst="roundRect">
            <a:avLst>
              <a:gd name="adj" fmla="val 4706"/>
            </a:avLst>
          </a:prstGeom>
          <a:solidFill>
            <a:schemeClr val="bg2"/>
          </a:solidFill>
          <a:ln/>
        </p:spPr>
      </p:sp>
      <p:sp>
        <p:nvSpPr>
          <p:cNvPr id="34" name="circle-70"/>
          <p:cNvSpPr/>
          <p:nvPr/>
        </p:nvSpPr>
        <p:spPr>
          <a:xfrm>
            <a:off x="8321040" y="4160520"/>
            <a:ext cx="548640" cy="548640"/>
          </a:xfrm>
          <a:prstGeom prst="ellipse">
            <a:avLst/>
          </a:prstGeom>
          <a:solidFill>
            <a:schemeClr val="accent4"/>
          </a:solidFill>
          <a:ln/>
        </p:spPr>
      </p:sp>
      <p:pic>
        <p:nvPicPr>
          <p:cNvPr id="35" name="icon-71" descr="preencoded.png">    </p:cNvPr>
          <p:cNvPicPr>
            <a:picLocks noChangeAspect="1"/>
          </p:cNvPicPr>
          <p:nvPr/>
        </p:nvPicPr>
        <p:blipFill>
          <a:blip r:embed="rId6"/>
          <a:stretch>
            <a:fillRect/>
          </a:stretch>
        </p:blipFill>
        <p:spPr>
          <a:xfrm>
            <a:off x="8458200" y="4297680"/>
            <a:ext cx="274320" cy="274320"/>
          </a:xfrm>
          <a:prstGeom prst="rect">
            <a:avLst/>
          </a:prstGeom>
        </p:spPr>
      </p:pic>
      <p:sp>
        <p:nvSpPr>
          <p:cNvPr id="36" name="text-72"/>
          <p:cNvSpPr txBox="1"/>
          <p:nvPr/>
        </p:nvSpPr>
        <p:spPr>
          <a:xfrm>
            <a:off x="9006840" y="4160520"/>
            <a:ext cx="2423160" cy="548640"/>
          </a:xfrm>
          <a:prstGeom prst="rect">
            <a:avLst/>
          </a:prstGeom>
          <a:noFill/>
          <a:ln/>
        </p:spPr>
        <p:txBody>
          <a:bodyPr wrap="square" lIns="0" tIns="0" rIns="0" bIns="0" rtlCol="0" anchor="ctr"/>
          <a:lstStyle/>
          <a:p>
            <a:pPr algn="l" indent="0" marL="0">
              <a:buNone/>
            </a:pPr>
            <a:r>
              <a:rPr lang="en-US" sz="1700" b="1" dirty="0">
                <a:solidFill>
                  <a:schemeClr val="tx1"/>
                </a:solidFill>
              </a:rPr>
              <a:t>Cola de errores (DLQ)</a:t>
            </a:r>
            <a:endParaRPr lang="en-US" sz="1700" dirty="0"/>
          </a:p>
        </p:txBody>
      </p:sp>
      <p:sp>
        <p:nvSpPr>
          <p:cNvPr id="37" name="text-73"/>
          <p:cNvSpPr txBox="1"/>
          <p:nvPr/>
        </p:nvSpPr>
        <p:spPr>
          <a:xfrm>
            <a:off x="8321040" y="4800600"/>
            <a:ext cx="3063240" cy="914400"/>
          </a:xfrm>
          <a:prstGeom prst="rect">
            <a:avLst/>
          </a:prstGeom>
          <a:noFill/>
          <a:ln/>
        </p:spPr>
        <p:txBody>
          <a:bodyPr wrap="square" lIns="0" tIns="0" rIns="0" bIns="0" rtlCol="0" anchor="t"/>
          <a:lstStyle/>
          <a:p>
            <a:pPr algn="l" indent="0" marL="0">
              <a:buNone/>
            </a:pPr>
            <a:r>
              <a:rPr lang="en-US" sz="1400" dirty="0">
                <a:solidFill>
                  <a:schemeClr val="tx1"/>
                </a:solidFill>
              </a:rPr>
              <a:t>Donde terminan los mensajes que no se pudieron procesar, para revisarlos después.</a:t>
            </a:r>
            <a:endParaRPr lang="en-US" sz="1400" dirty="0"/>
          </a:p>
        </p:txBody>
      </p:sp>
      <p:sp>
        <p:nvSpPr>
          <p:cNvPr id="38" name="text-74"/>
          <p:cNvSpPr txBox="1"/>
          <p:nvPr/>
        </p:nvSpPr>
        <p:spPr>
          <a:xfrm>
            <a:off x="8321040" y="5715000"/>
            <a:ext cx="3063240" cy="411480"/>
          </a:xfrm>
          <a:prstGeom prst="rect">
            <a:avLst/>
          </a:prstGeom>
          <a:noFill/>
          <a:ln/>
        </p:spPr>
        <p:txBody>
          <a:bodyPr wrap="square" lIns="0" tIns="0" rIns="0" bIns="0" rtlCol="0" anchor="t"/>
          <a:lstStyle/>
          <a:p>
            <a:pPr algn="l" indent="0" marL="0">
              <a:buNone/>
            </a:pPr>
            <a:r>
              <a:rPr lang="en-US" sz="1200" i="1" dirty="0">
                <a:solidFill>
                  <a:schemeClr val="accent6"/>
                </a:solidFill>
              </a:rPr>
              <a:t>una por servicio</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Tipos de exchange y por qué usamos topic</a:t>
            </a:r>
            <a:endParaRPr lang="en-US" sz="3200" dirty="0"/>
          </a:p>
        </p:txBody>
      </p:sp>
      <p:sp>
        <p:nvSpPr>
          <p:cNvPr id="3" name="box-75"/>
          <p:cNvSpPr/>
          <p:nvPr/>
        </p:nvSpPr>
        <p:spPr>
          <a:xfrm>
            <a:off x="548640" y="1371600"/>
            <a:ext cx="3520440" cy="3017520"/>
          </a:xfrm>
          <a:prstGeom prst="roundRect">
            <a:avLst>
              <a:gd name="adj" fmla="val 4545"/>
            </a:avLst>
          </a:prstGeom>
          <a:solidFill>
            <a:schemeClr val="bg2"/>
          </a:solidFill>
          <a:ln/>
        </p:spPr>
      </p:sp>
      <p:sp>
        <p:nvSpPr>
          <p:cNvPr id="4" name="text-76"/>
          <p:cNvSpPr txBox="1"/>
          <p:nvPr/>
        </p:nvSpPr>
        <p:spPr>
          <a:xfrm>
            <a:off x="822960" y="1554480"/>
            <a:ext cx="2971800" cy="548640"/>
          </a:xfrm>
          <a:prstGeom prst="rect">
            <a:avLst/>
          </a:prstGeom>
          <a:noFill/>
          <a:ln/>
        </p:spPr>
        <p:txBody>
          <a:bodyPr wrap="square" lIns="0" tIns="0" rIns="0" bIns="0" rtlCol="0" anchor="ctr"/>
          <a:lstStyle/>
          <a:p>
            <a:pPr algn="l" indent="0" marL="0">
              <a:buNone/>
            </a:pPr>
            <a:r>
              <a:rPr lang="en-US" sz="2400" b="1" dirty="0">
                <a:solidFill>
                  <a:schemeClr val="tx1"/>
                </a:solidFill>
              </a:rPr>
              <a:t>Direct</a:t>
            </a:r>
            <a:endParaRPr lang="en-US" sz="2400" dirty="0"/>
          </a:p>
        </p:txBody>
      </p:sp>
      <p:sp>
        <p:nvSpPr>
          <p:cNvPr id="5" name="text-77"/>
          <p:cNvSpPr txBox="1"/>
          <p:nvPr/>
        </p:nvSpPr>
        <p:spPr>
          <a:xfrm>
            <a:off x="822960" y="2148840"/>
            <a:ext cx="2971800" cy="914400"/>
          </a:xfrm>
          <a:prstGeom prst="rect">
            <a:avLst/>
          </a:prstGeom>
          <a:noFill/>
          <a:ln/>
        </p:spPr>
        <p:txBody>
          <a:bodyPr wrap="square" lIns="0" tIns="0" rIns="0" bIns="0" rtlCol="0" anchor="t"/>
          <a:lstStyle/>
          <a:p>
            <a:pPr algn="l" indent="0" marL="0">
              <a:buNone/>
            </a:pPr>
            <a:r>
              <a:rPr lang="en-US" sz="1500" dirty="0">
                <a:solidFill>
                  <a:schemeClr val="tx1"/>
                </a:solidFill>
              </a:rPr>
              <a:t>Entrega solo si la etiqueta es exactamente igual a la regla.</a:t>
            </a:r>
            <a:endParaRPr lang="en-US" sz="1500" dirty="0"/>
          </a:p>
        </p:txBody>
      </p:sp>
      <p:sp>
        <p:nvSpPr>
          <p:cNvPr id="6" name="text-78"/>
          <p:cNvSpPr txBox="1"/>
          <p:nvPr/>
        </p:nvSpPr>
        <p:spPr>
          <a:xfrm>
            <a:off x="822960" y="3200400"/>
            <a:ext cx="2971800" cy="1005840"/>
          </a:xfrm>
          <a:prstGeom prst="rect">
            <a:avLst/>
          </a:prstGeom>
          <a:noFill/>
          <a:ln/>
        </p:spPr>
        <p:txBody>
          <a:bodyPr wrap="square" lIns="0" tIns="0" rIns="0" bIns="0" rtlCol="0" anchor="t"/>
          <a:lstStyle/>
          <a:p>
            <a:pPr algn="l" indent="0" marL="0">
              <a:buNone/>
            </a:pPr>
            <a:r>
              <a:rPr lang="en-US" sz="1400" i="1" dirty="0">
                <a:solidFill>
                  <a:schemeClr val="tx1"/>
                </a:solidFill>
              </a:rPr>
              <a:t>Lo usamos para llevar cada mensaje con error a su cola de errores.</a:t>
            </a:r>
            <a:endParaRPr lang="en-US" sz="1400" dirty="0"/>
          </a:p>
        </p:txBody>
      </p:sp>
      <p:sp>
        <p:nvSpPr>
          <p:cNvPr id="7" name="box-79"/>
          <p:cNvSpPr/>
          <p:nvPr/>
        </p:nvSpPr>
        <p:spPr>
          <a:xfrm>
            <a:off x="4320540" y="1371600"/>
            <a:ext cx="3520440" cy="3017520"/>
          </a:xfrm>
          <a:prstGeom prst="roundRect">
            <a:avLst>
              <a:gd name="adj" fmla="val 4545"/>
            </a:avLst>
          </a:prstGeom>
          <a:solidFill>
            <a:schemeClr val="accent1"/>
          </a:solidFill>
          <a:ln/>
        </p:spPr>
      </p:sp>
      <p:sp>
        <p:nvSpPr>
          <p:cNvPr id="8" name="text-80"/>
          <p:cNvSpPr txBox="1"/>
          <p:nvPr/>
        </p:nvSpPr>
        <p:spPr>
          <a:xfrm>
            <a:off x="4594860" y="1554480"/>
            <a:ext cx="2971800" cy="548640"/>
          </a:xfrm>
          <a:prstGeom prst="rect">
            <a:avLst/>
          </a:prstGeom>
          <a:noFill/>
          <a:ln/>
        </p:spPr>
        <p:txBody>
          <a:bodyPr wrap="square" lIns="0" tIns="0" rIns="0" bIns="0" rtlCol="0" anchor="ctr"/>
          <a:lstStyle/>
          <a:p>
            <a:pPr algn="l" indent="0" marL="0">
              <a:buNone/>
            </a:pPr>
            <a:r>
              <a:rPr lang="en-US" sz="2400" b="1" dirty="0">
                <a:solidFill>
                  <a:schemeClr val="bg1"/>
                </a:solidFill>
              </a:rPr>
              <a:t>Topic</a:t>
            </a:r>
            <a:endParaRPr lang="en-US" sz="2400" dirty="0"/>
          </a:p>
        </p:txBody>
      </p:sp>
      <p:sp>
        <p:nvSpPr>
          <p:cNvPr id="9" name="text-81"/>
          <p:cNvSpPr txBox="1"/>
          <p:nvPr/>
        </p:nvSpPr>
        <p:spPr>
          <a:xfrm>
            <a:off x="4594860" y="2148840"/>
            <a:ext cx="2971800" cy="914400"/>
          </a:xfrm>
          <a:prstGeom prst="rect">
            <a:avLst/>
          </a:prstGeom>
          <a:noFill/>
          <a:ln/>
        </p:spPr>
        <p:txBody>
          <a:bodyPr wrap="square" lIns="0" tIns="0" rIns="0" bIns="0" rtlCol="0" anchor="t"/>
          <a:lstStyle/>
          <a:p>
            <a:pPr algn="l" indent="0" marL="0">
              <a:buNone/>
            </a:pPr>
            <a:r>
              <a:rPr lang="en-US" sz="1500" dirty="0">
                <a:solidFill>
                  <a:schemeClr val="bg1"/>
                </a:solidFill>
              </a:rPr>
              <a:t>La regla es un patrón: booking.* acepta cualquier etiqueta que empiece con booking.</a:t>
            </a:r>
            <a:endParaRPr lang="en-US" sz="1500" dirty="0"/>
          </a:p>
        </p:txBody>
      </p:sp>
      <p:sp>
        <p:nvSpPr>
          <p:cNvPr id="10" name="text-82"/>
          <p:cNvSpPr txBox="1"/>
          <p:nvPr/>
        </p:nvSpPr>
        <p:spPr>
          <a:xfrm>
            <a:off x="4594860" y="3200400"/>
            <a:ext cx="2971800" cy="1005840"/>
          </a:xfrm>
          <a:prstGeom prst="rect">
            <a:avLst/>
          </a:prstGeom>
          <a:noFill/>
          <a:ln/>
        </p:spPr>
        <p:txBody>
          <a:bodyPr wrap="square" lIns="0" tIns="0" rIns="0" bIns="0" rtlCol="0" anchor="t"/>
          <a:lstStyle/>
          <a:p>
            <a:pPr algn="l" indent="0" marL="0">
              <a:buNone/>
            </a:pPr>
            <a:r>
              <a:rPr lang="en-US" sz="1400" i="1" dirty="0">
                <a:solidFill>
                  <a:schemeClr val="bg1"/>
                </a:solidFill>
              </a:rPr>
              <a:t>Lo usamos para las reservas: creadas y canceladas.</a:t>
            </a:r>
            <a:endParaRPr lang="en-US" sz="1400" dirty="0"/>
          </a:p>
        </p:txBody>
      </p:sp>
      <p:sp>
        <p:nvSpPr>
          <p:cNvPr id="11" name="box-83"/>
          <p:cNvSpPr/>
          <p:nvPr/>
        </p:nvSpPr>
        <p:spPr>
          <a:xfrm>
            <a:off x="8092440" y="1371600"/>
            <a:ext cx="3520440" cy="3017520"/>
          </a:xfrm>
          <a:prstGeom prst="roundRect">
            <a:avLst>
              <a:gd name="adj" fmla="val 4545"/>
            </a:avLst>
          </a:prstGeom>
          <a:solidFill>
            <a:schemeClr val="bg2"/>
          </a:solidFill>
          <a:ln/>
        </p:spPr>
      </p:sp>
      <p:sp>
        <p:nvSpPr>
          <p:cNvPr id="12" name="text-84"/>
          <p:cNvSpPr txBox="1"/>
          <p:nvPr/>
        </p:nvSpPr>
        <p:spPr>
          <a:xfrm>
            <a:off x="8366760" y="1554480"/>
            <a:ext cx="2971800" cy="548640"/>
          </a:xfrm>
          <a:prstGeom prst="rect">
            <a:avLst/>
          </a:prstGeom>
          <a:noFill/>
          <a:ln/>
        </p:spPr>
        <p:txBody>
          <a:bodyPr wrap="square" lIns="0" tIns="0" rIns="0" bIns="0" rtlCol="0" anchor="ctr"/>
          <a:lstStyle/>
          <a:p>
            <a:pPr algn="l" indent="0" marL="0">
              <a:buNone/>
            </a:pPr>
            <a:r>
              <a:rPr lang="en-US" sz="2400" b="1" dirty="0">
                <a:solidFill>
                  <a:schemeClr val="tx1"/>
                </a:solidFill>
              </a:rPr>
              <a:t>Fanout</a:t>
            </a:r>
            <a:endParaRPr lang="en-US" sz="2400" dirty="0"/>
          </a:p>
        </p:txBody>
      </p:sp>
      <p:sp>
        <p:nvSpPr>
          <p:cNvPr id="13" name="text-85"/>
          <p:cNvSpPr txBox="1"/>
          <p:nvPr/>
        </p:nvSpPr>
        <p:spPr>
          <a:xfrm>
            <a:off x="8366760" y="2148840"/>
            <a:ext cx="2971800" cy="914400"/>
          </a:xfrm>
          <a:prstGeom prst="rect">
            <a:avLst/>
          </a:prstGeom>
          <a:noFill/>
          <a:ln/>
        </p:spPr>
        <p:txBody>
          <a:bodyPr wrap="square" lIns="0" tIns="0" rIns="0" bIns="0" rtlCol="0" anchor="t"/>
          <a:lstStyle/>
          <a:p>
            <a:pPr algn="l" indent="0" marL="0">
              <a:buNone/>
            </a:pPr>
            <a:r>
              <a:rPr lang="en-US" sz="1500" dirty="0">
                <a:solidFill>
                  <a:schemeClr val="tx1"/>
                </a:solidFill>
              </a:rPr>
              <a:t>Entrega a todas las colas, sin mirar la etiqueta.</a:t>
            </a:r>
            <a:endParaRPr lang="en-US" sz="1500" dirty="0"/>
          </a:p>
        </p:txBody>
      </p:sp>
      <p:sp>
        <p:nvSpPr>
          <p:cNvPr id="14" name="text-86"/>
          <p:cNvSpPr txBox="1"/>
          <p:nvPr/>
        </p:nvSpPr>
        <p:spPr>
          <a:xfrm>
            <a:off x="8366760" y="3200400"/>
            <a:ext cx="2971800" cy="1005840"/>
          </a:xfrm>
          <a:prstGeom prst="rect">
            <a:avLst/>
          </a:prstGeom>
          <a:noFill/>
          <a:ln/>
        </p:spPr>
        <p:txBody>
          <a:bodyPr wrap="square" lIns="0" tIns="0" rIns="0" bIns="0" rtlCol="0" anchor="t"/>
          <a:lstStyle/>
          <a:p>
            <a:pPr algn="l" indent="0" marL="0">
              <a:buNone/>
            </a:pPr>
            <a:r>
              <a:rPr lang="en-US" sz="1400" i="1" dirty="0">
                <a:solidFill>
                  <a:schemeClr val="tx1"/>
                </a:solidFill>
              </a:rPr>
              <a:t>No lo usamos: topic nos deja filtrar si más adelante hay otros tipos de mensajes.</a:t>
            </a:r>
            <a:endParaRPr lang="en-US" sz="1400" dirty="0"/>
          </a:p>
        </p:txBody>
      </p:sp>
      <p:sp>
        <p:nvSpPr>
          <p:cNvPr id="15" name="box-87"/>
          <p:cNvSpPr/>
          <p:nvPr/>
        </p:nvSpPr>
        <p:spPr>
          <a:xfrm>
            <a:off x="548640" y="4663440"/>
            <a:ext cx="11064240" cy="1417320"/>
          </a:xfrm>
          <a:prstGeom prst="roundRect">
            <a:avLst>
              <a:gd name="adj" fmla="val 7742"/>
            </a:avLst>
          </a:prstGeom>
          <a:solidFill>
            <a:schemeClr val="bg2"/>
          </a:solidFill>
          <a:ln/>
        </p:spPr>
      </p:sp>
      <p:sp>
        <p:nvSpPr>
          <p:cNvPr id="16" name="text-88"/>
          <p:cNvSpPr txBox="1"/>
          <p:nvPr/>
        </p:nvSpPr>
        <p:spPr>
          <a:xfrm>
            <a:off x="822960" y="4754880"/>
            <a:ext cx="3657600" cy="411480"/>
          </a:xfrm>
          <a:prstGeom prst="rect">
            <a:avLst/>
          </a:prstGeom>
          <a:noFill/>
          <a:ln/>
        </p:spPr>
        <p:txBody>
          <a:bodyPr wrap="square" lIns="0" tIns="0" rIns="0" bIns="0" rtlCol="0" anchor="ctr"/>
          <a:lstStyle/>
          <a:p>
            <a:pPr algn="l" indent="0" marL="0">
              <a:buNone/>
            </a:pPr>
            <a:r>
              <a:rPr lang="en-US" sz="1500" b="1" dirty="0">
                <a:solidFill>
                  <a:schemeClr val="tx1"/>
                </a:solidFill>
              </a:rPr>
              <a:t>Cómo calza el patrón booking.*</a:t>
            </a:r>
            <a:endParaRPr lang="en-US" sz="1500" dirty="0"/>
          </a:p>
        </p:txBody>
      </p:sp>
      <p:sp>
        <p:nvSpPr>
          <p:cNvPr id="17" name="box-89"/>
          <p:cNvSpPr/>
          <p:nvPr/>
        </p:nvSpPr>
        <p:spPr>
          <a:xfrm>
            <a:off x="822960" y="5257800"/>
            <a:ext cx="2514600" cy="548640"/>
          </a:xfrm>
          <a:prstGeom prst="roundRect">
            <a:avLst>
              <a:gd name="adj" fmla="val 20000"/>
            </a:avLst>
          </a:prstGeom>
          <a:solidFill>
            <a:schemeClr val="accent2"/>
          </a:solidFill>
          <a:ln/>
        </p:spPr>
      </p:sp>
      <p:sp>
        <p:nvSpPr>
          <p:cNvPr id="18" name="label-90"/>
          <p:cNvSpPr txBox="1"/>
          <p:nvPr/>
        </p:nvSpPr>
        <p:spPr>
          <a:xfrm>
            <a:off x="822960" y="5257800"/>
            <a:ext cx="2514600" cy="548640"/>
          </a:xfrm>
          <a:prstGeom prst="rect">
            <a:avLst/>
          </a:prstGeom>
          <a:noFill/>
          <a:ln/>
        </p:spPr>
        <p:txBody>
          <a:bodyPr wrap="square" lIns="762" tIns="762" rIns="762" bIns="762"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booking.created  ✔</a:t>
            </a:r>
            <a:endParaRPr lang="en-US" sz="1300" dirty="0"/>
          </a:p>
        </p:txBody>
      </p:sp>
      <p:sp>
        <p:nvSpPr>
          <p:cNvPr id="19" name="box-91"/>
          <p:cNvSpPr/>
          <p:nvPr/>
        </p:nvSpPr>
        <p:spPr>
          <a:xfrm>
            <a:off x="3520440" y="5257800"/>
            <a:ext cx="2514600" cy="548640"/>
          </a:xfrm>
          <a:prstGeom prst="roundRect">
            <a:avLst>
              <a:gd name="adj" fmla="val 20000"/>
            </a:avLst>
          </a:prstGeom>
          <a:solidFill>
            <a:schemeClr val="accent2"/>
          </a:solidFill>
          <a:ln/>
        </p:spPr>
      </p:sp>
      <p:sp>
        <p:nvSpPr>
          <p:cNvPr id="20" name="label-92"/>
          <p:cNvSpPr txBox="1"/>
          <p:nvPr/>
        </p:nvSpPr>
        <p:spPr>
          <a:xfrm>
            <a:off x="3520440" y="5257800"/>
            <a:ext cx="2514600" cy="548640"/>
          </a:xfrm>
          <a:prstGeom prst="rect">
            <a:avLst/>
          </a:prstGeom>
          <a:noFill/>
          <a:ln/>
        </p:spPr>
        <p:txBody>
          <a:bodyPr wrap="square" lIns="762" tIns="762" rIns="762" bIns="762"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booking.cancelled  ✔</a:t>
            </a:r>
            <a:endParaRPr lang="en-US" sz="1300" dirty="0"/>
          </a:p>
        </p:txBody>
      </p:sp>
      <p:sp>
        <p:nvSpPr>
          <p:cNvPr id="21" name="box-93"/>
          <p:cNvSpPr/>
          <p:nvPr/>
        </p:nvSpPr>
        <p:spPr>
          <a:xfrm>
            <a:off x="6217920" y="5257800"/>
            <a:ext cx="2514600" cy="548640"/>
          </a:xfrm>
          <a:prstGeom prst="roundRect">
            <a:avLst>
              <a:gd name="adj" fmla="val 20000"/>
            </a:avLst>
          </a:prstGeom>
          <a:solidFill>
            <a:schemeClr val="accent6"/>
          </a:solidFill>
          <a:ln/>
        </p:spPr>
      </p:sp>
      <p:sp>
        <p:nvSpPr>
          <p:cNvPr id="22" name="label-94"/>
          <p:cNvSpPr txBox="1"/>
          <p:nvPr/>
        </p:nvSpPr>
        <p:spPr>
          <a:xfrm>
            <a:off x="6217920" y="5257800"/>
            <a:ext cx="2514600" cy="548640"/>
          </a:xfrm>
          <a:prstGeom prst="rect">
            <a:avLst/>
          </a:prstGeom>
          <a:noFill/>
          <a:ln/>
        </p:spPr>
        <p:txBody>
          <a:bodyPr wrap="square" lIns="762" tIns="762" rIns="762" bIns="762"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booking  ✘</a:t>
            </a:r>
            <a:endParaRPr lang="en-US" sz="1300" dirty="0"/>
          </a:p>
        </p:txBody>
      </p:sp>
      <p:sp>
        <p:nvSpPr>
          <p:cNvPr id="23" name="box-95"/>
          <p:cNvSpPr/>
          <p:nvPr/>
        </p:nvSpPr>
        <p:spPr>
          <a:xfrm>
            <a:off x="8915400" y="5257800"/>
            <a:ext cx="2514600" cy="548640"/>
          </a:xfrm>
          <a:prstGeom prst="roundRect">
            <a:avLst>
              <a:gd name="adj" fmla="val 20000"/>
            </a:avLst>
          </a:prstGeom>
          <a:solidFill>
            <a:schemeClr val="accent6"/>
          </a:solidFill>
          <a:ln/>
        </p:spPr>
      </p:sp>
      <p:sp>
        <p:nvSpPr>
          <p:cNvPr id="24" name="label-96"/>
          <p:cNvSpPr txBox="1"/>
          <p:nvPr/>
        </p:nvSpPr>
        <p:spPr>
          <a:xfrm>
            <a:off x="8915400" y="5257800"/>
            <a:ext cx="2514600" cy="548640"/>
          </a:xfrm>
          <a:prstGeom prst="rect">
            <a:avLst/>
          </a:prstGeom>
          <a:noFill/>
          <a:ln/>
        </p:spPr>
        <p:txBody>
          <a:bodyPr wrap="square" lIns="762" tIns="762" rIns="762" bIns="762"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booking.created.v2  ✘</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Una cola por servicio: cada uno recibe su copia</a:t>
            </a:r>
            <a:endParaRPr lang="en-US" sz="3200" dirty="0"/>
          </a:p>
        </p:txBody>
      </p:sp>
      <p:sp>
        <p:nvSpPr>
          <p:cNvPr id="3" name="box-97"/>
          <p:cNvSpPr/>
          <p:nvPr/>
        </p:nvSpPr>
        <p:spPr>
          <a:xfrm>
            <a:off x="548640" y="1325880"/>
            <a:ext cx="5394960" cy="4023360"/>
          </a:xfrm>
          <a:prstGeom prst="roundRect">
            <a:avLst>
              <a:gd name="adj" fmla="val 3409"/>
            </a:avLst>
          </a:prstGeom>
          <a:solidFill>
            <a:schemeClr val="bg2"/>
          </a:solidFill>
          <a:ln/>
        </p:spPr>
      </p:sp>
      <p:sp>
        <p:nvSpPr>
          <p:cNvPr id="4" name="text-98"/>
          <p:cNvSpPr txBox="1"/>
          <p:nvPr/>
        </p:nvSpPr>
        <p:spPr>
          <a:xfrm>
            <a:off x="822960" y="1463040"/>
            <a:ext cx="4846320" cy="457200"/>
          </a:xfrm>
          <a:prstGeom prst="rect">
            <a:avLst/>
          </a:prstGeom>
          <a:noFill/>
          <a:ln/>
        </p:spPr>
        <p:txBody>
          <a:bodyPr wrap="square" lIns="0" tIns="0" rIns="0" bIns="0" rtlCol="0" anchor="ctr"/>
          <a:lstStyle/>
          <a:p>
            <a:pPr algn="l" indent="0" marL="0">
              <a:buNone/>
            </a:pPr>
            <a:r>
              <a:rPr lang="en-US" sz="1800" b="1" dirty="0">
                <a:solidFill>
                  <a:schemeClr val="tx1"/>
                </a:solidFill>
              </a:rPr>
              <a:t>Publicar / suscribir (lo que usamos)</a:t>
            </a:r>
            <a:endParaRPr lang="en-US" sz="1800" dirty="0"/>
          </a:p>
        </p:txBody>
      </p:sp>
      <p:sp>
        <p:nvSpPr>
          <p:cNvPr id="5" name="box-99"/>
          <p:cNvSpPr/>
          <p:nvPr/>
        </p:nvSpPr>
        <p:spPr>
          <a:xfrm>
            <a:off x="868680" y="2834640"/>
            <a:ext cx="1463040" cy="822960"/>
          </a:xfrm>
          <a:prstGeom prst="roundRect">
            <a:avLst>
              <a:gd name="adj" fmla="val 13333"/>
            </a:avLst>
          </a:prstGeom>
          <a:solidFill>
            <a:schemeClr val="accent1"/>
          </a:solidFill>
          <a:ln/>
        </p:spPr>
      </p:sp>
      <p:sp>
        <p:nvSpPr>
          <p:cNvPr id="6" name="label-100"/>
          <p:cNvSpPr txBox="1"/>
          <p:nvPr/>
        </p:nvSpPr>
        <p:spPr>
          <a:xfrm>
            <a:off x="868680" y="2834640"/>
            <a:ext cx="1463040" cy="822960"/>
          </a:xfrm>
          <a:prstGeom prst="rect">
            <a:avLst/>
          </a:prstGeom>
          <a:noFill/>
          <a:ln/>
        </p:spPr>
        <p:txBody>
          <a:bodyPr wrap="square" lIns="762" tIns="762" rIns="762" bIns="762" rtlCol="0" anchor="ctr"/>
          <a:lstStyle/>
          <a:p>
            <a:pPr algn="ctr" indent="0" marL="0">
              <a:buNone/>
            </a:pPr>
            <a:r>
              <a:rPr lang="en-US" sz="1400" b="1" dirty="0">
                <a:solidFill>
                  <a:schemeClr val="bg1"/>
                </a:solidFill>
              </a:rPr>
              <a:t>exchange</a:t>
            </a:r>
            <a:endParaRPr lang="en-US" sz="1400" dirty="0"/>
          </a:p>
        </p:txBody>
      </p:sp>
      <p:sp>
        <p:nvSpPr>
          <p:cNvPr id="7" name="box-101"/>
          <p:cNvSpPr/>
          <p:nvPr/>
        </p:nvSpPr>
        <p:spPr>
          <a:xfrm>
            <a:off x="2880360" y="2148840"/>
            <a:ext cx="1463040" cy="640080"/>
          </a:xfrm>
          <a:prstGeom prst="roundRect">
            <a:avLst>
              <a:gd name="adj" fmla="val 17143"/>
            </a:avLst>
          </a:prstGeom>
          <a:solidFill>
            <a:schemeClr val="bg1"/>
          </a:solidFill>
          <a:ln w="15875">
            <a:solidFill>
              <a:schemeClr val="accent2"/>
            </a:solidFill>
            <a:prstDash val="solid"/>
          </a:ln>
        </p:spPr>
      </p:sp>
      <p:sp>
        <p:nvSpPr>
          <p:cNvPr id="8" name="label-102"/>
          <p:cNvSpPr txBox="1"/>
          <p:nvPr/>
        </p:nvSpPr>
        <p:spPr>
          <a:xfrm>
            <a:off x="2880360" y="2148840"/>
            <a:ext cx="1463040" cy="640080"/>
          </a:xfrm>
          <a:prstGeom prst="rect">
            <a:avLst/>
          </a:prstGeom>
          <a:noFill/>
          <a:ln/>
        </p:spPr>
        <p:txBody>
          <a:bodyPr wrap="square" lIns="762" tIns="762" rIns="762" bIns="762" rtlCol="0" anchor="ctr"/>
          <a:lstStyle/>
          <a:p>
            <a:pPr algn="ctr" indent="0" marL="0">
              <a:buNone/>
            </a:pPr>
            <a:r>
              <a:rPr lang="en-US" sz="1200" dirty="0">
                <a:solidFill>
                  <a:schemeClr val="tx1"/>
                </a:solidFill>
              </a:rPr>
              <a:t>cola gimnasios</a:t>
            </a:r>
            <a:endParaRPr lang="en-US" sz="1200" dirty="0"/>
          </a:p>
        </p:txBody>
      </p:sp>
      <p:sp>
        <p:nvSpPr>
          <p:cNvPr id="9" name="box-103"/>
          <p:cNvSpPr/>
          <p:nvPr/>
        </p:nvSpPr>
        <p:spPr>
          <a:xfrm>
            <a:off x="2880360" y="3703320"/>
            <a:ext cx="1463040" cy="640080"/>
          </a:xfrm>
          <a:prstGeom prst="roundRect">
            <a:avLst>
              <a:gd name="adj" fmla="val 17143"/>
            </a:avLst>
          </a:prstGeom>
          <a:solidFill>
            <a:schemeClr val="bg1"/>
          </a:solidFill>
          <a:ln w="15875">
            <a:solidFill>
              <a:schemeClr val="accent3"/>
            </a:solidFill>
            <a:prstDash val="solid"/>
          </a:ln>
        </p:spPr>
      </p:sp>
      <p:sp>
        <p:nvSpPr>
          <p:cNvPr id="10" name="label-104"/>
          <p:cNvSpPr txBox="1"/>
          <p:nvPr/>
        </p:nvSpPr>
        <p:spPr>
          <a:xfrm>
            <a:off x="2880360" y="3703320"/>
            <a:ext cx="1463040" cy="640080"/>
          </a:xfrm>
          <a:prstGeom prst="rect">
            <a:avLst/>
          </a:prstGeom>
          <a:noFill/>
          <a:ln/>
        </p:spPr>
        <p:txBody>
          <a:bodyPr wrap="square" lIns="762" tIns="762" rIns="762" bIns="762" rtlCol="0" anchor="ctr"/>
          <a:lstStyle/>
          <a:p>
            <a:pPr algn="ctr" indent="0" marL="0">
              <a:buNone/>
            </a:pPr>
            <a:r>
              <a:rPr lang="en-US" sz="1200" dirty="0">
                <a:solidFill>
                  <a:schemeClr val="tx1"/>
                </a:solidFill>
              </a:rPr>
              <a:t>cola notificaciones</a:t>
            </a:r>
            <a:endParaRPr lang="en-US" sz="1200" dirty="0"/>
          </a:p>
        </p:txBody>
      </p:sp>
      <p:sp>
        <p:nvSpPr>
          <p:cNvPr id="11" name="arrow-105"/>
          <p:cNvSpPr/>
          <p:nvPr/>
        </p:nvSpPr>
        <p:spPr>
          <a:xfrm flipV="1">
            <a:off x="2331720" y="2468880"/>
            <a:ext cx="548640" cy="594360"/>
          </a:xfrm>
          <a:prstGeom prst="line">
            <a:avLst/>
          </a:prstGeom>
          <a:noFill/>
          <a:ln w="25400">
            <a:solidFill>
              <a:schemeClr val="accent6"/>
            </a:solidFill>
            <a:prstDash val="solid"/>
            <a:tailEnd type="triangle"/>
          </a:ln>
        </p:spPr>
      </p:sp>
      <p:sp>
        <p:nvSpPr>
          <p:cNvPr id="12" name="arrow-106"/>
          <p:cNvSpPr/>
          <p:nvPr/>
        </p:nvSpPr>
        <p:spPr>
          <a:xfrm>
            <a:off x="2331720" y="3429000"/>
            <a:ext cx="548640" cy="594360"/>
          </a:xfrm>
          <a:prstGeom prst="line">
            <a:avLst/>
          </a:prstGeom>
          <a:noFill/>
          <a:ln w="25400">
            <a:solidFill>
              <a:schemeClr val="accent6"/>
            </a:solidFill>
            <a:prstDash val="solid"/>
            <a:tailEnd type="triangle"/>
          </a:ln>
        </p:spPr>
      </p:sp>
      <p:sp>
        <p:nvSpPr>
          <p:cNvPr id="13" name="box-107"/>
          <p:cNvSpPr/>
          <p:nvPr/>
        </p:nvSpPr>
        <p:spPr>
          <a:xfrm>
            <a:off x="4572000" y="2148840"/>
            <a:ext cx="1143000" cy="640080"/>
          </a:xfrm>
          <a:prstGeom prst="roundRect">
            <a:avLst>
              <a:gd name="adj" fmla="val 17143"/>
            </a:avLst>
          </a:prstGeom>
          <a:solidFill>
            <a:schemeClr val="accent2"/>
          </a:solidFill>
          <a:ln/>
        </p:spPr>
      </p:sp>
      <p:sp>
        <p:nvSpPr>
          <p:cNvPr id="14" name="label-108"/>
          <p:cNvSpPr txBox="1"/>
          <p:nvPr/>
        </p:nvSpPr>
        <p:spPr>
          <a:xfrm>
            <a:off x="4572000" y="2148840"/>
            <a:ext cx="1143000" cy="640080"/>
          </a:xfrm>
          <a:prstGeom prst="rect">
            <a:avLst/>
          </a:prstGeom>
          <a:noFill/>
          <a:ln/>
        </p:spPr>
        <p:txBody>
          <a:bodyPr wrap="square" lIns="762" tIns="762" rIns="762" bIns="762" rtlCol="0" anchor="ctr"/>
          <a:lstStyle/>
          <a:p>
            <a:pPr algn="ctr" indent="0" marL="0">
              <a:buNone/>
            </a:pPr>
            <a:r>
              <a:rPr lang="en-US" sz="1300" dirty="0">
                <a:solidFill>
                  <a:schemeClr val="bg1"/>
                </a:solidFill>
              </a:rPr>
              <a:t>msg 1</a:t>
            </a:r>
            <a:endParaRPr lang="en-US" sz="1300" dirty="0"/>
          </a:p>
        </p:txBody>
      </p:sp>
      <p:sp>
        <p:nvSpPr>
          <p:cNvPr id="15" name="box-109"/>
          <p:cNvSpPr/>
          <p:nvPr/>
        </p:nvSpPr>
        <p:spPr>
          <a:xfrm>
            <a:off x="4572000" y="3703320"/>
            <a:ext cx="1143000" cy="640080"/>
          </a:xfrm>
          <a:prstGeom prst="roundRect">
            <a:avLst>
              <a:gd name="adj" fmla="val 17143"/>
            </a:avLst>
          </a:prstGeom>
          <a:solidFill>
            <a:schemeClr val="accent3"/>
          </a:solidFill>
          <a:ln/>
        </p:spPr>
      </p:sp>
      <p:sp>
        <p:nvSpPr>
          <p:cNvPr id="16" name="label-110"/>
          <p:cNvSpPr txBox="1"/>
          <p:nvPr/>
        </p:nvSpPr>
        <p:spPr>
          <a:xfrm>
            <a:off x="4572000" y="3703320"/>
            <a:ext cx="1143000" cy="640080"/>
          </a:xfrm>
          <a:prstGeom prst="rect">
            <a:avLst/>
          </a:prstGeom>
          <a:noFill/>
          <a:ln/>
        </p:spPr>
        <p:txBody>
          <a:bodyPr wrap="square" lIns="762" tIns="762" rIns="762" bIns="762" rtlCol="0" anchor="ctr"/>
          <a:lstStyle/>
          <a:p>
            <a:pPr algn="ctr" indent="0" marL="0">
              <a:buNone/>
            </a:pPr>
            <a:r>
              <a:rPr lang="en-US" sz="1300" dirty="0">
                <a:solidFill>
                  <a:schemeClr val="bg1"/>
                </a:solidFill>
              </a:rPr>
              <a:t>msg 1</a:t>
            </a:r>
            <a:endParaRPr lang="en-US" sz="1300" dirty="0"/>
          </a:p>
        </p:txBody>
      </p:sp>
      <p:sp>
        <p:nvSpPr>
          <p:cNvPr id="17" name="arrow-111"/>
          <p:cNvSpPr/>
          <p:nvPr/>
        </p:nvSpPr>
        <p:spPr>
          <a:xfrm>
            <a:off x="4343400" y="2468880"/>
            <a:ext cx="228600" cy="914"/>
          </a:xfrm>
          <a:prstGeom prst="line">
            <a:avLst/>
          </a:prstGeom>
          <a:noFill/>
          <a:ln w="25400">
            <a:solidFill>
              <a:schemeClr val="accent6"/>
            </a:solidFill>
            <a:prstDash val="solid"/>
            <a:tailEnd type="triangle"/>
          </a:ln>
        </p:spPr>
      </p:sp>
      <p:sp>
        <p:nvSpPr>
          <p:cNvPr id="18" name="arrow-112"/>
          <p:cNvSpPr/>
          <p:nvPr/>
        </p:nvSpPr>
        <p:spPr>
          <a:xfrm>
            <a:off x="4343400" y="4023360"/>
            <a:ext cx="228600" cy="914"/>
          </a:xfrm>
          <a:prstGeom prst="line">
            <a:avLst/>
          </a:prstGeom>
          <a:noFill/>
          <a:ln w="25400">
            <a:solidFill>
              <a:schemeClr val="accent6"/>
            </a:solidFill>
            <a:prstDash val="solid"/>
            <a:tailEnd type="triangle"/>
          </a:ln>
        </p:spPr>
      </p:sp>
      <p:sp>
        <p:nvSpPr>
          <p:cNvPr id="19" name="text-113"/>
          <p:cNvSpPr txBox="1"/>
          <p:nvPr/>
        </p:nvSpPr>
        <p:spPr>
          <a:xfrm>
            <a:off x="822960" y="4572000"/>
            <a:ext cx="4846320" cy="640080"/>
          </a:xfrm>
          <a:prstGeom prst="rect">
            <a:avLst/>
          </a:prstGeom>
          <a:noFill/>
          <a:ln/>
        </p:spPr>
        <p:txBody>
          <a:bodyPr wrap="square" lIns="0" tIns="0" rIns="0" bIns="0" rtlCol="0" anchor="ctr"/>
          <a:lstStyle/>
          <a:p>
            <a:pPr algn="l" indent="0" marL="0">
              <a:buNone/>
            </a:pPr>
            <a:r>
              <a:rPr lang="en-US" sz="1400" dirty="0">
                <a:solidFill>
                  <a:schemeClr val="tx1"/>
                </a:solidFill>
              </a:rPr>
              <a:t>Dos colas con la misma regla: el mensaje se copia a ambas</a:t>
            </a:r>
            <a:endParaRPr lang="en-US" sz="1400" dirty="0"/>
          </a:p>
        </p:txBody>
      </p:sp>
      <p:sp>
        <p:nvSpPr>
          <p:cNvPr id="20" name="box-114"/>
          <p:cNvSpPr/>
          <p:nvPr/>
        </p:nvSpPr>
        <p:spPr>
          <a:xfrm>
            <a:off x="6263640" y="1325880"/>
            <a:ext cx="5349240" cy="4023360"/>
          </a:xfrm>
          <a:prstGeom prst="roundRect">
            <a:avLst>
              <a:gd name="adj" fmla="val 3409"/>
            </a:avLst>
          </a:prstGeom>
          <a:solidFill>
            <a:schemeClr val="bg2"/>
          </a:solidFill>
          <a:ln/>
        </p:spPr>
      </p:sp>
      <p:sp>
        <p:nvSpPr>
          <p:cNvPr id="21" name="text-115"/>
          <p:cNvSpPr txBox="1"/>
          <p:nvPr/>
        </p:nvSpPr>
        <p:spPr>
          <a:xfrm>
            <a:off x="6537960" y="1463040"/>
            <a:ext cx="4846320" cy="457200"/>
          </a:xfrm>
          <a:prstGeom prst="rect">
            <a:avLst/>
          </a:prstGeom>
          <a:noFill/>
          <a:ln/>
        </p:spPr>
        <p:txBody>
          <a:bodyPr wrap="square" lIns="0" tIns="0" rIns="0" bIns="0" rtlCol="0" anchor="ctr"/>
          <a:lstStyle/>
          <a:p>
            <a:pPr algn="l" indent="0" marL="0">
              <a:buNone/>
            </a:pPr>
            <a:r>
              <a:rPr lang="en-US" sz="1800" b="1" dirty="0">
                <a:solidFill>
                  <a:schemeClr val="tx1"/>
                </a:solidFill>
              </a:rPr>
              <a:t>Consumidores que compiten (otro caso)</a:t>
            </a:r>
            <a:endParaRPr lang="en-US" sz="1800" dirty="0"/>
          </a:p>
        </p:txBody>
      </p:sp>
      <p:sp>
        <p:nvSpPr>
          <p:cNvPr id="22" name="box-116"/>
          <p:cNvSpPr/>
          <p:nvPr/>
        </p:nvSpPr>
        <p:spPr>
          <a:xfrm>
            <a:off x="6583680" y="2834640"/>
            <a:ext cx="1463040" cy="822960"/>
          </a:xfrm>
          <a:prstGeom prst="roundRect">
            <a:avLst>
              <a:gd name="adj" fmla="val 13333"/>
            </a:avLst>
          </a:prstGeom>
          <a:solidFill>
            <a:schemeClr val="accent6"/>
          </a:solidFill>
          <a:ln/>
        </p:spPr>
      </p:sp>
      <p:sp>
        <p:nvSpPr>
          <p:cNvPr id="23" name="label-117"/>
          <p:cNvSpPr txBox="1"/>
          <p:nvPr/>
        </p:nvSpPr>
        <p:spPr>
          <a:xfrm>
            <a:off x="6583680" y="2834640"/>
            <a:ext cx="1463040" cy="822960"/>
          </a:xfrm>
          <a:prstGeom prst="rect">
            <a:avLst/>
          </a:prstGeom>
          <a:noFill/>
          <a:ln/>
        </p:spPr>
        <p:txBody>
          <a:bodyPr wrap="square" lIns="762" tIns="762" rIns="762" bIns="762" rtlCol="0" anchor="ctr"/>
          <a:lstStyle/>
          <a:p>
            <a:pPr algn="ctr" indent="0" marL="0">
              <a:buNone/>
            </a:pPr>
            <a:r>
              <a:rPr lang="en-US" sz="1400" b="1" dirty="0">
                <a:solidFill>
                  <a:schemeClr val="bg1"/>
                </a:solidFill>
              </a:rPr>
              <a:t>una cola</a:t>
            </a:r>
            <a:endParaRPr lang="en-US" sz="1400" dirty="0"/>
          </a:p>
        </p:txBody>
      </p:sp>
      <p:sp>
        <p:nvSpPr>
          <p:cNvPr id="24" name="box-118"/>
          <p:cNvSpPr/>
          <p:nvPr/>
        </p:nvSpPr>
        <p:spPr>
          <a:xfrm>
            <a:off x="8595360" y="2148840"/>
            <a:ext cx="1463040" cy="640080"/>
          </a:xfrm>
          <a:prstGeom prst="roundRect">
            <a:avLst>
              <a:gd name="adj" fmla="val 17143"/>
            </a:avLst>
          </a:prstGeom>
          <a:solidFill>
            <a:schemeClr val="bg1"/>
          </a:solidFill>
          <a:ln w="15875">
            <a:solidFill>
              <a:schemeClr val="accent6"/>
            </a:solidFill>
            <a:prstDash val="solid"/>
          </a:ln>
        </p:spPr>
      </p:sp>
      <p:sp>
        <p:nvSpPr>
          <p:cNvPr id="25" name="label-119"/>
          <p:cNvSpPr txBox="1"/>
          <p:nvPr/>
        </p:nvSpPr>
        <p:spPr>
          <a:xfrm>
            <a:off x="8595360" y="2148840"/>
            <a:ext cx="1463040" cy="640080"/>
          </a:xfrm>
          <a:prstGeom prst="rect">
            <a:avLst/>
          </a:prstGeom>
          <a:noFill/>
          <a:ln/>
        </p:spPr>
        <p:txBody>
          <a:bodyPr wrap="square" lIns="762" tIns="762" rIns="762" bIns="762" rtlCol="0" anchor="ctr"/>
          <a:lstStyle/>
          <a:p>
            <a:pPr algn="ctr" indent="0" marL="0">
              <a:buNone/>
            </a:pPr>
            <a:r>
              <a:rPr lang="en-US" sz="1200" dirty="0">
                <a:solidFill>
                  <a:schemeClr val="tx1"/>
                </a:solidFill>
              </a:rPr>
              <a:t>instancia A</a:t>
            </a:r>
            <a:endParaRPr lang="en-US" sz="1200" dirty="0"/>
          </a:p>
        </p:txBody>
      </p:sp>
      <p:sp>
        <p:nvSpPr>
          <p:cNvPr id="26" name="box-120"/>
          <p:cNvSpPr/>
          <p:nvPr/>
        </p:nvSpPr>
        <p:spPr>
          <a:xfrm>
            <a:off x="8595360" y="3703320"/>
            <a:ext cx="1463040" cy="640080"/>
          </a:xfrm>
          <a:prstGeom prst="roundRect">
            <a:avLst>
              <a:gd name="adj" fmla="val 17143"/>
            </a:avLst>
          </a:prstGeom>
          <a:solidFill>
            <a:schemeClr val="bg1"/>
          </a:solidFill>
          <a:ln w="15875">
            <a:solidFill>
              <a:schemeClr val="accent6"/>
            </a:solidFill>
            <a:prstDash val="solid"/>
          </a:ln>
        </p:spPr>
      </p:sp>
      <p:sp>
        <p:nvSpPr>
          <p:cNvPr id="27" name="label-121"/>
          <p:cNvSpPr txBox="1"/>
          <p:nvPr/>
        </p:nvSpPr>
        <p:spPr>
          <a:xfrm>
            <a:off x="8595360" y="3703320"/>
            <a:ext cx="1463040" cy="640080"/>
          </a:xfrm>
          <a:prstGeom prst="rect">
            <a:avLst/>
          </a:prstGeom>
          <a:noFill/>
          <a:ln/>
        </p:spPr>
        <p:txBody>
          <a:bodyPr wrap="square" lIns="762" tIns="762" rIns="762" bIns="762" rtlCol="0" anchor="ctr"/>
          <a:lstStyle/>
          <a:p>
            <a:pPr algn="ctr" indent="0" marL="0">
              <a:buNone/>
            </a:pPr>
            <a:r>
              <a:rPr lang="en-US" sz="1200" dirty="0">
                <a:solidFill>
                  <a:schemeClr val="tx1"/>
                </a:solidFill>
              </a:rPr>
              <a:t>instancia B</a:t>
            </a:r>
            <a:endParaRPr lang="en-US" sz="1200" dirty="0"/>
          </a:p>
        </p:txBody>
      </p:sp>
      <p:sp>
        <p:nvSpPr>
          <p:cNvPr id="28" name="arrow-122"/>
          <p:cNvSpPr/>
          <p:nvPr/>
        </p:nvSpPr>
        <p:spPr>
          <a:xfrm flipV="1">
            <a:off x="8046720" y="2468880"/>
            <a:ext cx="548640" cy="594360"/>
          </a:xfrm>
          <a:prstGeom prst="line">
            <a:avLst/>
          </a:prstGeom>
          <a:noFill/>
          <a:ln w="25400">
            <a:solidFill>
              <a:schemeClr val="accent6"/>
            </a:solidFill>
            <a:prstDash val="solid"/>
            <a:tailEnd type="triangle"/>
          </a:ln>
        </p:spPr>
      </p:sp>
      <p:sp>
        <p:nvSpPr>
          <p:cNvPr id="29" name="arrow-123"/>
          <p:cNvSpPr/>
          <p:nvPr/>
        </p:nvSpPr>
        <p:spPr>
          <a:xfrm>
            <a:off x="8046720" y="3429000"/>
            <a:ext cx="548640" cy="594360"/>
          </a:xfrm>
          <a:prstGeom prst="line">
            <a:avLst/>
          </a:prstGeom>
          <a:noFill/>
          <a:ln w="25400">
            <a:solidFill>
              <a:schemeClr val="accent6"/>
            </a:solidFill>
            <a:prstDash val="solid"/>
            <a:tailEnd type="triangle"/>
          </a:ln>
        </p:spPr>
      </p:sp>
      <p:sp>
        <p:nvSpPr>
          <p:cNvPr id="30" name="box-124"/>
          <p:cNvSpPr/>
          <p:nvPr/>
        </p:nvSpPr>
        <p:spPr>
          <a:xfrm>
            <a:off x="10287000" y="2148840"/>
            <a:ext cx="1097280" cy="640080"/>
          </a:xfrm>
          <a:prstGeom prst="roundRect">
            <a:avLst>
              <a:gd name="adj" fmla="val 17143"/>
            </a:avLst>
          </a:prstGeom>
          <a:solidFill>
            <a:schemeClr val="accent6"/>
          </a:solidFill>
          <a:ln/>
        </p:spPr>
      </p:sp>
      <p:sp>
        <p:nvSpPr>
          <p:cNvPr id="31" name="label-125"/>
          <p:cNvSpPr txBox="1"/>
          <p:nvPr/>
        </p:nvSpPr>
        <p:spPr>
          <a:xfrm>
            <a:off x="10287000" y="2148840"/>
            <a:ext cx="1097280" cy="640080"/>
          </a:xfrm>
          <a:prstGeom prst="rect">
            <a:avLst/>
          </a:prstGeom>
          <a:noFill/>
          <a:ln/>
        </p:spPr>
        <p:txBody>
          <a:bodyPr wrap="square" lIns="762" tIns="762" rIns="762" bIns="762" rtlCol="0" anchor="ctr"/>
          <a:lstStyle/>
          <a:p>
            <a:pPr algn="ctr" indent="0" marL="0">
              <a:buNone/>
            </a:pPr>
            <a:r>
              <a:rPr lang="en-US" sz="1300" dirty="0">
                <a:solidFill>
                  <a:schemeClr val="bg1"/>
                </a:solidFill>
              </a:rPr>
              <a:t>msg 1</a:t>
            </a:r>
            <a:endParaRPr lang="en-US" sz="1300" dirty="0"/>
          </a:p>
        </p:txBody>
      </p:sp>
      <p:sp>
        <p:nvSpPr>
          <p:cNvPr id="32" name="box-126"/>
          <p:cNvSpPr/>
          <p:nvPr/>
        </p:nvSpPr>
        <p:spPr>
          <a:xfrm>
            <a:off x="10287000" y="3703320"/>
            <a:ext cx="1097280" cy="640080"/>
          </a:xfrm>
          <a:prstGeom prst="roundRect">
            <a:avLst>
              <a:gd name="adj" fmla="val 17143"/>
            </a:avLst>
          </a:prstGeom>
          <a:solidFill>
            <a:schemeClr val="accent6"/>
          </a:solidFill>
          <a:ln/>
        </p:spPr>
      </p:sp>
      <p:sp>
        <p:nvSpPr>
          <p:cNvPr id="33" name="label-127"/>
          <p:cNvSpPr txBox="1"/>
          <p:nvPr/>
        </p:nvSpPr>
        <p:spPr>
          <a:xfrm>
            <a:off x="10287000" y="3703320"/>
            <a:ext cx="1097280" cy="640080"/>
          </a:xfrm>
          <a:prstGeom prst="rect">
            <a:avLst/>
          </a:prstGeom>
          <a:noFill/>
          <a:ln/>
        </p:spPr>
        <p:txBody>
          <a:bodyPr wrap="square" lIns="762" tIns="762" rIns="762" bIns="762" rtlCol="0" anchor="ctr"/>
          <a:lstStyle/>
          <a:p>
            <a:pPr algn="ctr" indent="0" marL="0">
              <a:buNone/>
            </a:pPr>
            <a:r>
              <a:rPr lang="en-US" sz="1300" dirty="0">
                <a:solidFill>
                  <a:schemeClr val="bg1"/>
                </a:solidFill>
              </a:rPr>
              <a:t>msg 2</a:t>
            </a:r>
            <a:endParaRPr lang="en-US" sz="1300" dirty="0"/>
          </a:p>
        </p:txBody>
      </p:sp>
      <p:sp>
        <p:nvSpPr>
          <p:cNvPr id="34" name="arrow-128"/>
          <p:cNvSpPr/>
          <p:nvPr/>
        </p:nvSpPr>
        <p:spPr>
          <a:xfrm>
            <a:off x="10058400" y="2468880"/>
            <a:ext cx="228600" cy="914"/>
          </a:xfrm>
          <a:prstGeom prst="line">
            <a:avLst/>
          </a:prstGeom>
          <a:noFill/>
          <a:ln w="25400">
            <a:solidFill>
              <a:schemeClr val="accent6"/>
            </a:solidFill>
            <a:prstDash val="solid"/>
            <a:tailEnd type="triangle"/>
          </a:ln>
        </p:spPr>
      </p:sp>
      <p:sp>
        <p:nvSpPr>
          <p:cNvPr id="35" name="arrow-129"/>
          <p:cNvSpPr/>
          <p:nvPr/>
        </p:nvSpPr>
        <p:spPr>
          <a:xfrm>
            <a:off x="10058400" y="4023360"/>
            <a:ext cx="228600" cy="914"/>
          </a:xfrm>
          <a:prstGeom prst="line">
            <a:avLst/>
          </a:prstGeom>
          <a:noFill/>
          <a:ln w="25400">
            <a:solidFill>
              <a:schemeClr val="accent6"/>
            </a:solidFill>
            <a:prstDash val="solid"/>
            <a:tailEnd type="triangle"/>
          </a:ln>
        </p:spPr>
      </p:sp>
      <p:sp>
        <p:nvSpPr>
          <p:cNvPr id="36" name="text-130"/>
          <p:cNvSpPr txBox="1"/>
          <p:nvPr/>
        </p:nvSpPr>
        <p:spPr>
          <a:xfrm>
            <a:off x="6537960" y="4572000"/>
            <a:ext cx="4846320" cy="640080"/>
          </a:xfrm>
          <a:prstGeom prst="rect">
            <a:avLst/>
          </a:prstGeom>
          <a:noFill/>
          <a:ln/>
        </p:spPr>
        <p:txBody>
          <a:bodyPr wrap="square" lIns="0" tIns="0" rIns="0" bIns="0" rtlCol="0" anchor="ctr"/>
          <a:lstStyle/>
          <a:p>
            <a:pPr algn="l" indent="0" marL="0">
              <a:buNone/>
            </a:pPr>
            <a:r>
              <a:rPr lang="en-US" sz="1400" dirty="0">
                <a:solidFill>
                  <a:schemeClr val="tx1"/>
                </a:solidFill>
              </a:rPr>
              <a:t>Varias copias de un mismo servicio se reparten los mensajes de una cola</a:t>
            </a:r>
            <a:endParaRPr lang="en-US" sz="1400" dirty="0"/>
          </a:p>
        </p:txBody>
      </p:sp>
      <p:sp>
        <p:nvSpPr>
          <p:cNvPr id="37" name="text-131"/>
          <p:cNvSpPr txBox="1"/>
          <p:nvPr/>
        </p:nvSpPr>
        <p:spPr>
          <a:xfrm>
            <a:off x="548640" y="5532120"/>
            <a:ext cx="11064240" cy="640080"/>
          </a:xfrm>
          <a:prstGeom prst="rect">
            <a:avLst/>
          </a:prstGeom>
          <a:noFill/>
          <a:ln/>
        </p:spPr>
        <p:txBody>
          <a:bodyPr wrap="square" lIns="0" tIns="0" rIns="0" bIns="0" rtlCol="0" anchor="ctr"/>
          <a:lstStyle/>
          <a:p>
            <a:pPr algn="l" indent="0" marL="0">
              <a:buNone/>
            </a:pPr>
            <a:r>
              <a:rPr lang="en-US" sz="1500" b="1" dirty="0">
                <a:solidFill>
                  <a:schemeClr val="accent1"/>
                </a:solidFill>
              </a:rPr>
              <a:t>Por eso cada servicio crea su propia cola: para sumar uno nuevo no hay que tocar ms-reservas.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Topología de colas en ReservaFit</a:t>
            </a:r>
            <a:endParaRPr lang="en-US" sz="3200" dirty="0"/>
          </a:p>
        </p:txBody>
      </p:sp>
      <p:sp>
        <p:nvSpPr>
          <p:cNvPr id="3" name="box-132"/>
          <p:cNvSpPr/>
          <p:nvPr/>
        </p:nvSpPr>
        <p:spPr>
          <a:xfrm>
            <a:off x="548640" y="1874520"/>
            <a:ext cx="2011680" cy="1097280"/>
          </a:xfrm>
          <a:prstGeom prst="roundRect">
            <a:avLst>
              <a:gd name="adj" fmla="val 10000"/>
            </a:avLst>
          </a:prstGeom>
          <a:solidFill>
            <a:schemeClr val="accent1"/>
          </a:solidFill>
          <a:ln/>
        </p:spPr>
      </p:sp>
      <p:sp>
        <p:nvSpPr>
          <p:cNvPr id="4" name="label-133"/>
          <p:cNvSpPr txBox="1"/>
          <p:nvPr/>
        </p:nvSpPr>
        <p:spPr>
          <a:xfrm>
            <a:off x="548640" y="1874520"/>
            <a:ext cx="2011680" cy="1097280"/>
          </a:xfrm>
          <a:prstGeom prst="rect">
            <a:avLst/>
          </a:prstGeom>
          <a:noFill/>
          <a:ln/>
        </p:spPr>
        <p:txBody>
          <a:bodyPr wrap="square" lIns="762" tIns="762" rIns="762" bIns="762" rtlCol="0" anchor="ctr"/>
          <a:lstStyle/>
          <a:p>
            <a:pPr algn="ctr" indent="0" marL="0">
              <a:buNone/>
            </a:pPr>
            <a:r>
              <a:rPr lang="en-US" sz="1500" b="1" dirty="0">
                <a:solidFill>
                  <a:schemeClr val="bg1"/>
                </a:solidFill>
              </a:rPr>
              <a:t>ms-reservas</a:t>
            </a:r>
            <a:endParaRPr lang="en-US" sz="1500" dirty="0"/>
          </a:p>
          <a:p>
            <a:pPr algn="ctr" indent="0" marL="0">
              <a:buNone/>
            </a:pPr>
            <a:r>
              <a:rPr lang="en-US" sz="1500" dirty="0">
                <a:solidFill>
                  <a:schemeClr val="bg1"/>
                </a:solidFill>
              </a:rPr>
              <a:t>productor</a:t>
            </a:r>
            <a:endParaRPr lang="en-US" sz="1500" dirty="0"/>
          </a:p>
        </p:txBody>
      </p:sp>
      <p:sp>
        <p:nvSpPr>
          <p:cNvPr id="5" name="arrow-134"/>
          <p:cNvSpPr/>
          <p:nvPr/>
        </p:nvSpPr>
        <p:spPr>
          <a:xfrm>
            <a:off x="2560320" y="2423160"/>
            <a:ext cx="868680" cy="914"/>
          </a:xfrm>
          <a:prstGeom prst="line">
            <a:avLst/>
          </a:prstGeom>
          <a:noFill/>
          <a:ln w="31750">
            <a:solidFill>
              <a:schemeClr val="accent1"/>
            </a:solidFill>
            <a:prstDash val="solid"/>
            <a:tailEnd type="triangle"/>
          </a:ln>
        </p:spPr>
      </p:sp>
      <p:sp>
        <p:nvSpPr>
          <p:cNvPr id="6" name="text-135"/>
          <p:cNvSpPr txBox="1"/>
          <p:nvPr/>
        </p:nvSpPr>
        <p:spPr>
          <a:xfrm>
            <a:off x="548640" y="3108960"/>
            <a:ext cx="3108960" cy="365760"/>
          </a:xfrm>
          <a:prstGeom prst="rect">
            <a:avLst/>
          </a:prstGeom>
          <a:noFill/>
          <a:ln/>
        </p:spPr>
        <p:txBody>
          <a:bodyPr wrap="square" lIns="0" tIns="0" rIns="0" bIns="0" rtlCol="0" anchor="ctr"/>
          <a:lstStyle/>
          <a:p>
            <a:pPr algn="l" indent="0" marL="0">
              <a:buNone/>
            </a:pPr>
            <a:r>
              <a:rPr lang="en-US" sz="1100" dirty="0">
                <a:solidFill>
                  <a:schemeClr val="tx1"/>
                </a:solidFill>
                <a:latin typeface="Courier New" pitchFamily="34" charset="0"/>
                <a:ea typeface="Courier New" pitchFamily="34" charset="-122"/>
                <a:cs typeface="Courier New" pitchFamily="34" charset="-120"/>
              </a:rPr>
              <a:t>publica booking.created o booking.cancelled</a:t>
            </a:r>
            <a:endParaRPr lang="en-US" sz="1100" dirty="0"/>
          </a:p>
        </p:txBody>
      </p:sp>
      <p:sp>
        <p:nvSpPr>
          <p:cNvPr id="7" name="box-136"/>
          <p:cNvSpPr/>
          <p:nvPr/>
        </p:nvSpPr>
        <p:spPr>
          <a:xfrm>
            <a:off x="3429000" y="1783080"/>
            <a:ext cx="2468880" cy="1280160"/>
          </a:xfrm>
          <a:prstGeom prst="roundRect">
            <a:avLst>
              <a:gd name="adj" fmla="val 8571"/>
            </a:avLst>
          </a:prstGeom>
          <a:solidFill>
            <a:schemeClr val="tx2"/>
          </a:solidFill>
          <a:ln/>
        </p:spPr>
      </p:sp>
      <p:sp>
        <p:nvSpPr>
          <p:cNvPr id="8" name="label-137"/>
          <p:cNvSpPr txBox="1"/>
          <p:nvPr/>
        </p:nvSpPr>
        <p:spPr>
          <a:xfrm>
            <a:off x="3429000" y="1783080"/>
            <a:ext cx="2468880" cy="1280160"/>
          </a:xfrm>
          <a:prstGeom prst="rect">
            <a:avLst/>
          </a:prstGeom>
          <a:noFill/>
          <a:ln/>
        </p:spPr>
        <p:txBody>
          <a:bodyPr wrap="square" lIns="762" tIns="762" rIns="762" bIns="762"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reservafit.events</a:t>
            </a:r>
            <a:endParaRPr lang="en-US" sz="1400" dirty="0"/>
          </a:p>
          <a:p>
            <a:pPr algn="ctr" indent="0" marL="0">
              <a:buNone/>
            </a:pPr>
            <a:r>
              <a:rPr lang="en-US" sz="1400" dirty="0">
                <a:solidFill>
                  <a:schemeClr val="bg1"/>
                </a:solidFill>
              </a:rPr>
              <a:t>exchange topic</a:t>
            </a:r>
            <a:endParaRPr lang="en-US" sz="1400" dirty="0"/>
          </a:p>
        </p:txBody>
      </p:sp>
      <p:sp>
        <p:nvSpPr>
          <p:cNvPr id="9" name="box-138"/>
          <p:cNvSpPr/>
          <p:nvPr/>
        </p:nvSpPr>
        <p:spPr>
          <a:xfrm>
            <a:off x="6720840" y="1280160"/>
            <a:ext cx="2606040" cy="777240"/>
          </a:xfrm>
          <a:prstGeom prst="roundRect">
            <a:avLst>
              <a:gd name="adj" fmla="val 14118"/>
            </a:avLst>
          </a:prstGeom>
          <a:solidFill>
            <a:schemeClr val="bg1"/>
          </a:solidFill>
          <a:ln w="15875">
            <a:solidFill>
              <a:schemeClr val="accent2"/>
            </a:solidFill>
            <a:prstDash val="solid"/>
          </a:ln>
        </p:spPr>
      </p:sp>
      <p:sp>
        <p:nvSpPr>
          <p:cNvPr id="10" name="label-139"/>
          <p:cNvSpPr txBox="1"/>
          <p:nvPr/>
        </p:nvSpPr>
        <p:spPr>
          <a:xfrm>
            <a:off x="6720840" y="1280160"/>
            <a:ext cx="2606040" cy="777240"/>
          </a:xfrm>
          <a:prstGeom prst="rect">
            <a:avLst/>
          </a:prstGeom>
          <a:noFill/>
          <a:ln/>
        </p:spPr>
        <p:txBody>
          <a:bodyPr wrap="square" lIns="762" tIns="762" rIns="762" bIns="762"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gimnasios.bookings</a:t>
            </a:r>
            <a:endParaRPr lang="en-US" sz="1200" dirty="0"/>
          </a:p>
          <a:p>
            <a:pPr algn="ctr" indent="0" marL="0">
              <a:buNone/>
            </a:pPr>
            <a:r>
              <a:rPr lang="en-US" sz="1200" dirty="0">
                <a:solidFill>
                  <a:schemeClr val="tx1"/>
                </a:solidFill>
              </a:rPr>
              <a:t>cola durable</a:t>
            </a:r>
            <a:endParaRPr lang="en-US" sz="1200" dirty="0"/>
          </a:p>
        </p:txBody>
      </p:sp>
      <p:sp>
        <p:nvSpPr>
          <p:cNvPr id="11" name="box-140"/>
          <p:cNvSpPr/>
          <p:nvPr/>
        </p:nvSpPr>
        <p:spPr>
          <a:xfrm>
            <a:off x="6720840" y="2788920"/>
            <a:ext cx="2606040" cy="777240"/>
          </a:xfrm>
          <a:prstGeom prst="roundRect">
            <a:avLst>
              <a:gd name="adj" fmla="val 14118"/>
            </a:avLst>
          </a:prstGeom>
          <a:solidFill>
            <a:schemeClr val="bg1"/>
          </a:solidFill>
          <a:ln w="15875">
            <a:solidFill>
              <a:schemeClr val="accent3"/>
            </a:solidFill>
            <a:prstDash val="solid"/>
          </a:ln>
        </p:spPr>
      </p:sp>
      <p:sp>
        <p:nvSpPr>
          <p:cNvPr id="12" name="label-141"/>
          <p:cNvSpPr txBox="1"/>
          <p:nvPr/>
        </p:nvSpPr>
        <p:spPr>
          <a:xfrm>
            <a:off x="6720840" y="2788920"/>
            <a:ext cx="2606040" cy="777240"/>
          </a:xfrm>
          <a:prstGeom prst="rect">
            <a:avLst/>
          </a:prstGeom>
          <a:noFill/>
          <a:ln/>
        </p:spPr>
        <p:txBody>
          <a:bodyPr wrap="square" lIns="762" tIns="762" rIns="762" bIns="762"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notificaciones.bookings</a:t>
            </a:r>
            <a:endParaRPr lang="en-US" sz="1200" dirty="0"/>
          </a:p>
          <a:p>
            <a:pPr algn="ctr" indent="0" marL="0">
              <a:buNone/>
            </a:pPr>
            <a:r>
              <a:rPr lang="en-US" sz="1200" dirty="0">
                <a:solidFill>
                  <a:schemeClr val="tx1"/>
                </a:solidFill>
              </a:rPr>
              <a:t>cola durable</a:t>
            </a:r>
            <a:endParaRPr lang="en-US" sz="1200" dirty="0"/>
          </a:p>
        </p:txBody>
      </p:sp>
      <p:sp>
        <p:nvSpPr>
          <p:cNvPr id="13" name="arrow-142"/>
          <p:cNvSpPr/>
          <p:nvPr/>
        </p:nvSpPr>
        <p:spPr>
          <a:xfrm flipV="1">
            <a:off x="5897880" y="1673352"/>
            <a:ext cx="822960" cy="566928"/>
          </a:xfrm>
          <a:prstGeom prst="line">
            <a:avLst/>
          </a:prstGeom>
          <a:noFill/>
          <a:ln w="25400">
            <a:solidFill>
              <a:schemeClr val="accent6"/>
            </a:solidFill>
            <a:prstDash val="solid"/>
            <a:tailEnd type="triangle"/>
          </a:ln>
        </p:spPr>
      </p:sp>
      <p:sp>
        <p:nvSpPr>
          <p:cNvPr id="14" name="arrow-143"/>
          <p:cNvSpPr/>
          <p:nvPr/>
        </p:nvSpPr>
        <p:spPr>
          <a:xfrm>
            <a:off x="5897880" y="2606040"/>
            <a:ext cx="822960" cy="566928"/>
          </a:xfrm>
          <a:prstGeom prst="line">
            <a:avLst/>
          </a:prstGeom>
          <a:noFill/>
          <a:ln w="25400">
            <a:solidFill>
              <a:schemeClr val="accent6"/>
            </a:solidFill>
            <a:prstDash val="solid"/>
            <a:tailEnd type="triangle"/>
          </a:ln>
        </p:spPr>
      </p:sp>
      <p:sp>
        <p:nvSpPr>
          <p:cNvPr id="15" name="text-144"/>
          <p:cNvSpPr txBox="1"/>
          <p:nvPr/>
        </p:nvSpPr>
        <p:spPr>
          <a:xfrm>
            <a:off x="5806440" y="2240280"/>
            <a:ext cx="960120" cy="36576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booking.*</a:t>
            </a:r>
            <a:endParaRPr lang="en-US" sz="1100" dirty="0"/>
          </a:p>
        </p:txBody>
      </p:sp>
      <p:sp>
        <p:nvSpPr>
          <p:cNvPr id="16" name="box-145"/>
          <p:cNvSpPr/>
          <p:nvPr/>
        </p:nvSpPr>
        <p:spPr>
          <a:xfrm>
            <a:off x="9784080" y="1280160"/>
            <a:ext cx="1828800" cy="777240"/>
          </a:xfrm>
          <a:prstGeom prst="roundRect">
            <a:avLst>
              <a:gd name="adj" fmla="val 14118"/>
            </a:avLst>
          </a:prstGeom>
          <a:solidFill>
            <a:schemeClr val="accent2"/>
          </a:solidFill>
          <a:ln/>
        </p:spPr>
      </p:sp>
      <p:sp>
        <p:nvSpPr>
          <p:cNvPr id="17" name="label-146"/>
          <p:cNvSpPr txBox="1"/>
          <p:nvPr/>
        </p:nvSpPr>
        <p:spPr>
          <a:xfrm>
            <a:off x="9784080" y="1280160"/>
            <a:ext cx="1828800" cy="777240"/>
          </a:xfrm>
          <a:prstGeom prst="rect">
            <a:avLst/>
          </a:prstGeom>
          <a:noFill/>
          <a:ln/>
        </p:spPr>
        <p:txBody>
          <a:bodyPr wrap="square" lIns="762" tIns="762" rIns="762" bIns="762" rtlCol="0" anchor="ctr"/>
          <a:lstStyle/>
          <a:p>
            <a:pPr algn="ctr" indent="0" marL="0">
              <a:buNone/>
            </a:pPr>
            <a:r>
              <a:rPr lang="en-US" sz="1200" b="1" dirty="0">
                <a:solidFill>
                  <a:schemeClr val="bg1"/>
                </a:solidFill>
              </a:rPr>
              <a:t>ms-gimnasios</a:t>
            </a:r>
            <a:endParaRPr lang="en-US" sz="1200" dirty="0"/>
          </a:p>
          <a:p>
            <a:pPr algn="ctr" indent="0" marL="0">
              <a:buNone/>
            </a:pPr>
            <a:r>
              <a:rPr lang="en-US" sz="1200" dirty="0">
                <a:solidFill>
                  <a:schemeClr val="bg1"/>
                </a:solidFill>
              </a:rPr>
              <a:t>reserva_gimnasio</a:t>
            </a:r>
            <a:endParaRPr lang="en-US" sz="1200" dirty="0"/>
          </a:p>
        </p:txBody>
      </p:sp>
      <p:sp>
        <p:nvSpPr>
          <p:cNvPr id="18" name="box-147"/>
          <p:cNvSpPr/>
          <p:nvPr/>
        </p:nvSpPr>
        <p:spPr>
          <a:xfrm>
            <a:off x="9784080" y="2788920"/>
            <a:ext cx="1828800" cy="777240"/>
          </a:xfrm>
          <a:prstGeom prst="roundRect">
            <a:avLst>
              <a:gd name="adj" fmla="val 14118"/>
            </a:avLst>
          </a:prstGeom>
          <a:solidFill>
            <a:schemeClr val="accent3"/>
          </a:solidFill>
          <a:ln/>
        </p:spPr>
      </p:sp>
      <p:sp>
        <p:nvSpPr>
          <p:cNvPr id="19" name="label-148"/>
          <p:cNvSpPr txBox="1"/>
          <p:nvPr/>
        </p:nvSpPr>
        <p:spPr>
          <a:xfrm>
            <a:off x="9784080" y="2788920"/>
            <a:ext cx="1828800" cy="777240"/>
          </a:xfrm>
          <a:prstGeom prst="rect">
            <a:avLst/>
          </a:prstGeom>
          <a:noFill/>
          <a:ln/>
        </p:spPr>
        <p:txBody>
          <a:bodyPr wrap="square" lIns="762" tIns="762" rIns="762" bIns="762" rtlCol="0" anchor="ctr"/>
          <a:lstStyle/>
          <a:p>
            <a:pPr algn="ctr" indent="0" marL="0">
              <a:buNone/>
            </a:pPr>
            <a:r>
              <a:rPr lang="en-US" sz="1200" b="1" dirty="0">
                <a:solidFill>
                  <a:schemeClr val="bg1"/>
                </a:solidFill>
              </a:rPr>
              <a:t>ms-notificaciones</a:t>
            </a:r>
            <a:endParaRPr lang="en-US" sz="1200" dirty="0"/>
          </a:p>
          <a:p>
            <a:pPr algn="ctr" indent="0" marL="0">
              <a:buNone/>
            </a:pPr>
            <a:r>
              <a:rPr lang="en-US" sz="1200" dirty="0">
                <a:solidFill>
                  <a:schemeClr val="bg1"/>
                </a:solidFill>
              </a:rPr>
              <a:t>notificacion</a:t>
            </a:r>
            <a:endParaRPr lang="en-US" sz="1200" dirty="0"/>
          </a:p>
        </p:txBody>
      </p:sp>
      <p:sp>
        <p:nvSpPr>
          <p:cNvPr id="20" name="arrow-149"/>
          <p:cNvSpPr/>
          <p:nvPr/>
        </p:nvSpPr>
        <p:spPr>
          <a:xfrm>
            <a:off x="9326880" y="1673352"/>
            <a:ext cx="457200" cy="914"/>
          </a:xfrm>
          <a:prstGeom prst="line">
            <a:avLst/>
          </a:prstGeom>
          <a:noFill/>
          <a:ln w="25400">
            <a:solidFill>
              <a:schemeClr val="accent2"/>
            </a:solidFill>
            <a:prstDash val="solid"/>
            <a:tailEnd type="triangle"/>
          </a:ln>
        </p:spPr>
      </p:sp>
      <p:sp>
        <p:nvSpPr>
          <p:cNvPr id="21" name="arrow-150"/>
          <p:cNvSpPr/>
          <p:nvPr/>
        </p:nvSpPr>
        <p:spPr>
          <a:xfrm>
            <a:off x="9326880" y="3172968"/>
            <a:ext cx="457200" cy="914"/>
          </a:xfrm>
          <a:prstGeom prst="line">
            <a:avLst/>
          </a:prstGeom>
          <a:noFill/>
          <a:ln w="25400">
            <a:solidFill>
              <a:schemeClr val="accent3"/>
            </a:solidFill>
            <a:prstDash val="solid"/>
            <a:tailEnd type="triangle"/>
          </a:ln>
        </p:spPr>
      </p:sp>
      <p:sp>
        <p:nvSpPr>
          <p:cNvPr id="22" name="box-151"/>
          <p:cNvSpPr/>
          <p:nvPr/>
        </p:nvSpPr>
        <p:spPr>
          <a:xfrm>
            <a:off x="548640" y="4160520"/>
            <a:ext cx="11064240" cy="2011680"/>
          </a:xfrm>
          <a:prstGeom prst="roundRect">
            <a:avLst>
              <a:gd name="adj" fmla="val 6818"/>
            </a:avLst>
          </a:prstGeom>
          <a:solidFill>
            <a:schemeClr val="bg2"/>
          </a:solidFill>
          <a:ln/>
        </p:spPr>
      </p:sp>
      <p:sp>
        <p:nvSpPr>
          <p:cNvPr id="23" name="text-152"/>
          <p:cNvSpPr txBox="1"/>
          <p:nvPr/>
        </p:nvSpPr>
        <p:spPr>
          <a:xfrm>
            <a:off x="822960" y="4251960"/>
            <a:ext cx="6400800" cy="411480"/>
          </a:xfrm>
          <a:prstGeom prst="rect">
            <a:avLst/>
          </a:prstGeom>
          <a:noFill/>
          <a:ln/>
        </p:spPr>
        <p:txBody>
          <a:bodyPr wrap="square" lIns="0" tIns="0" rIns="0" bIns="0" rtlCol="0" anchor="ctr"/>
          <a:lstStyle/>
          <a:p>
            <a:pPr algn="l" indent="0" marL="0">
              <a:buNone/>
            </a:pPr>
            <a:r>
              <a:rPr lang="en-US" sz="1500" b="1" dirty="0">
                <a:solidFill>
                  <a:schemeClr val="tx1"/>
                </a:solidFill>
              </a:rPr>
              <a:t>Si un mensaje falla, cada cola lo deriva a su cola de errores</a:t>
            </a:r>
            <a:endParaRPr lang="en-US" sz="1500" dirty="0"/>
          </a:p>
        </p:txBody>
      </p:sp>
      <p:sp>
        <p:nvSpPr>
          <p:cNvPr id="24" name="text-153"/>
          <p:cNvSpPr txBox="1"/>
          <p:nvPr/>
        </p:nvSpPr>
        <p:spPr>
          <a:xfrm>
            <a:off x="822960" y="4846320"/>
            <a:ext cx="3657600" cy="731520"/>
          </a:xfrm>
          <a:prstGeom prst="rect">
            <a:avLst/>
          </a:prstGeom>
          <a:noFill/>
          <a:ln/>
        </p:spPr>
        <p:txBody>
          <a:bodyPr wrap="square" lIns="0" tIns="0" rIns="0" bIns="0" rtlCol="0" anchor="ctr"/>
          <a:lstStyle/>
          <a:p>
            <a:pPr algn="l" indent="0" marL="0">
              <a:buNone/>
            </a:pPr>
            <a:r>
              <a:rPr lang="en-US" sz="1500" dirty="0">
                <a:solidFill>
                  <a:schemeClr val="tx1"/>
                </a:solidFill>
              </a:rPr>
              <a:t>Mensaje que no se pudo procesar</a:t>
            </a:r>
            <a:endParaRPr lang="en-US" sz="1500" dirty="0"/>
          </a:p>
        </p:txBody>
      </p:sp>
      <p:sp>
        <p:nvSpPr>
          <p:cNvPr id="25" name="box-154"/>
          <p:cNvSpPr/>
          <p:nvPr/>
        </p:nvSpPr>
        <p:spPr>
          <a:xfrm>
            <a:off x="4937760" y="4800600"/>
            <a:ext cx="2057400" cy="822960"/>
          </a:xfrm>
          <a:prstGeom prst="roundRect">
            <a:avLst>
              <a:gd name="adj" fmla="val 13333"/>
            </a:avLst>
          </a:prstGeom>
          <a:solidFill>
            <a:schemeClr val="accent4"/>
          </a:solidFill>
          <a:ln/>
        </p:spPr>
      </p:sp>
      <p:sp>
        <p:nvSpPr>
          <p:cNvPr id="26" name="label-155"/>
          <p:cNvSpPr txBox="1"/>
          <p:nvPr/>
        </p:nvSpPr>
        <p:spPr>
          <a:xfrm>
            <a:off x="4937760" y="4800600"/>
            <a:ext cx="2057400" cy="822960"/>
          </a:xfrm>
          <a:prstGeom prst="rect">
            <a:avLst/>
          </a:prstGeom>
          <a:noFill/>
          <a:ln/>
        </p:spPr>
        <p:txBody>
          <a:bodyPr wrap="square" lIns="762" tIns="762" rIns="762" bIns="762"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reservafit.dlx</a:t>
            </a:r>
            <a:endParaRPr lang="en-US" sz="1200" dirty="0"/>
          </a:p>
          <a:p>
            <a:pPr algn="ctr" indent="0" marL="0">
              <a:buNone/>
            </a:pPr>
            <a:r>
              <a:rPr lang="en-US" sz="1200" dirty="0">
                <a:solidFill>
                  <a:schemeClr val="bg1"/>
                </a:solidFill>
              </a:rPr>
              <a:t>exchange de errores</a:t>
            </a:r>
            <a:endParaRPr lang="en-US" sz="1200" dirty="0"/>
          </a:p>
        </p:txBody>
      </p:sp>
      <p:sp>
        <p:nvSpPr>
          <p:cNvPr id="27" name="arrow-156"/>
          <p:cNvSpPr/>
          <p:nvPr/>
        </p:nvSpPr>
        <p:spPr>
          <a:xfrm>
            <a:off x="4526280" y="5212080"/>
            <a:ext cx="411480" cy="914"/>
          </a:xfrm>
          <a:prstGeom prst="line">
            <a:avLst/>
          </a:prstGeom>
          <a:noFill/>
          <a:ln w="25400">
            <a:solidFill>
              <a:schemeClr val="accent4"/>
            </a:solidFill>
            <a:prstDash val="dash"/>
            <a:tailEnd type="triangle"/>
          </a:ln>
        </p:spPr>
      </p:sp>
      <p:sp>
        <p:nvSpPr>
          <p:cNvPr id="28" name="box-157"/>
          <p:cNvSpPr/>
          <p:nvPr/>
        </p:nvSpPr>
        <p:spPr>
          <a:xfrm>
            <a:off x="7726680" y="4572000"/>
            <a:ext cx="3657600" cy="548640"/>
          </a:xfrm>
          <a:prstGeom prst="roundRect">
            <a:avLst>
              <a:gd name="adj" fmla="val 20000"/>
            </a:avLst>
          </a:prstGeom>
          <a:solidFill>
            <a:schemeClr val="bg1"/>
          </a:solidFill>
          <a:ln w="15875">
            <a:solidFill>
              <a:schemeClr val="accent4"/>
            </a:solidFill>
            <a:prstDash val="solid"/>
          </a:ln>
        </p:spPr>
      </p:sp>
      <p:sp>
        <p:nvSpPr>
          <p:cNvPr id="29" name="label-158"/>
          <p:cNvSpPr txBox="1"/>
          <p:nvPr/>
        </p:nvSpPr>
        <p:spPr>
          <a:xfrm>
            <a:off x="7726680" y="4572000"/>
            <a:ext cx="3657600" cy="548640"/>
          </a:xfrm>
          <a:prstGeom prst="rect">
            <a:avLst/>
          </a:prstGeom>
          <a:noFill/>
          <a:ln/>
        </p:spPr>
        <p:txBody>
          <a:bodyPr wrap="square" lIns="762" tIns="762" rIns="762" bIns="762"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gimnasios.bookings.dlq</a:t>
            </a:r>
            <a:endParaRPr lang="en-US" sz="1200" dirty="0"/>
          </a:p>
        </p:txBody>
      </p:sp>
      <p:sp>
        <p:nvSpPr>
          <p:cNvPr id="30" name="box-159"/>
          <p:cNvSpPr/>
          <p:nvPr/>
        </p:nvSpPr>
        <p:spPr>
          <a:xfrm>
            <a:off x="7726680" y="5349240"/>
            <a:ext cx="3657600" cy="548640"/>
          </a:xfrm>
          <a:prstGeom prst="roundRect">
            <a:avLst>
              <a:gd name="adj" fmla="val 20000"/>
            </a:avLst>
          </a:prstGeom>
          <a:solidFill>
            <a:schemeClr val="bg1"/>
          </a:solidFill>
          <a:ln w="15875">
            <a:solidFill>
              <a:schemeClr val="accent4"/>
            </a:solidFill>
            <a:prstDash val="solid"/>
          </a:ln>
        </p:spPr>
      </p:sp>
      <p:sp>
        <p:nvSpPr>
          <p:cNvPr id="31" name="label-160"/>
          <p:cNvSpPr txBox="1"/>
          <p:nvPr/>
        </p:nvSpPr>
        <p:spPr>
          <a:xfrm>
            <a:off x="7726680" y="5349240"/>
            <a:ext cx="3657600" cy="548640"/>
          </a:xfrm>
          <a:prstGeom prst="rect">
            <a:avLst/>
          </a:prstGeom>
          <a:noFill/>
          <a:ln/>
        </p:spPr>
        <p:txBody>
          <a:bodyPr wrap="square" lIns="762" tIns="762" rIns="762" bIns="762"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notificaciones.bookings.dlq</a:t>
            </a:r>
            <a:endParaRPr lang="en-US" sz="1200" dirty="0"/>
          </a:p>
        </p:txBody>
      </p:sp>
      <p:sp>
        <p:nvSpPr>
          <p:cNvPr id="32" name="arrow-161"/>
          <p:cNvSpPr/>
          <p:nvPr/>
        </p:nvSpPr>
        <p:spPr>
          <a:xfrm flipV="1">
            <a:off x="6995160" y="4846320"/>
            <a:ext cx="731520" cy="228600"/>
          </a:xfrm>
          <a:prstGeom prst="line">
            <a:avLst/>
          </a:prstGeom>
          <a:noFill/>
          <a:ln w="25400">
            <a:solidFill>
              <a:schemeClr val="accent4"/>
            </a:solidFill>
            <a:prstDash val="solid"/>
            <a:tailEnd type="triangle"/>
          </a:ln>
        </p:spPr>
      </p:sp>
      <p:sp>
        <p:nvSpPr>
          <p:cNvPr id="33" name="arrow-162"/>
          <p:cNvSpPr/>
          <p:nvPr/>
        </p:nvSpPr>
        <p:spPr>
          <a:xfrm>
            <a:off x="6995160" y="5349240"/>
            <a:ext cx="731520" cy="274320"/>
          </a:xfrm>
          <a:prstGeom prst="line">
            <a:avLst/>
          </a:prstGeom>
          <a:noFill/>
          <a:ln w="25400">
            <a:solidFill>
              <a:schemeClr val="accent4"/>
            </a:solidFill>
            <a:prstDash val="solid"/>
            <a:tailEnd type="triangle"/>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El mensaje: una reserva en JSON</a:t>
            </a:r>
            <a:endParaRPr lang="en-US" sz="3200" dirty="0"/>
          </a:p>
        </p:txBody>
      </p:sp>
      <p:sp>
        <p:nvSpPr>
          <p:cNvPr id="3" name="box-163"/>
          <p:cNvSpPr/>
          <p:nvPr/>
        </p:nvSpPr>
        <p:spPr>
          <a:xfrm>
            <a:off x="548640" y="1325880"/>
            <a:ext cx="5120640" cy="3657600"/>
          </a:xfrm>
          <a:prstGeom prst="roundRect">
            <a:avLst>
              <a:gd name="adj" fmla="val 2500"/>
            </a:avLst>
          </a:prstGeom>
          <a:solidFill>
            <a:schemeClr val="tx2"/>
          </a:solidFill>
          <a:ln/>
        </p:spPr>
      </p:sp>
      <p:sp>
        <p:nvSpPr>
          <p:cNvPr id="4" name="code-164"/>
          <p:cNvSpPr txBox="1"/>
          <p:nvPr/>
        </p:nvSpPr>
        <p:spPr>
          <a:xfrm>
            <a:off x="777240" y="1463040"/>
            <a:ext cx="4663440" cy="3383280"/>
          </a:xfrm>
          <a:prstGeom prst="rect">
            <a:avLst/>
          </a:prstGeom>
          <a:noFill/>
          <a:ln/>
        </p:spPr>
        <p:txBody>
          <a:bodyPr wrap="square" lIns="0" tIns="0" rIns="0" bIns="0" rtlCol="0" anchor="t"/>
          <a:lstStyle/>
          <a:p>
            <a:pPr indent="0" marL="0">
              <a:buNone/>
            </a:pPr>
            <a:r>
              <a:rPr lang="en-US" sz="1500" dirty="0">
                <a:solidFill>
                  <a:schemeClr val="bg2"/>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"bookingId": </a:t>
            </a:r>
            <a:pPr indent="0" marL="0">
              <a:buNone/>
            </a:pPr>
            <a:r>
              <a:rPr lang="en-US" sz="1500" dirty="0">
                <a:solidFill>
                  <a:schemeClr val="accent1"/>
                </a:solidFill>
                <a:latin typeface="Courier New" pitchFamily="34" charset="0"/>
                <a:ea typeface="Courier New" pitchFamily="34" charset="-122"/>
                <a:cs typeface="Courier New" pitchFamily="34" charset="-120"/>
              </a:rPr>
              <a:t>42,</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"userOid": </a:t>
            </a:r>
            <a:pPr indent="0" marL="0">
              <a:buNone/>
            </a:pPr>
            <a:r>
              <a:rPr lang="en-US" sz="1500" dirty="0">
                <a:solidFill>
                  <a:schemeClr val="accent1"/>
                </a:solidFill>
                <a:latin typeface="Courier New" pitchFamily="34" charset="0"/>
                <a:ea typeface="Courier New" pitchFamily="34" charset="-122"/>
                <a:cs typeface="Courier New" pitchFamily="34" charset="-120"/>
              </a:rPr>
              <a:t>"9f3c…a1b2",</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"gymId": </a:t>
            </a:r>
            <a:pPr indent="0" marL="0">
              <a:buNone/>
            </a:pPr>
            <a:r>
              <a:rPr lang="en-US" sz="1500" dirty="0">
                <a:solidFill>
                  <a:schemeClr val="accent1"/>
                </a:solidFill>
                <a:latin typeface="Courier New" pitchFamily="34" charset="0"/>
                <a:ea typeface="Courier New" pitchFamily="34" charset="-122"/>
                <a:cs typeface="Courier New" pitchFamily="34" charset="-120"/>
              </a:rPr>
              <a:t>1,</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"scheduleId": </a:t>
            </a:r>
            <a:pPr indent="0" marL="0">
              <a:buNone/>
            </a:pPr>
            <a:r>
              <a:rPr lang="en-US" sz="1500" dirty="0">
                <a:solidFill>
                  <a:schemeClr val="accent1"/>
                </a:solidFill>
                <a:latin typeface="Courier New" pitchFamily="34" charset="0"/>
                <a:ea typeface="Courier New" pitchFamily="34" charset="-122"/>
                <a:cs typeface="Courier New" pitchFamily="34" charset="-120"/>
              </a:rPr>
              <a:t>3,</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"date": </a:t>
            </a:r>
            <a:pPr indent="0" marL="0">
              <a:buNone/>
            </a:pPr>
            <a:r>
              <a:rPr lang="en-US" sz="1500" dirty="0">
                <a:solidFill>
                  <a:schemeClr val="accent1"/>
                </a:solidFill>
                <a:latin typeface="Courier New" pitchFamily="34" charset="0"/>
                <a:ea typeface="Courier New" pitchFamily="34" charset="-122"/>
                <a:cs typeface="Courier New" pitchFamily="34" charset="-120"/>
              </a:rPr>
              <a:t>"2026-10-21",</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"gymName": </a:t>
            </a:r>
            <a:pPr indent="0" marL="0">
              <a:buNone/>
            </a:pPr>
            <a:r>
              <a:rPr lang="en-US" sz="1500" dirty="0">
                <a:solidFill>
                  <a:schemeClr val="accent1"/>
                </a:solidFill>
                <a:latin typeface="Courier New" pitchFamily="34" charset="0"/>
                <a:ea typeface="Courier New" pitchFamily="34" charset="-122"/>
                <a:cs typeface="Courier New" pitchFamily="34" charset="-120"/>
              </a:rPr>
              <a:t>"Fuerza Barrio Gym",</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"startTime": </a:t>
            </a:r>
            <a:pPr indent="0" marL="0">
              <a:buNone/>
            </a:pPr>
            <a:r>
              <a:rPr lang="en-US" sz="1500" dirty="0">
                <a:solidFill>
                  <a:schemeClr val="accent1"/>
                </a:solidFill>
                <a:latin typeface="Courier New" pitchFamily="34" charset="0"/>
                <a:ea typeface="Courier New" pitchFamily="34" charset="-122"/>
                <a:cs typeface="Courier New" pitchFamily="34" charset="-120"/>
              </a:rPr>
              <a:t>"18:00:00",</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"endTime": </a:t>
            </a:r>
            <a:pPr indent="0" marL="0">
              <a:buNone/>
            </a:pPr>
            <a:r>
              <a:rPr lang="en-US" sz="1500" dirty="0">
                <a:solidFill>
                  <a:schemeClr val="accent1"/>
                </a:solidFill>
                <a:latin typeface="Courier New" pitchFamily="34" charset="0"/>
                <a:ea typeface="Courier New" pitchFamily="34" charset="-122"/>
                <a:cs typeface="Courier New" pitchFamily="34" charset="-120"/>
              </a:rPr>
              <a:t>"19:00:00",</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"status": </a:t>
            </a:r>
            <a:pPr indent="0" marL="0">
              <a:buNone/>
            </a:pPr>
            <a:r>
              <a:rPr lang="en-US" sz="1500" dirty="0">
                <a:solidFill>
                  <a:schemeClr val="accent1"/>
                </a:solidFill>
                <a:latin typeface="Courier New" pitchFamily="34" charset="0"/>
                <a:ea typeface="Courier New" pitchFamily="34" charset="-122"/>
                <a:cs typeface="Courier New" pitchFamily="34" charset="-120"/>
              </a:rPr>
              <a:t>"CONFIRMADA"</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a:t>
            </a:r>
            <a:endParaRPr lang="en-US" sz="1500" dirty="0"/>
          </a:p>
        </p:txBody>
      </p:sp>
      <p:sp>
        <p:nvSpPr>
          <p:cNvPr id="5" name="text-165"/>
          <p:cNvSpPr txBox="1"/>
          <p:nvPr/>
        </p:nvSpPr>
        <p:spPr>
          <a:xfrm>
            <a:off x="548640" y="5120640"/>
            <a:ext cx="5486400" cy="365760"/>
          </a:xfrm>
          <a:prstGeom prst="rect">
            <a:avLst/>
          </a:prstGeom>
          <a:noFill/>
          <a:ln/>
        </p:spPr>
        <p:txBody>
          <a:bodyPr wrap="square" lIns="0" tIns="0" rIns="0" bIns="0" rtlCol="0" anchor="t"/>
          <a:lstStyle/>
          <a:p>
            <a:pPr algn="l" indent="0" marL="0">
              <a:buNone/>
            </a:pPr>
            <a:r>
              <a:rPr lang="en-US" sz="1300" dirty="0">
                <a:solidFill>
                  <a:schemeClr val="accent6"/>
                </a:solidFill>
              </a:rPr>
              <a:t>Etiqueta (routing key): booking.created</a:t>
            </a:r>
            <a:endParaRPr lang="en-US" sz="1300" dirty="0"/>
          </a:p>
        </p:txBody>
      </p:sp>
      <p:sp>
        <p:nvSpPr>
          <p:cNvPr id="6" name="circle-166"/>
          <p:cNvSpPr/>
          <p:nvPr/>
        </p:nvSpPr>
        <p:spPr>
          <a:xfrm>
            <a:off x="6126480" y="1325880"/>
            <a:ext cx="548640" cy="548640"/>
          </a:xfrm>
          <a:prstGeom prst="ellipse">
            <a:avLst/>
          </a:prstGeom>
          <a:solidFill>
            <a:schemeClr val="accent1"/>
          </a:solidFill>
          <a:ln/>
        </p:spPr>
      </p:sp>
      <p:pic>
        <p:nvPicPr>
          <p:cNvPr id="7" name="icon-167" descr="preencoded.png">    </p:cNvPr>
          <p:cNvPicPr>
            <a:picLocks noChangeAspect="1"/>
          </p:cNvPicPr>
          <p:nvPr/>
        </p:nvPicPr>
        <p:blipFill>
          <a:blip r:embed="rId1"/>
          <a:stretch>
            <a:fillRect/>
          </a:stretch>
        </p:blipFill>
        <p:spPr>
          <a:xfrm>
            <a:off x="6263640" y="1463040"/>
            <a:ext cx="274320" cy="274320"/>
          </a:xfrm>
          <a:prstGeom prst="rect">
            <a:avLst/>
          </a:prstGeom>
        </p:spPr>
      </p:pic>
      <p:sp>
        <p:nvSpPr>
          <p:cNvPr id="8" name="text-168"/>
          <p:cNvSpPr txBox="1"/>
          <p:nvPr/>
        </p:nvSpPr>
        <p:spPr>
          <a:xfrm>
            <a:off x="6858000" y="1307592"/>
            <a:ext cx="4754880" cy="411480"/>
          </a:xfrm>
          <a:prstGeom prst="rect">
            <a:avLst/>
          </a:prstGeom>
          <a:noFill/>
          <a:ln/>
        </p:spPr>
        <p:txBody>
          <a:bodyPr wrap="square" lIns="0" tIns="0" rIns="0" bIns="0" rtlCol="0" anchor="ctr"/>
          <a:lstStyle/>
          <a:p>
            <a:pPr algn="l" indent="0" marL="0">
              <a:buNone/>
            </a:pPr>
            <a:r>
              <a:rPr lang="en-US" sz="1700" b="1" dirty="0">
                <a:solidFill>
                  <a:schemeClr val="tx1"/>
                </a:solidFill>
              </a:rPr>
              <a:t>Describe lo que pasó</a:t>
            </a:r>
            <a:endParaRPr lang="en-US" sz="1700" dirty="0"/>
          </a:p>
        </p:txBody>
      </p:sp>
      <p:sp>
        <p:nvSpPr>
          <p:cNvPr id="9" name="text-169"/>
          <p:cNvSpPr txBox="1"/>
          <p:nvPr/>
        </p:nvSpPr>
        <p:spPr>
          <a:xfrm>
            <a:off x="6858000" y="1737360"/>
            <a:ext cx="4754880" cy="914400"/>
          </a:xfrm>
          <a:prstGeom prst="rect">
            <a:avLst/>
          </a:prstGeom>
          <a:noFill/>
          <a:ln/>
        </p:spPr>
        <p:txBody>
          <a:bodyPr wrap="square" lIns="0" tIns="0" rIns="0" bIns="0" rtlCol="0" anchor="t"/>
          <a:lstStyle/>
          <a:p>
            <a:pPr algn="l" indent="0" marL="0">
              <a:buNone/>
            </a:pPr>
            <a:r>
              <a:rPr lang="en-US" sz="1400" dirty="0">
                <a:solidFill>
                  <a:schemeClr val="tx1"/>
                </a:solidFill>
              </a:rPr>
              <a:t>Qué reserva, de qué usuario, en qué gimnasio, qué día y a qué hora, y si se creó o se canceló.</a:t>
            </a:r>
            <a:endParaRPr lang="en-US" sz="1400" dirty="0"/>
          </a:p>
        </p:txBody>
      </p:sp>
      <p:sp>
        <p:nvSpPr>
          <p:cNvPr id="10" name="circle-170"/>
          <p:cNvSpPr/>
          <p:nvPr/>
        </p:nvSpPr>
        <p:spPr>
          <a:xfrm>
            <a:off x="6126480" y="2788920"/>
            <a:ext cx="548640" cy="548640"/>
          </a:xfrm>
          <a:prstGeom prst="ellipse">
            <a:avLst/>
          </a:prstGeom>
          <a:solidFill>
            <a:schemeClr val="accent1"/>
          </a:solidFill>
          <a:ln/>
        </p:spPr>
      </p:sp>
      <p:pic>
        <p:nvPicPr>
          <p:cNvPr id="11" name="icon-171" descr="preencoded.png">    </p:cNvPr>
          <p:cNvPicPr>
            <a:picLocks noChangeAspect="1"/>
          </p:cNvPicPr>
          <p:nvPr/>
        </p:nvPicPr>
        <p:blipFill>
          <a:blip r:embed="rId2"/>
          <a:stretch>
            <a:fillRect/>
          </a:stretch>
        </p:blipFill>
        <p:spPr>
          <a:xfrm>
            <a:off x="6263640" y="2926080"/>
            <a:ext cx="274320" cy="274320"/>
          </a:xfrm>
          <a:prstGeom prst="rect">
            <a:avLst/>
          </a:prstGeom>
        </p:spPr>
      </p:pic>
      <p:sp>
        <p:nvSpPr>
          <p:cNvPr id="12" name="text-172"/>
          <p:cNvSpPr txBox="1"/>
          <p:nvPr/>
        </p:nvSpPr>
        <p:spPr>
          <a:xfrm>
            <a:off x="6858000" y="2770632"/>
            <a:ext cx="4754880" cy="411480"/>
          </a:xfrm>
          <a:prstGeom prst="rect">
            <a:avLst/>
          </a:prstGeom>
          <a:noFill/>
          <a:ln/>
        </p:spPr>
        <p:txBody>
          <a:bodyPr wrap="square" lIns="0" tIns="0" rIns="0" bIns="0" rtlCol="0" anchor="ctr"/>
          <a:lstStyle/>
          <a:p>
            <a:pPr algn="l" indent="0" marL="0">
              <a:buNone/>
            </a:pPr>
            <a:r>
              <a:rPr lang="en-US" sz="1700" b="1" dirty="0">
                <a:solidFill>
                  <a:schemeClr val="tx1"/>
                </a:solidFill>
              </a:rPr>
              <a:t>Cada servicio tiene su copia</a:t>
            </a:r>
            <a:endParaRPr lang="en-US" sz="1700" dirty="0"/>
          </a:p>
        </p:txBody>
      </p:sp>
      <p:sp>
        <p:nvSpPr>
          <p:cNvPr id="13" name="text-173"/>
          <p:cNvSpPr txBox="1"/>
          <p:nvPr/>
        </p:nvSpPr>
        <p:spPr>
          <a:xfrm>
            <a:off x="6858000" y="3200400"/>
            <a:ext cx="4754880" cy="914400"/>
          </a:xfrm>
          <a:prstGeom prst="rect">
            <a:avLst/>
          </a:prstGeom>
          <a:noFill/>
          <a:ln/>
        </p:spPr>
        <p:txBody>
          <a:bodyPr wrap="square" lIns="0" tIns="0" rIns="0" bIns="0" rtlCol="0" anchor="t"/>
          <a:lstStyle/>
          <a:p>
            <a:pPr algn="l" indent="0" marL="0">
              <a:buNone/>
            </a:pPr>
            <a:r>
              <a:rPr lang="en-US" sz="1400" dirty="0">
                <a:solidFill>
                  <a:schemeClr val="tx1"/>
                </a:solidFill>
              </a:rPr>
              <a:t>Los servicios no comparten código: basta con que los nombres de los campos coincidan.</a:t>
            </a:r>
            <a:endParaRPr lang="en-US" sz="1400" dirty="0"/>
          </a:p>
        </p:txBody>
      </p:sp>
      <p:sp>
        <p:nvSpPr>
          <p:cNvPr id="14" name="circle-174"/>
          <p:cNvSpPr/>
          <p:nvPr/>
        </p:nvSpPr>
        <p:spPr>
          <a:xfrm>
            <a:off x="6126480" y="4251960"/>
            <a:ext cx="548640" cy="548640"/>
          </a:xfrm>
          <a:prstGeom prst="ellipse">
            <a:avLst/>
          </a:prstGeom>
          <a:solidFill>
            <a:schemeClr val="accent1"/>
          </a:solidFill>
          <a:ln/>
        </p:spPr>
      </p:sp>
      <p:pic>
        <p:nvPicPr>
          <p:cNvPr id="15" name="icon-175" descr="preencoded.png">    </p:cNvPr>
          <p:cNvPicPr>
            <a:picLocks noChangeAspect="1"/>
          </p:cNvPicPr>
          <p:nvPr/>
        </p:nvPicPr>
        <p:blipFill>
          <a:blip r:embed="rId3"/>
          <a:stretch>
            <a:fillRect/>
          </a:stretch>
        </p:blipFill>
        <p:spPr>
          <a:xfrm>
            <a:off x="6263640" y="4389120"/>
            <a:ext cx="274320" cy="274320"/>
          </a:xfrm>
          <a:prstGeom prst="rect">
            <a:avLst/>
          </a:prstGeom>
        </p:spPr>
      </p:pic>
      <p:sp>
        <p:nvSpPr>
          <p:cNvPr id="16" name="text-176"/>
          <p:cNvSpPr txBox="1"/>
          <p:nvPr/>
        </p:nvSpPr>
        <p:spPr>
          <a:xfrm>
            <a:off x="6858000" y="4233672"/>
            <a:ext cx="4754880" cy="411480"/>
          </a:xfrm>
          <a:prstGeom prst="rect">
            <a:avLst/>
          </a:prstGeom>
          <a:noFill/>
          <a:ln/>
        </p:spPr>
        <p:txBody>
          <a:bodyPr wrap="square" lIns="0" tIns="0" rIns="0" bIns="0" rtlCol="0" anchor="ctr"/>
          <a:lstStyle/>
          <a:p>
            <a:pPr algn="l" indent="0" marL="0">
              <a:buNone/>
            </a:pPr>
            <a:r>
              <a:rPr lang="en-US" sz="1700" b="1" dirty="0">
                <a:solidFill>
                  <a:schemeClr val="tx1"/>
                </a:solidFill>
              </a:rPr>
              <a:t>Trae todo lo necesario</a:t>
            </a:r>
            <a:endParaRPr lang="en-US" sz="1700" dirty="0"/>
          </a:p>
        </p:txBody>
      </p:sp>
      <p:sp>
        <p:nvSpPr>
          <p:cNvPr id="17" name="text-177"/>
          <p:cNvSpPr txBox="1"/>
          <p:nvPr/>
        </p:nvSpPr>
        <p:spPr>
          <a:xfrm>
            <a:off x="6858000" y="4663440"/>
            <a:ext cx="4754880" cy="914400"/>
          </a:xfrm>
          <a:prstGeom prst="rect">
            <a:avLst/>
          </a:prstGeom>
          <a:noFill/>
          <a:ln/>
        </p:spPr>
        <p:txBody>
          <a:bodyPr wrap="square" lIns="0" tIns="0" rIns="0" bIns="0" rtlCol="0" anchor="t"/>
          <a:lstStyle/>
          <a:p>
            <a:pPr algn="l" indent="0" marL="0">
              <a:buNone/>
            </a:pPr>
            <a:r>
              <a:rPr lang="en-US" sz="1400" dirty="0">
                <a:solidFill>
                  <a:schemeClr val="tx1"/>
                </a:solidFill>
              </a:rPr>
              <a:t>El nombre del gimnasio y el horario van en el mensaje, así nadie tiene que preguntarle a ms-gimnasios.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Flujo completo de una reserva</a:t>
            </a:r>
            <a:endParaRPr lang="en-US" sz="3200" dirty="0"/>
          </a:p>
        </p:txBody>
      </p:sp>
      <p:sp>
        <p:nvSpPr>
          <p:cNvPr id="3" name="step-178"/>
          <p:cNvSpPr/>
          <p:nvPr/>
        </p:nvSpPr>
        <p:spPr>
          <a:xfrm>
            <a:off x="548640" y="1353312"/>
            <a:ext cx="420624" cy="420624"/>
          </a:xfrm>
          <a:prstGeom prst="ellipse">
            <a:avLst/>
          </a:prstGeom>
          <a:solidFill>
            <a:schemeClr val="accent5"/>
          </a:solidFill>
          <a:ln/>
        </p:spPr>
      </p:sp>
      <p:sp>
        <p:nvSpPr>
          <p:cNvPr id="4" name="text-179"/>
          <p:cNvSpPr txBox="1"/>
          <p:nvPr/>
        </p:nvSpPr>
        <p:spPr>
          <a:xfrm>
            <a:off x="548640" y="135331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180"/>
          <p:cNvSpPr txBox="1"/>
          <p:nvPr/>
        </p:nvSpPr>
        <p:spPr>
          <a:xfrm>
            <a:off x="1143000" y="1280160"/>
            <a:ext cx="2286000" cy="566928"/>
          </a:xfrm>
          <a:prstGeom prst="rect">
            <a:avLst/>
          </a:prstGeom>
          <a:noFill/>
          <a:ln/>
        </p:spPr>
        <p:txBody>
          <a:bodyPr wrap="square" lIns="0" tIns="0" rIns="0" bIns="0" rtlCol="0" anchor="ctr"/>
          <a:lstStyle/>
          <a:p>
            <a:pPr algn="l" indent="0" marL="0">
              <a:buNone/>
            </a:pPr>
            <a:r>
              <a:rPr lang="en-US" sz="1500" b="1" dirty="0">
                <a:solidFill>
                  <a:schemeClr val="tx1"/>
                </a:solidFill>
              </a:rPr>
              <a:t>Frontend</a:t>
            </a:r>
            <a:endParaRPr lang="en-US" sz="1500" dirty="0"/>
          </a:p>
        </p:txBody>
      </p:sp>
      <p:sp>
        <p:nvSpPr>
          <p:cNvPr id="6" name="text-181"/>
          <p:cNvSpPr txBox="1"/>
          <p:nvPr/>
        </p:nvSpPr>
        <p:spPr>
          <a:xfrm>
            <a:off x="3474720" y="1280160"/>
            <a:ext cx="4572000" cy="566928"/>
          </a:xfrm>
          <a:prstGeom prst="rect">
            <a:avLst/>
          </a:prstGeom>
          <a:noFill/>
          <a:ln/>
        </p:spPr>
        <p:txBody>
          <a:bodyPr wrap="square" lIns="0" tIns="0" rIns="0" bIns="0" rtlCol="0" anchor="ctr"/>
          <a:lstStyle/>
          <a:p>
            <a:pPr algn="l" indent="0" marL="0">
              <a:buNone/>
            </a:pPr>
            <a:r>
              <a:rPr lang="en-US" sz="1400" dirty="0">
                <a:solidFill>
                  <a:schemeClr val="tx1"/>
                </a:solidFill>
              </a:rPr>
              <a:t>El usuario elige un horario y pulsa Reservar; la reserva se envía al backend</a:t>
            </a:r>
            <a:endParaRPr lang="en-US" sz="1400" dirty="0"/>
          </a:p>
        </p:txBody>
      </p:sp>
      <p:sp>
        <p:nvSpPr>
          <p:cNvPr id="7" name="conn-182"/>
          <p:cNvSpPr/>
          <p:nvPr/>
        </p:nvSpPr>
        <p:spPr>
          <a:xfrm>
            <a:off x="758952" y="1773936"/>
            <a:ext cx="0" cy="182880"/>
          </a:xfrm>
          <a:prstGeom prst="line">
            <a:avLst/>
          </a:prstGeom>
          <a:noFill/>
          <a:ln w="12700">
            <a:solidFill>
              <a:schemeClr val="accent6"/>
            </a:solidFill>
            <a:prstDash val="solid"/>
          </a:ln>
        </p:spPr>
      </p:sp>
      <p:sp>
        <p:nvSpPr>
          <p:cNvPr id="8" name="step-183"/>
          <p:cNvSpPr/>
          <p:nvPr/>
        </p:nvSpPr>
        <p:spPr>
          <a:xfrm>
            <a:off x="548640" y="1956816"/>
            <a:ext cx="420624" cy="420624"/>
          </a:xfrm>
          <a:prstGeom prst="ellipse">
            <a:avLst/>
          </a:prstGeom>
          <a:solidFill>
            <a:schemeClr val="accent6"/>
          </a:solidFill>
          <a:ln/>
        </p:spPr>
      </p:sp>
      <p:sp>
        <p:nvSpPr>
          <p:cNvPr id="9" name="text-184"/>
          <p:cNvSpPr txBox="1"/>
          <p:nvPr/>
        </p:nvSpPr>
        <p:spPr>
          <a:xfrm>
            <a:off x="548640" y="195681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185"/>
          <p:cNvSpPr txBox="1"/>
          <p:nvPr/>
        </p:nvSpPr>
        <p:spPr>
          <a:xfrm>
            <a:off x="1143000" y="1883664"/>
            <a:ext cx="2286000" cy="566928"/>
          </a:xfrm>
          <a:prstGeom prst="rect">
            <a:avLst/>
          </a:prstGeom>
          <a:noFill/>
          <a:ln/>
        </p:spPr>
        <p:txBody>
          <a:bodyPr wrap="square" lIns="0" tIns="0" rIns="0" bIns="0" rtlCol="0" anchor="ctr"/>
          <a:lstStyle/>
          <a:p>
            <a:pPr algn="l" indent="0" marL="0">
              <a:buNone/>
            </a:pPr>
            <a:r>
              <a:rPr lang="en-US" sz="1500" b="1" dirty="0">
                <a:solidFill>
                  <a:schemeClr val="tx1"/>
                </a:solidFill>
              </a:rPr>
              <a:t>Gateway → ms-reservas</a:t>
            </a:r>
            <a:endParaRPr lang="en-US" sz="1500" dirty="0"/>
          </a:p>
        </p:txBody>
      </p:sp>
      <p:sp>
        <p:nvSpPr>
          <p:cNvPr id="11" name="text-186"/>
          <p:cNvSpPr txBox="1"/>
          <p:nvPr/>
        </p:nvSpPr>
        <p:spPr>
          <a:xfrm>
            <a:off x="3474720" y="1883664"/>
            <a:ext cx="4572000" cy="566928"/>
          </a:xfrm>
          <a:prstGeom prst="rect">
            <a:avLst/>
          </a:prstGeom>
          <a:noFill/>
          <a:ln/>
        </p:spPr>
        <p:txBody>
          <a:bodyPr wrap="square" lIns="0" tIns="0" rIns="0" bIns="0" rtlCol="0" anchor="ctr"/>
          <a:lstStyle/>
          <a:p>
            <a:pPr algn="l" indent="0" marL="0">
              <a:buNone/>
            </a:pPr>
            <a:r>
              <a:rPr lang="en-US" sz="1400" dirty="0">
                <a:solidFill>
                  <a:schemeClr val="tx1"/>
                </a:solidFill>
              </a:rPr>
              <a:t>ms-reservas revisa la fecha y que el horario esté libre, y guarda la reserva</a:t>
            </a:r>
            <a:endParaRPr lang="en-US" sz="1400" dirty="0"/>
          </a:p>
        </p:txBody>
      </p:sp>
      <p:sp>
        <p:nvSpPr>
          <p:cNvPr id="12" name="conn-187"/>
          <p:cNvSpPr/>
          <p:nvPr/>
        </p:nvSpPr>
        <p:spPr>
          <a:xfrm>
            <a:off x="758952" y="2377440"/>
            <a:ext cx="0" cy="182880"/>
          </a:xfrm>
          <a:prstGeom prst="line">
            <a:avLst/>
          </a:prstGeom>
          <a:noFill/>
          <a:ln w="12700">
            <a:solidFill>
              <a:schemeClr val="accent6"/>
            </a:solidFill>
            <a:prstDash val="solid"/>
          </a:ln>
        </p:spPr>
      </p:sp>
      <p:sp>
        <p:nvSpPr>
          <p:cNvPr id="13" name="step-188"/>
          <p:cNvSpPr/>
          <p:nvPr/>
        </p:nvSpPr>
        <p:spPr>
          <a:xfrm>
            <a:off x="548640" y="2560320"/>
            <a:ext cx="420624" cy="420624"/>
          </a:xfrm>
          <a:prstGeom prst="ellipse">
            <a:avLst/>
          </a:prstGeom>
          <a:solidFill>
            <a:schemeClr val="accent6"/>
          </a:solidFill>
          <a:ln/>
        </p:spPr>
      </p:sp>
      <p:sp>
        <p:nvSpPr>
          <p:cNvPr id="14" name="text-189"/>
          <p:cNvSpPr txBox="1"/>
          <p:nvPr/>
        </p:nvSpPr>
        <p:spPr>
          <a:xfrm>
            <a:off x="548640" y="256032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190"/>
          <p:cNvSpPr txBox="1"/>
          <p:nvPr/>
        </p:nvSpPr>
        <p:spPr>
          <a:xfrm>
            <a:off x="1143000" y="2487168"/>
            <a:ext cx="2286000" cy="566928"/>
          </a:xfrm>
          <a:prstGeom prst="rect">
            <a:avLst/>
          </a:prstGeom>
          <a:noFill/>
          <a:ln/>
        </p:spPr>
        <p:txBody>
          <a:bodyPr wrap="square" lIns="0" tIns="0" rIns="0" bIns="0" rtlCol="0" anchor="ctr"/>
          <a:lstStyle/>
          <a:p>
            <a:pPr algn="l" indent="0" marL="0">
              <a:buNone/>
            </a:pPr>
            <a:r>
              <a:rPr lang="en-US" sz="1500" b="1" dirty="0">
                <a:solidFill>
                  <a:schemeClr val="tx1"/>
                </a:solidFill>
              </a:rPr>
              <a:t>Prepara el mensaje</a:t>
            </a:r>
            <a:endParaRPr lang="en-US" sz="1500" dirty="0"/>
          </a:p>
        </p:txBody>
      </p:sp>
      <p:sp>
        <p:nvSpPr>
          <p:cNvPr id="16" name="text-191"/>
          <p:cNvSpPr txBox="1"/>
          <p:nvPr/>
        </p:nvSpPr>
        <p:spPr>
          <a:xfrm>
            <a:off x="3474720" y="2487168"/>
            <a:ext cx="4572000" cy="566928"/>
          </a:xfrm>
          <a:prstGeom prst="rect">
            <a:avLst/>
          </a:prstGeom>
          <a:noFill/>
          <a:ln/>
        </p:spPr>
        <p:txBody>
          <a:bodyPr wrap="square" lIns="0" tIns="0" rIns="0" bIns="0" rtlCol="0" anchor="ctr"/>
          <a:lstStyle/>
          <a:p>
            <a:pPr algn="l" indent="0" marL="0">
              <a:buNone/>
            </a:pPr>
            <a:r>
              <a:rPr lang="en-US" sz="1400" dirty="0">
                <a:solidFill>
                  <a:schemeClr val="tx1"/>
                </a:solidFill>
              </a:rPr>
              <a:t>Lo deja listo, pero espera a que la reserva quede guardada</a:t>
            </a:r>
            <a:endParaRPr lang="en-US" sz="1400" dirty="0"/>
          </a:p>
        </p:txBody>
      </p:sp>
      <p:sp>
        <p:nvSpPr>
          <p:cNvPr id="17" name="conn-192"/>
          <p:cNvSpPr/>
          <p:nvPr/>
        </p:nvSpPr>
        <p:spPr>
          <a:xfrm>
            <a:off x="758952" y="2980944"/>
            <a:ext cx="0" cy="182880"/>
          </a:xfrm>
          <a:prstGeom prst="line">
            <a:avLst/>
          </a:prstGeom>
          <a:noFill/>
          <a:ln w="12700">
            <a:solidFill>
              <a:schemeClr val="accent6"/>
            </a:solidFill>
            <a:prstDash val="solid"/>
          </a:ln>
        </p:spPr>
      </p:sp>
      <p:sp>
        <p:nvSpPr>
          <p:cNvPr id="18" name="step-193"/>
          <p:cNvSpPr/>
          <p:nvPr/>
        </p:nvSpPr>
        <p:spPr>
          <a:xfrm>
            <a:off x="548640" y="3163824"/>
            <a:ext cx="420624" cy="420624"/>
          </a:xfrm>
          <a:prstGeom prst="ellipse">
            <a:avLst/>
          </a:prstGeom>
          <a:solidFill>
            <a:schemeClr val="accent6"/>
          </a:solidFill>
          <a:ln/>
        </p:spPr>
      </p:sp>
      <p:sp>
        <p:nvSpPr>
          <p:cNvPr id="19" name="text-194"/>
          <p:cNvSpPr txBox="1"/>
          <p:nvPr/>
        </p:nvSpPr>
        <p:spPr>
          <a:xfrm>
            <a:off x="548640" y="316382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195"/>
          <p:cNvSpPr txBox="1"/>
          <p:nvPr/>
        </p:nvSpPr>
        <p:spPr>
          <a:xfrm>
            <a:off x="1143000" y="3090672"/>
            <a:ext cx="2286000" cy="566928"/>
          </a:xfrm>
          <a:prstGeom prst="rect">
            <a:avLst/>
          </a:prstGeom>
          <a:noFill/>
          <a:ln/>
        </p:spPr>
        <p:txBody>
          <a:bodyPr wrap="square" lIns="0" tIns="0" rIns="0" bIns="0" rtlCol="0" anchor="ctr"/>
          <a:lstStyle/>
          <a:p>
            <a:pPr algn="l" indent="0" marL="0">
              <a:buNone/>
            </a:pPr>
            <a:r>
              <a:rPr lang="en-US" sz="1500" b="1" dirty="0">
                <a:solidFill>
                  <a:schemeClr val="tx1"/>
                </a:solidFill>
              </a:rPr>
              <a:t>Reserva confirmada</a:t>
            </a:r>
            <a:endParaRPr lang="en-US" sz="1500" dirty="0"/>
          </a:p>
        </p:txBody>
      </p:sp>
      <p:sp>
        <p:nvSpPr>
          <p:cNvPr id="21" name="text-196"/>
          <p:cNvSpPr txBox="1"/>
          <p:nvPr/>
        </p:nvSpPr>
        <p:spPr>
          <a:xfrm>
            <a:off x="3474720" y="3090672"/>
            <a:ext cx="4572000" cy="566928"/>
          </a:xfrm>
          <a:prstGeom prst="rect">
            <a:avLst/>
          </a:prstGeom>
          <a:noFill/>
          <a:ln/>
        </p:spPr>
        <p:txBody>
          <a:bodyPr wrap="square" lIns="0" tIns="0" rIns="0" bIns="0" rtlCol="0" anchor="ctr"/>
          <a:lstStyle/>
          <a:p>
            <a:pPr algn="l" indent="0" marL="0">
              <a:buNone/>
            </a:pPr>
            <a:r>
              <a:rPr lang="en-US" sz="1400" dirty="0">
                <a:solidFill>
                  <a:schemeClr val="tx1"/>
                </a:solidFill>
              </a:rPr>
              <a:t>La reserva queda guardada y el usuario ve su confirmación</a:t>
            </a:r>
            <a:endParaRPr lang="en-US" sz="1400" dirty="0"/>
          </a:p>
        </p:txBody>
      </p:sp>
      <p:sp>
        <p:nvSpPr>
          <p:cNvPr id="22" name="conn-197"/>
          <p:cNvSpPr/>
          <p:nvPr/>
        </p:nvSpPr>
        <p:spPr>
          <a:xfrm>
            <a:off x="758952" y="3584448"/>
            <a:ext cx="0" cy="182880"/>
          </a:xfrm>
          <a:prstGeom prst="line">
            <a:avLst/>
          </a:prstGeom>
          <a:noFill/>
          <a:ln w="12700">
            <a:solidFill>
              <a:schemeClr val="accent6"/>
            </a:solidFill>
            <a:prstDash val="solid"/>
          </a:ln>
        </p:spPr>
      </p:sp>
      <p:sp>
        <p:nvSpPr>
          <p:cNvPr id="23" name="step-198"/>
          <p:cNvSpPr/>
          <p:nvPr/>
        </p:nvSpPr>
        <p:spPr>
          <a:xfrm>
            <a:off x="548640" y="3767328"/>
            <a:ext cx="420624" cy="420624"/>
          </a:xfrm>
          <a:prstGeom prst="ellipse">
            <a:avLst/>
          </a:prstGeom>
          <a:solidFill>
            <a:schemeClr val="accent1"/>
          </a:solidFill>
          <a:ln/>
        </p:spPr>
      </p:sp>
      <p:sp>
        <p:nvSpPr>
          <p:cNvPr id="24" name="text-199"/>
          <p:cNvSpPr txBox="1"/>
          <p:nvPr/>
        </p:nvSpPr>
        <p:spPr>
          <a:xfrm>
            <a:off x="548640" y="37673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5" name="text-200"/>
          <p:cNvSpPr txBox="1"/>
          <p:nvPr/>
        </p:nvSpPr>
        <p:spPr>
          <a:xfrm>
            <a:off x="1143000" y="3694176"/>
            <a:ext cx="2286000" cy="566928"/>
          </a:xfrm>
          <a:prstGeom prst="rect">
            <a:avLst/>
          </a:prstGeom>
          <a:noFill/>
          <a:ln/>
        </p:spPr>
        <p:txBody>
          <a:bodyPr wrap="square" lIns="0" tIns="0" rIns="0" bIns="0" rtlCol="0" anchor="ctr"/>
          <a:lstStyle/>
          <a:p>
            <a:pPr algn="l" indent="0" marL="0">
              <a:buNone/>
            </a:pPr>
            <a:r>
              <a:rPr lang="en-US" sz="1500" b="1" dirty="0">
                <a:solidFill>
                  <a:schemeClr val="tx1"/>
                </a:solidFill>
              </a:rPr>
              <a:t>Publicación</a:t>
            </a:r>
            <a:endParaRPr lang="en-US" sz="1500" dirty="0"/>
          </a:p>
        </p:txBody>
      </p:sp>
      <p:sp>
        <p:nvSpPr>
          <p:cNvPr id="26" name="text-201"/>
          <p:cNvSpPr txBox="1"/>
          <p:nvPr/>
        </p:nvSpPr>
        <p:spPr>
          <a:xfrm>
            <a:off x="3474720" y="3694176"/>
            <a:ext cx="4572000" cy="566928"/>
          </a:xfrm>
          <a:prstGeom prst="rect">
            <a:avLst/>
          </a:prstGeom>
          <a:noFill/>
          <a:ln/>
        </p:spPr>
        <p:txBody>
          <a:bodyPr wrap="square" lIns="0" tIns="0" rIns="0" bIns="0" rtlCol="0" anchor="ctr"/>
          <a:lstStyle/>
          <a:p>
            <a:pPr algn="l" indent="0" marL="0">
              <a:buNone/>
            </a:pPr>
            <a:r>
              <a:rPr lang="en-US" sz="1400" dirty="0">
                <a:solidFill>
                  <a:schemeClr val="tx1"/>
                </a:solidFill>
              </a:rPr>
              <a:t>ms-reservas envía el mensaje con la etiqueta booking.created</a:t>
            </a:r>
            <a:endParaRPr lang="en-US" sz="1400" dirty="0"/>
          </a:p>
        </p:txBody>
      </p:sp>
      <p:sp>
        <p:nvSpPr>
          <p:cNvPr id="27" name="conn-202"/>
          <p:cNvSpPr/>
          <p:nvPr/>
        </p:nvSpPr>
        <p:spPr>
          <a:xfrm>
            <a:off x="758952" y="4187952"/>
            <a:ext cx="0" cy="182880"/>
          </a:xfrm>
          <a:prstGeom prst="line">
            <a:avLst/>
          </a:prstGeom>
          <a:noFill/>
          <a:ln w="12700">
            <a:solidFill>
              <a:schemeClr val="accent6"/>
            </a:solidFill>
            <a:prstDash val="solid"/>
          </a:ln>
        </p:spPr>
      </p:sp>
      <p:sp>
        <p:nvSpPr>
          <p:cNvPr id="28" name="step-203"/>
          <p:cNvSpPr/>
          <p:nvPr/>
        </p:nvSpPr>
        <p:spPr>
          <a:xfrm>
            <a:off x="548640" y="4370832"/>
            <a:ext cx="420624" cy="420624"/>
          </a:xfrm>
          <a:prstGeom prst="ellipse">
            <a:avLst/>
          </a:prstGeom>
          <a:solidFill>
            <a:schemeClr val="accent1"/>
          </a:solidFill>
          <a:ln/>
        </p:spPr>
      </p:sp>
      <p:sp>
        <p:nvSpPr>
          <p:cNvPr id="29" name="text-204"/>
          <p:cNvSpPr txBox="1"/>
          <p:nvPr/>
        </p:nvSpPr>
        <p:spPr>
          <a:xfrm>
            <a:off x="548640" y="437083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0" name="text-205"/>
          <p:cNvSpPr txBox="1"/>
          <p:nvPr/>
        </p:nvSpPr>
        <p:spPr>
          <a:xfrm>
            <a:off x="1143000" y="4297680"/>
            <a:ext cx="2286000" cy="566928"/>
          </a:xfrm>
          <a:prstGeom prst="rect">
            <a:avLst/>
          </a:prstGeom>
          <a:noFill/>
          <a:ln/>
        </p:spPr>
        <p:txBody>
          <a:bodyPr wrap="square" lIns="0" tIns="0" rIns="0" bIns="0" rtlCol="0" anchor="ctr"/>
          <a:lstStyle/>
          <a:p>
            <a:pPr algn="l" indent="0" marL="0">
              <a:buNone/>
            </a:pPr>
            <a:r>
              <a:rPr lang="en-US" sz="1500" b="1" dirty="0">
                <a:solidFill>
                  <a:schemeClr val="tx1"/>
                </a:solidFill>
              </a:rPr>
              <a:t>Enrutamiento</a:t>
            </a:r>
            <a:endParaRPr lang="en-US" sz="1500" dirty="0"/>
          </a:p>
        </p:txBody>
      </p:sp>
      <p:sp>
        <p:nvSpPr>
          <p:cNvPr id="31" name="text-206"/>
          <p:cNvSpPr txBox="1"/>
          <p:nvPr/>
        </p:nvSpPr>
        <p:spPr>
          <a:xfrm>
            <a:off x="3474720" y="4297680"/>
            <a:ext cx="4572000" cy="566928"/>
          </a:xfrm>
          <a:prstGeom prst="rect">
            <a:avLst/>
          </a:prstGeom>
          <a:noFill/>
          <a:ln/>
        </p:spPr>
        <p:txBody>
          <a:bodyPr wrap="square" lIns="0" tIns="0" rIns="0" bIns="0" rtlCol="0" anchor="ctr"/>
          <a:lstStyle/>
          <a:p>
            <a:pPr algn="l" indent="0" marL="0">
              <a:buNone/>
            </a:pPr>
            <a:r>
              <a:rPr lang="en-US" sz="1400" dirty="0">
                <a:solidFill>
                  <a:schemeClr val="tx1"/>
                </a:solidFill>
              </a:rPr>
              <a:t>El exchange copia el mensaje a las dos colas que calzan con booking.*</a:t>
            </a:r>
            <a:endParaRPr lang="en-US" sz="1400" dirty="0"/>
          </a:p>
        </p:txBody>
      </p:sp>
      <p:sp>
        <p:nvSpPr>
          <p:cNvPr id="32" name="conn-207"/>
          <p:cNvSpPr/>
          <p:nvPr/>
        </p:nvSpPr>
        <p:spPr>
          <a:xfrm>
            <a:off x="758952" y="4791456"/>
            <a:ext cx="0" cy="182880"/>
          </a:xfrm>
          <a:prstGeom prst="line">
            <a:avLst/>
          </a:prstGeom>
          <a:noFill/>
          <a:ln w="12700">
            <a:solidFill>
              <a:schemeClr val="accent6"/>
            </a:solidFill>
            <a:prstDash val="solid"/>
          </a:ln>
        </p:spPr>
      </p:sp>
      <p:sp>
        <p:nvSpPr>
          <p:cNvPr id="33" name="step-208"/>
          <p:cNvSpPr/>
          <p:nvPr/>
        </p:nvSpPr>
        <p:spPr>
          <a:xfrm>
            <a:off x="548640" y="4974336"/>
            <a:ext cx="420624" cy="420624"/>
          </a:xfrm>
          <a:prstGeom prst="ellipse">
            <a:avLst/>
          </a:prstGeom>
          <a:solidFill>
            <a:schemeClr val="accent2"/>
          </a:solidFill>
          <a:ln/>
        </p:spPr>
      </p:sp>
      <p:sp>
        <p:nvSpPr>
          <p:cNvPr id="34" name="text-209"/>
          <p:cNvSpPr txBox="1"/>
          <p:nvPr/>
        </p:nvSpPr>
        <p:spPr>
          <a:xfrm>
            <a:off x="548640" y="497433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5" name="text-210"/>
          <p:cNvSpPr txBox="1"/>
          <p:nvPr/>
        </p:nvSpPr>
        <p:spPr>
          <a:xfrm>
            <a:off x="1143000" y="4901184"/>
            <a:ext cx="2286000" cy="566928"/>
          </a:xfrm>
          <a:prstGeom prst="rect">
            <a:avLst/>
          </a:prstGeom>
          <a:noFill/>
          <a:ln/>
        </p:spPr>
        <p:txBody>
          <a:bodyPr wrap="square" lIns="0" tIns="0" rIns="0" bIns="0" rtlCol="0" anchor="ctr"/>
          <a:lstStyle/>
          <a:p>
            <a:pPr algn="l" indent="0" marL="0">
              <a:buNone/>
            </a:pPr>
            <a:r>
              <a:rPr lang="en-US" sz="1500" b="1" dirty="0">
                <a:solidFill>
                  <a:schemeClr val="tx1"/>
                </a:solidFill>
              </a:rPr>
              <a:t>Consumidores</a:t>
            </a:r>
            <a:endParaRPr lang="en-US" sz="1500" dirty="0"/>
          </a:p>
        </p:txBody>
      </p:sp>
      <p:sp>
        <p:nvSpPr>
          <p:cNvPr id="36" name="text-211"/>
          <p:cNvSpPr txBox="1"/>
          <p:nvPr/>
        </p:nvSpPr>
        <p:spPr>
          <a:xfrm>
            <a:off x="3474720" y="4901184"/>
            <a:ext cx="4572000" cy="566928"/>
          </a:xfrm>
          <a:prstGeom prst="rect">
            <a:avLst/>
          </a:prstGeom>
          <a:noFill/>
          <a:ln/>
        </p:spPr>
        <p:txBody>
          <a:bodyPr wrap="square" lIns="0" tIns="0" rIns="0" bIns="0" rtlCol="0" anchor="ctr"/>
          <a:lstStyle/>
          <a:p>
            <a:pPr algn="l" indent="0" marL="0">
              <a:buNone/>
            </a:pPr>
            <a:r>
              <a:rPr lang="en-US" sz="1400" dirty="0">
                <a:solidFill>
                  <a:schemeClr val="tx1"/>
                </a:solidFill>
              </a:rPr>
              <a:t>ms-gimnasios guarda reserva_gimnasio; ms-notificaciones guarda la notificación</a:t>
            </a:r>
            <a:endParaRPr lang="en-US" sz="1400" dirty="0"/>
          </a:p>
        </p:txBody>
      </p:sp>
      <p:sp>
        <p:nvSpPr>
          <p:cNvPr id="37" name="conn-212"/>
          <p:cNvSpPr/>
          <p:nvPr/>
        </p:nvSpPr>
        <p:spPr>
          <a:xfrm>
            <a:off x="758952" y="5394960"/>
            <a:ext cx="0" cy="182880"/>
          </a:xfrm>
          <a:prstGeom prst="line">
            <a:avLst/>
          </a:prstGeom>
          <a:noFill/>
          <a:ln w="12700">
            <a:solidFill>
              <a:schemeClr val="accent6"/>
            </a:solidFill>
            <a:prstDash val="solid"/>
          </a:ln>
        </p:spPr>
      </p:sp>
      <p:sp>
        <p:nvSpPr>
          <p:cNvPr id="38" name="step-213"/>
          <p:cNvSpPr/>
          <p:nvPr/>
        </p:nvSpPr>
        <p:spPr>
          <a:xfrm>
            <a:off x="548640" y="5577840"/>
            <a:ext cx="420624" cy="420624"/>
          </a:xfrm>
          <a:prstGeom prst="ellipse">
            <a:avLst/>
          </a:prstGeom>
          <a:solidFill>
            <a:schemeClr val="accent5"/>
          </a:solidFill>
          <a:ln/>
        </p:spPr>
      </p:sp>
      <p:sp>
        <p:nvSpPr>
          <p:cNvPr id="39" name="text-214"/>
          <p:cNvSpPr txBox="1"/>
          <p:nvPr/>
        </p:nvSpPr>
        <p:spPr>
          <a:xfrm>
            <a:off x="548640" y="55778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0" name="text-215"/>
          <p:cNvSpPr txBox="1"/>
          <p:nvPr/>
        </p:nvSpPr>
        <p:spPr>
          <a:xfrm>
            <a:off x="1143000" y="5504688"/>
            <a:ext cx="2286000" cy="566928"/>
          </a:xfrm>
          <a:prstGeom prst="rect">
            <a:avLst/>
          </a:prstGeom>
          <a:noFill/>
          <a:ln/>
        </p:spPr>
        <p:txBody>
          <a:bodyPr wrap="square" lIns="0" tIns="0" rIns="0" bIns="0" rtlCol="0" anchor="ctr"/>
          <a:lstStyle/>
          <a:p>
            <a:pPr algn="l" indent="0" marL="0">
              <a:buNone/>
            </a:pPr>
            <a:r>
              <a:rPr lang="en-US" sz="1500" b="1" dirty="0">
                <a:solidFill>
                  <a:schemeClr val="tx1"/>
                </a:solidFill>
              </a:rPr>
              <a:t>Frontend</a:t>
            </a:r>
            <a:endParaRPr lang="en-US" sz="1500" dirty="0"/>
          </a:p>
        </p:txBody>
      </p:sp>
      <p:sp>
        <p:nvSpPr>
          <p:cNvPr id="41" name="text-216"/>
          <p:cNvSpPr txBox="1"/>
          <p:nvPr/>
        </p:nvSpPr>
        <p:spPr>
          <a:xfrm>
            <a:off x="3474720" y="5504688"/>
            <a:ext cx="4572000" cy="566928"/>
          </a:xfrm>
          <a:prstGeom prst="rect">
            <a:avLst/>
          </a:prstGeom>
          <a:noFill/>
          <a:ln/>
        </p:spPr>
        <p:txBody>
          <a:bodyPr wrap="square" lIns="0" tIns="0" rIns="0" bIns="0" rtlCol="0" anchor="ctr"/>
          <a:lstStyle/>
          <a:p>
            <a:pPr algn="l" indent="0" marL="0">
              <a:buNone/>
            </a:pPr>
            <a:r>
              <a:rPr lang="en-US" sz="1400" dirty="0">
                <a:solidFill>
                  <a:schemeClr val="tx1"/>
                </a:solidFill>
              </a:rPr>
              <a:t>La campana consulta los avisos y muestra el nuevo</a:t>
            </a:r>
            <a:endParaRPr lang="en-US" sz="1400" dirty="0"/>
          </a:p>
        </p:txBody>
      </p:sp>
      <p:sp>
        <p:nvSpPr>
          <p:cNvPr id="42" name="box-217"/>
          <p:cNvSpPr/>
          <p:nvPr/>
        </p:nvSpPr>
        <p:spPr>
          <a:xfrm>
            <a:off x="8412480" y="1280160"/>
            <a:ext cx="3200400" cy="4800600"/>
          </a:xfrm>
          <a:prstGeom prst="roundRect">
            <a:avLst>
              <a:gd name="adj" fmla="val 4286"/>
            </a:avLst>
          </a:prstGeom>
          <a:solidFill>
            <a:schemeClr val="bg2"/>
          </a:solidFill>
          <a:ln/>
        </p:spPr>
      </p:sp>
      <p:sp>
        <p:nvSpPr>
          <p:cNvPr id="43" name="text-218"/>
          <p:cNvSpPr txBox="1"/>
          <p:nvPr/>
        </p:nvSpPr>
        <p:spPr>
          <a:xfrm>
            <a:off x="8641080" y="1417320"/>
            <a:ext cx="2743200" cy="457200"/>
          </a:xfrm>
          <a:prstGeom prst="rect">
            <a:avLst/>
          </a:prstGeom>
          <a:noFill/>
          <a:ln/>
        </p:spPr>
        <p:txBody>
          <a:bodyPr wrap="square" lIns="0" tIns="0" rIns="0" bIns="0" rtlCol="0" anchor="ctr"/>
          <a:lstStyle/>
          <a:p>
            <a:pPr algn="l" indent="0" marL="0">
              <a:buNone/>
            </a:pPr>
            <a:r>
              <a:rPr lang="en-US" sz="1700" b="1" dirty="0">
                <a:solidFill>
                  <a:schemeClr val="tx1"/>
                </a:solidFill>
              </a:rPr>
              <a:t>Síncrono vs asíncrono</a:t>
            </a:r>
            <a:endParaRPr lang="en-US" sz="1700" dirty="0"/>
          </a:p>
        </p:txBody>
      </p:sp>
      <p:sp>
        <p:nvSpPr>
          <p:cNvPr id="44" name="legend-219"/>
          <p:cNvSpPr/>
          <p:nvPr/>
        </p:nvSpPr>
        <p:spPr>
          <a:xfrm>
            <a:off x="8686800" y="2011680"/>
            <a:ext cx="228600" cy="228600"/>
          </a:xfrm>
          <a:prstGeom prst="ellipse">
            <a:avLst/>
          </a:prstGeom>
          <a:solidFill>
            <a:schemeClr val="accent5"/>
          </a:solidFill>
          <a:ln/>
        </p:spPr>
      </p:sp>
      <p:sp>
        <p:nvSpPr>
          <p:cNvPr id="45" name="text-220"/>
          <p:cNvSpPr txBox="1"/>
          <p:nvPr/>
        </p:nvSpPr>
        <p:spPr>
          <a:xfrm>
            <a:off x="9052560" y="1938528"/>
            <a:ext cx="2468880" cy="365760"/>
          </a:xfrm>
          <a:prstGeom prst="rect">
            <a:avLst/>
          </a:prstGeom>
          <a:noFill/>
          <a:ln/>
        </p:spPr>
        <p:txBody>
          <a:bodyPr wrap="square" lIns="0" tIns="0" rIns="0" bIns="0" rtlCol="0" anchor="ctr"/>
          <a:lstStyle/>
          <a:p>
            <a:pPr algn="l" indent="0" marL="0">
              <a:buNone/>
            </a:pPr>
            <a:r>
              <a:rPr lang="en-US" sz="1300" dirty="0">
                <a:solidFill>
                  <a:schemeClr val="tx1"/>
                </a:solidFill>
              </a:rPr>
              <a:t>Navegador</a:t>
            </a:r>
            <a:endParaRPr lang="en-US" sz="1300" dirty="0"/>
          </a:p>
        </p:txBody>
      </p:sp>
      <p:sp>
        <p:nvSpPr>
          <p:cNvPr id="46" name="legend-221"/>
          <p:cNvSpPr/>
          <p:nvPr/>
        </p:nvSpPr>
        <p:spPr>
          <a:xfrm>
            <a:off x="8686800" y="2468880"/>
            <a:ext cx="228600" cy="228600"/>
          </a:xfrm>
          <a:prstGeom prst="ellipse">
            <a:avLst/>
          </a:prstGeom>
          <a:solidFill>
            <a:schemeClr val="accent6"/>
          </a:solidFill>
          <a:ln/>
        </p:spPr>
      </p:sp>
      <p:sp>
        <p:nvSpPr>
          <p:cNvPr id="47" name="text-222"/>
          <p:cNvSpPr txBox="1"/>
          <p:nvPr/>
        </p:nvSpPr>
        <p:spPr>
          <a:xfrm>
            <a:off x="9052560" y="2395728"/>
            <a:ext cx="2468880" cy="365760"/>
          </a:xfrm>
          <a:prstGeom prst="rect">
            <a:avLst/>
          </a:prstGeom>
          <a:noFill/>
          <a:ln/>
        </p:spPr>
        <p:txBody>
          <a:bodyPr wrap="square" lIns="0" tIns="0" rIns="0" bIns="0" rtlCol="0" anchor="ctr"/>
          <a:lstStyle/>
          <a:p>
            <a:pPr algn="l" indent="0" marL="0">
              <a:buNone/>
            </a:pPr>
            <a:r>
              <a:rPr lang="en-US" sz="1300" dirty="0">
                <a:solidFill>
                  <a:schemeClr val="tx1"/>
                </a:solidFill>
              </a:rPr>
              <a:t>HTTP síncrono (pasos 2-4)</a:t>
            </a:r>
            <a:endParaRPr lang="en-US" sz="1300" dirty="0"/>
          </a:p>
        </p:txBody>
      </p:sp>
      <p:sp>
        <p:nvSpPr>
          <p:cNvPr id="48" name="legend-223"/>
          <p:cNvSpPr/>
          <p:nvPr/>
        </p:nvSpPr>
        <p:spPr>
          <a:xfrm>
            <a:off x="8686800" y="2926080"/>
            <a:ext cx="228600" cy="228600"/>
          </a:xfrm>
          <a:prstGeom prst="ellipse">
            <a:avLst/>
          </a:prstGeom>
          <a:solidFill>
            <a:schemeClr val="accent1"/>
          </a:solidFill>
          <a:ln/>
        </p:spPr>
      </p:sp>
      <p:sp>
        <p:nvSpPr>
          <p:cNvPr id="49" name="text-224"/>
          <p:cNvSpPr txBox="1"/>
          <p:nvPr/>
        </p:nvSpPr>
        <p:spPr>
          <a:xfrm>
            <a:off x="9052560" y="2852928"/>
            <a:ext cx="2468880" cy="365760"/>
          </a:xfrm>
          <a:prstGeom prst="rect">
            <a:avLst/>
          </a:prstGeom>
          <a:noFill/>
          <a:ln/>
        </p:spPr>
        <p:txBody>
          <a:bodyPr wrap="square" lIns="0" tIns="0" rIns="0" bIns="0" rtlCol="0" anchor="ctr"/>
          <a:lstStyle/>
          <a:p>
            <a:pPr algn="l" indent="0" marL="0">
              <a:buNone/>
            </a:pPr>
            <a:r>
              <a:rPr lang="en-US" sz="1300" dirty="0">
                <a:solidFill>
                  <a:schemeClr val="tx1"/>
                </a:solidFill>
              </a:rPr>
              <a:t>RabbitMQ (pasos 5-6)</a:t>
            </a:r>
            <a:endParaRPr lang="en-US" sz="1300" dirty="0"/>
          </a:p>
        </p:txBody>
      </p:sp>
      <p:sp>
        <p:nvSpPr>
          <p:cNvPr id="50" name="legend-225"/>
          <p:cNvSpPr/>
          <p:nvPr/>
        </p:nvSpPr>
        <p:spPr>
          <a:xfrm>
            <a:off x="8686800" y="3383280"/>
            <a:ext cx="228600" cy="228600"/>
          </a:xfrm>
          <a:prstGeom prst="ellipse">
            <a:avLst/>
          </a:prstGeom>
          <a:solidFill>
            <a:schemeClr val="accent2"/>
          </a:solidFill>
          <a:ln/>
        </p:spPr>
      </p:sp>
      <p:sp>
        <p:nvSpPr>
          <p:cNvPr id="51" name="text-226"/>
          <p:cNvSpPr txBox="1"/>
          <p:nvPr/>
        </p:nvSpPr>
        <p:spPr>
          <a:xfrm>
            <a:off x="9052560" y="3310128"/>
            <a:ext cx="2468880" cy="365760"/>
          </a:xfrm>
          <a:prstGeom prst="rect">
            <a:avLst/>
          </a:prstGeom>
          <a:noFill/>
          <a:ln/>
        </p:spPr>
        <p:txBody>
          <a:bodyPr wrap="square" lIns="0" tIns="0" rIns="0" bIns="0" rtlCol="0" anchor="ctr"/>
          <a:lstStyle/>
          <a:p>
            <a:pPr algn="l" indent="0" marL="0">
              <a:buNone/>
            </a:pPr>
            <a:r>
              <a:rPr lang="en-US" sz="1300" dirty="0">
                <a:solidFill>
                  <a:schemeClr val="tx1"/>
                </a:solidFill>
              </a:rPr>
              <a:t>Consumidores, en paralelo</a:t>
            </a:r>
            <a:endParaRPr lang="en-US" sz="1300" dirty="0"/>
          </a:p>
        </p:txBody>
      </p:sp>
      <p:sp>
        <p:nvSpPr>
          <p:cNvPr id="52" name="text-227"/>
          <p:cNvSpPr txBox="1"/>
          <p:nvPr/>
        </p:nvSpPr>
        <p:spPr>
          <a:xfrm>
            <a:off x="8641080" y="3931920"/>
            <a:ext cx="2788920" cy="2011680"/>
          </a:xfrm>
          <a:prstGeom prst="rect">
            <a:avLst/>
          </a:prstGeom>
          <a:noFill/>
          <a:ln/>
        </p:spPr>
        <p:txBody>
          <a:bodyPr wrap="square" lIns="0" tIns="0" rIns="0" bIns="0" rtlCol="0" anchor="t"/>
          <a:lstStyle/>
          <a:p>
            <a:pPr algn="l" indent="0" marL="0">
              <a:buNone/>
            </a:pPr>
            <a:r>
              <a:rPr lang="en-US" sz="1400" dirty="0">
                <a:solidFill>
                  <a:schemeClr val="tx1"/>
                </a:solidFill>
              </a:rPr>
              <a:t>El usuario ve su confirmación en el paso 4. Lo que pasa después no lo hace esperar: si un servicio está caído, el mensaje lo espera en su cola.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El mensaje sale solo si la reserva se guardó</a:t>
            </a:r>
            <a:endParaRPr lang="en-US" sz="3200" dirty="0"/>
          </a:p>
        </p:txBody>
      </p:sp>
      <p:sp>
        <p:nvSpPr>
          <p:cNvPr id="3" name="box-228"/>
          <p:cNvSpPr/>
          <p:nvPr/>
        </p:nvSpPr>
        <p:spPr>
          <a:xfrm>
            <a:off x="548640" y="1417320"/>
            <a:ext cx="3474720" cy="1097280"/>
          </a:xfrm>
          <a:prstGeom prst="roundRect">
            <a:avLst>
              <a:gd name="adj" fmla="val 10000"/>
            </a:avLst>
          </a:prstGeom>
          <a:solidFill>
            <a:schemeClr val="accent6"/>
          </a:solidFill>
          <a:ln/>
        </p:spPr>
      </p:sp>
      <p:sp>
        <p:nvSpPr>
          <p:cNvPr id="4" name="label-229"/>
          <p:cNvSpPr txBox="1"/>
          <p:nvPr/>
        </p:nvSpPr>
        <p:spPr>
          <a:xfrm>
            <a:off x="548640" y="1417320"/>
            <a:ext cx="3474720" cy="1097280"/>
          </a:xfrm>
          <a:prstGeom prst="rect">
            <a:avLst/>
          </a:prstGeom>
          <a:noFill/>
          <a:ln/>
        </p:spPr>
        <p:txBody>
          <a:bodyPr wrap="square" lIns="762" tIns="762" rIns="762" bIns="762" rtlCol="0" anchor="ctr"/>
          <a:lstStyle/>
          <a:p>
            <a:pPr algn="ctr" indent="0" marL="0">
              <a:buNone/>
            </a:pPr>
            <a:r>
              <a:rPr lang="en-US" sz="1700" b="1" dirty="0">
                <a:solidFill>
                  <a:schemeClr val="bg1"/>
                </a:solidFill>
              </a:rPr>
              <a:t>1. Guardar la reserva</a:t>
            </a:r>
            <a:endParaRPr lang="en-US" sz="1700" dirty="0"/>
          </a:p>
        </p:txBody>
      </p:sp>
      <p:sp>
        <p:nvSpPr>
          <p:cNvPr id="5" name="arrow-230"/>
          <p:cNvSpPr/>
          <p:nvPr/>
        </p:nvSpPr>
        <p:spPr>
          <a:xfrm>
            <a:off x="4023360" y="1965960"/>
            <a:ext cx="320040" cy="914"/>
          </a:xfrm>
          <a:prstGeom prst="line">
            <a:avLst/>
          </a:prstGeom>
          <a:noFill/>
          <a:ln w="25400">
            <a:solidFill>
              <a:schemeClr val="accent6"/>
            </a:solidFill>
            <a:prstDash val="solid"/>
            <a:tailEnd type="triangle"/>
          </a:ln>
        </p:spPr>
      </p:sp>
      <p:sp>
        <p:nvSpPr>
          <p:cNvPr id="6" name="box-231"/>
          <p:cNvSpPr/>
          <p:nvPr/>
        </p:nvSpPr>
        <p:spPr>
          <a:xfrm>
            <a:off x="4343400" y="1417320"/>
            <a:ext cx="3474720" cy="1097280"/>
          </a:xfrm>
          <a:prstGeom prst="roundRect">
            <a:avLst>
              <a:gd name="adj" fmla="val 10000"/>
            </a:avLst>
          </a:prstGeom>
          <a:solidFill>
            <a:schemeClr val="accent2"/>
          </a:solidFill>
          <a:ln/>
        </p:spPr>
      </p:sp>
      <p:sp>
        <p:nvSpPr>
          <p:cNvPr id="7" name="label-232"/>
          <p:cNvSpPr txBox="1"/>
          <p:nvPr/>
        </p:nvSpPr>
        <p:spPr>
          <a:xfrm>
            <a:off x="4343400" y="1417320"/>
            <a:ext cx="3474720" cy="1097280"/>
          </a:xfrm>
          <a:prstGeom prst="rect">
            <a:avLst/>
          </a:prstGeom>
          <a:noFill/>
          <a:ln/>
        </p:spPr>
        <p:txBody>
          <a:bodyPr wrap="square" lIns="762" tIns="762" rIns="762" bIns="762" rtlCol="0" anchor="ctr"/>
          <a:lstStyle/>
          <a:p>
            <a:pPr algn="ctr" indent="0" marL="0">
              <a:buNone/>
            </a:pPr>
            <a:r>
              <a:rPr lang="en-US" sz="1700" b="1" dirty="0">
                <a:solidFill>
                  <a:schemeClr val="bg1"/>
                </a:solidFill>
              </a:rPr>
              <a:t>2. Queda confirmada en la base de datos</a:t>
            </a:r>
            <a:endParaRPr lang="en-US" sz="1700" dirty="0"/>
          </a:p>
        </p:txBody>
      </p:sp>
      <p:sp>
        <p:nvSpPr>
          <p:cNvPr id="8" name="arrow-233"/>
          <p:cNvSpPr/>
          <p:nvPr/>
        </p:nvSpPr>
        <p:spPr>
          <a:xfrm>
            <a:off x="7818120" y="1965960"/>
            <a:ext cx="320040" cy="914"/>
          </a:xfrm>
          <a:prstGeom prst="line">
            <a:avLst/>
          </a:prstGeom>
          <a:noFill/>
          <a:ln w="25400">
            <a:solidFill>
              <a:schemeClr val="accent6"/>
            </a:solidFill>
            <a:prstDash val="solid"/>
            <a:tailEnd type="triangle"/>
          </a:ln>
        </p:spPr>
      </p:sp>
      <p:sp>
        <p:nvSpPr>
          <p:cNvPr id="9" name="box-234"/>
          <p:cNvSpPr/>
          <p:nvPr/>
        </p:nvSpPr>
        <p:spPr>
          <a:xfrm>
            <a:off x="8138160" y="1417320"/>
            <a:ext cx="3474720" cy="1097280"/>
          </a:xfrm>
          <a:prstGeom prst="roundRect">
            <a:avLst>
              <a:gd name="adj" fmla="val 10000"/>
            </a:avLst>
          </a:prstGeom>
          <a:solidFill>
            <a:schemeClr val="accent1"/>
          </a:solidFill>
          <a:ln/>
        </p:spPr>
      </p:sp>
      <p:sp>
        <p:nvSpPr>
          <p:cNvPr id="10" name="label-235"/>
          <p:cNvSpPr txBox="1"/>
          <p:nvPr/>
        </p:nvSpPr>
        <p:spPr>
          <a:xfrm>
            <a:off x="8138160" y="1417320"/>
            <a:ext cx="3474720" cy="1097280"/>
          </a:xfrm>
          <a:prstGeom prst="rect">
            <a:avLst/>
          </a:prstGeom>
          <a:noFill/>
          <a:ln/>
        </p:spPr>
        <p:txBody>
          <a:bodyPr wrap="square" lIns="762" tIns="762" rIns="762" bIns="762" rtlCol="0" anchor="ctr"/>
          <a:lstStyle/>
          <a:p>
            <a:pPr algn="ctr" indent="0" marL="0">
              <a:buNone/>
            </a:pPr>
            <a:r>
              <a:rPr lang="en-US" sz="1700" b="1" dirty="0">
                <a:solidFill>
                  <a:schemeClr val="bg1"/>
                </a:solidFill>
              </a:rPr>
              <a:t>3. Recién ahí se envía el mensaje</a:t>
            </a:r>
            <a:endParaRPr lang="en-US" sz="1700" dirty="0"/>
          </a:p>
        </p:txBody>
      </p:sp>
      <p:sp>
        <p:nvSpPr>
          <p:cNvPr id="11" name="box-236"/>
          <p:cNvSpPr/>
          <p:nvPr/>
        </p:nvSpPr>
        <p:spPr>
          <a:xfrm>
            <a:off x="548640" y="2926080"/>
            <a:ext cx="3474720" cy="2514600"/>
          </a:xfrm>
          <a:prstGeom prst="roundRect">
            <a:avLst>
              <a:gd name="adj" fmla="val 4364"/>
            </a:avLst>
          </a:prstGeom>
          <a:solidFill>
            <a:schemeClr val="bg2"/>
          </a:solidFill>
          <a:ln/>
        </p:spPr>
      </p:sp>
      <p:sp>
        <p:nvSpPr>
          <p:cNvPr id="12" name="dot-237"/>
          <p:cNvSpPr/>
          <p:nvPr/>
        </p:nvSpPr>
        <p:spPr>
          <a:xfrm>
            <a:off x="822960" y="3200400"/>
            <a:ext cx="292608" cy="292608"/>
          </a:xfrm>
          <a:prstGeom prst="ellipse">
            <a:avLst/>
          </a:prstGeom>
          <a:solidFill>
            <a:schemeClr val="accent2"/>
          </a:solidFill>
          <a:ln/>
        </p:spPr>
      </p:sp>
      <p:sp>
        <p:nvSpPr>
          <p:cNvPr id="13" name="text-238"/>
          <p:cNvSpPr txBox="1"/>
          <p:nvPr/>
        </p:nvSpPr>
        <p:spPr>
          <a:xfrm>
            <a:off x="1280160" y="3108960"/>
            <a:ext cx="2606040" cy="502920"/>
          </a:xfrm>
          <a:prstGeom prst="rect">
            <a:avLst/>
          </a:prstGeom>
          <a:noFill/>
          <a:ln/>
        </p:spPr>
        <p:txBody>
          <a:bodyPr wrap="square" lIns="0" tIns="0" rIns="0" bIns="0" rtlCol="0" anchor="ctr"/>
          <a:lstStyle/>
          <a:p>
            <a:pPr algn="l" indent="0" marL="0">
              <a:buNone/>
            </a:pPr>
            <a:r>
              <a:rPr lang="en-US" sz="1700" b="1" dirty="0">
                <a:solidFill>
                  <a:schemeClr val="tx1"/>
                </a:solidFill>
              </a:rPr>
              <a:t>¿Y si la reserva falla?</a:t>
            </a:r>
            <a:endParaRPr lang="en-US" sz="1700" dirty="0"/>
          </a:p>
        </p:txBody>
      </p:sp>
      <p:sp>
        <p:nvSpPr>
          <p:cNvPr id="14" name="text-239"/>
          <p:cNvSpPr txBox="1"/>
          <p:nvPr/>
        </p:nvSpPr>
        <p:spPr>
          <a:xfrm>
            <a:off x="822960" y="3749040"/>
            <a:ext cx="2971800" cy="1920240"/>
          </a:xfrm>
          <a:prstGeom prst="rect">
            <a:avLst/>
          </a:prstGeom>
          <a:noFill/>
          <a:ln/>
        </p:spPr>
        <p:txBody>
          <a:bodyPr wrap="square" lIns="0" tIns="0" rIns="0" bIns="0" rtlCol="0" anchor="t"/>
          <a:lstStyle/>
          <a:p>
            <a:pPr algn="l" indent="0" marL="0">
              <a:buNone/>
            </a:pPr>
            <a:r>
              <a:rPr lang="en-US" sz="1500" dirty="0">
                <a:solidFill>
                  <a:schemeClr val="tx1"/>
                </a:solidFill>
              </a:rPr>
              <a:t>Por ejemplo, dos personas toman el mismo horario al mismo tiempo. No se envía nada: nadie se entera de una reserva que no existe.</a:t>
            </a:r>
            <a:endParaRPr lang="en-US" sz="1500" dirty="0"/>
          </a:p>
        </p:txBody>
      </p:sp>
      <p:sp>
        <p:nvSpPr>
          <p:cNvPr id="15" name="box-240"/>
          <p:cNvSpPr/>
          <p:nvPr/>
        </p:nvSpPr>
        <p:spPr>
          <a:xfrm>
            <a:off x="4343400" y="2926080"/>
            <a:ext cx="3474720" cy="2514600"/>
          </a:xfrm>
          <a:prstGeom prst="roundRect">
            <a:avLst>
              <a:gd name="adj" fmla="val 4364"/>
            </a:avLst>
          </a:prstGeom>
          <a:solidFill>
            <a:schemeClr val="bg2"/>
          </a:solidFill>
          <a:ln/>
        </p:spPr>
      </p:sp>
      <p:sp>
        <p:nvSpPr>
          <p:cNvPr id="16" name="dot-241"/>
          <p:cNvSpPr/>
          <p:nvPr/>
        </p:nvSpPr>
        <p:spPr>
          <a:xfrm>
            <a:off x="4617720" y="3200400"/>
            <a:ext cx="292608" cy="292608"/>
          </a:xfrm>
          <a:prstGeom prst="ellipse">
            <a:avLst/>
          </a:prstGeom>
          <a:solidFill>
            <a:schemeClr val="accent1"/>
          </a:solidFill>
          <a:ln/>
        </p:spPr>
      </p:sp>
      <p:sp>
        <p:nvSpPr>
          <p:cNvPr id="17" name="text-242"/>
          <p:cNvSpPr txBox="1"/>
          <p:nvPr/>
        </p:nvSpPr>
        <p:spPr>
          <a:xfrm>
            <a:off x="5074920" y="3108960"/>
            <a:ext cx="2606040" cy="502920"/>
          </a:xfrm>
          <a:prstGeom prst="rect">
            <a:avLst/>
          </a:prstGeom>
          <a:noFill/>
          <a:ln/>
        </p:spPr>
        <p:txBody>
          <a:bodyPr wrap="square" lIns="0" tIns="0" rIns="0" bIns="0" rtlCol="0" anchor="ctr"/>
          <a:lstStyle/>
          <a:p>
            <a:pPr algn="l" indent="0" marL="0">
              <a:buNone/>
            </a:pPr>
            <a:r>
              <a:rPr lang="en-US" sz="1700" b="1" dirty="0">
                <a:solidFill>
                  <a:schemeClr val="tx1"/>
                </a:solidFill>
              </a:rPr>
              <a:t>¿Y si RabbitMQ falla?</a:t>
            </a:r>
            <a:endParaRPr lang="en-US" sz="1700" dirty="0"/>
          </a:p>
        </p:txBody>
      </p:sp>
      <p:sp>
        <p:nvSpPr>
          <p:cNvPr id="18" name="text-243"/>
          <p:cNvSpPr txBox="1"/>
          <p:nvPr/>
        </p:nvSpPr>
        <p:spPr>
          <a:xfrm>
            <a:off x="4617720" y="3749040"/>
            <a:ext cx="2971800" cy="1920240"/>
          </a:xfrm>
          <a:prstGeom prst="rect">
            <a:avLst/>
          </a:prstGeom>
          <a:noFill/>
          <a:ln/>
        </p:spPr>
        <p:txBody>
          <a:bodyPr wrap="square" lIns="0" tIns="0" rIns="0" bIns="0" rtlCol="0" anchor="t"/>
          <a:lstStyle/>
          <a:p>
            <a:pPr algn="l" indent="0" marL="0">
              <a:buNone/>
            </a:pPr>
            <a:r>
              <a:rPr lang="en-US" sz="1500" dirty="0">
                <a:solidFill>
                  <a:schemeClr val="tx1"/>
                </a:solidFill>
              </a:rPr>
              <a:t>La reserva igual queda hecha y el usuario ve su confirmación. El error queda registrado en el log.</a:t>
            </a:r>
            <a:endParaRPr lang="en-US" sz="1500" dirty="0"/>
          </a:p>
        </p:txBody>
      </p:sp>
      <p:sp>
        <p:nvSpPr>
          <p:cNvPr id="19" name="box-244"/>
          <p:cNvSpPr/>
          <p:nvPr/>
        </p:nvSpPr>
        <p:spPr>
          <a:xfrm>
            <a:off x="8138160" y="2926080"/>
            <a:ext cx="3474720" cy="2514600"/>
          </a:xfrm>
          <a:prstGeom prst="roundRect">
            <a:avLst>
              <a:gd name="adj" fmla="val 4364"/>
            </a:avLst>
          </a:prstGeom>
          <a:solidFill>
            <a:schemeClr val="bg2"/>
          </a:solidFill>
          <a:ln/>
        </p:spPr>
      </p:sp>
      <p:sp>
        <p:nvSpPr>
          <p:cNvPr id="20" name="dot-245"/>
          <p:cNvSpPr/>
          <p:nvPr/>
        </p:nvSpPr>
        <p:spPr>
          <a:xfrm>
            <a:off x="8412480" y="3200400"/>
            <a:ext cx="292608" cy="292608"/>
          </a:xfrm>
          <a:prstGeom prst="ellipse">
            <a:avLst/>
          </a:prstGeom>
          <a:solidFill>
            <a:schemeClr val="accent6"/>
          </a:solidFill>
          <a:ln/>
        </p:spPr>
      </p:sp>
      <p:sp>
        <p:nvSpPr>
          <p:cNvPr id="21" name="text-246"/>
          <p:cNvSpPr txBox="1"/>
          <p:nvPr/>
        </p:nvSpPr>
        <p:spPr>
          <a:xfrm>
            <a:off x="8869680" y="3108960"/>
            <a:ext cx="2606040" cy="502920"/>
          </a:xfrm>
          <a:prstGeom prst="rect">
            <a:avLst/>
          </a:prstGeom>
          <a:noFill/>
          <a:ln/>
        </p:spPr>
        <p:txBody>
          <a:bodyPr wrap="square" lIns="0" tIns="0" rIns="0" bIns="0" rtlCol="0" anchor="ctr"/>
          <a:lstStyle/>
          <a:p>
            <a:pPr algn="l" indent="0" marL="0">
              <a:buNone/>
            </a:pPr>
            <a:r>
              <a:rPr lang="en-US" sz="1700" b="1" dirty="0">
                <a:solidFill>
                  <a:schemeClr val="tx1"/>
                </a:solidFill>
              </a:rPr>
              <a:t>Lo que falta mejorar</a:t>
            </a:r>
            <a:endParaRPr lang="en-US" sz="1700" dirty="0"/>
          </a:p>
        </p:txBody>
      </p:sp>
      <p:sp>
        <p:nvSpPr>
          <p:cNvPr id="22" name="text-247"/>
          <p:cNvSpPr txBox="1"/>
          <p:nvPr/>
        </p:nvSpPr>
        <p:spPr>
          <a:xfrm>
            <a:off x="8412480" y="3749040"/>
            <a:ext cx="2971800" cy="1920240"/>
          </a:xfrm>
          <a:prstGeom prst="rect">
            <a:avLst/>
          </a:prstGeom>
          <a:noFill/>
          <a:ln/>
        </p:spPr>
        <p:txBody>
          <a:bodyPr wrap="square" lIns="0" tIns="0" rIns="0" bIns="0" rtlCol="0" anchor="t"/>
          <a:lstStyle/>
          <a:p>
            <a:pPr algn="l" indent="0" marL="0">
              <a:buNone/>
            </a:pPr>
            <a:r>
              <a:rPr lang="en-US" sz="1500" dirty="0">
                <a:solidFill>
                  <a:schemeClr val="tx1"/>
                </a:solidFill>
              </a:rPr>
              <a:t>Si RabbitMQ está caído justo en ese momento, ese aviso se pierde. Se podría resolver guardando los mensajes pendientes en la base de datos.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Mensajes repetidos: no se duplica nada</a:t>
            </a:r>
            <a:endParaRPr lang="en-US" sz="3200" dirty="0"/>
          </a:p>
        </p:txBody>
      </p:sp>
      <p:sp>
        <p:nvSpPr>
          <p:cNvPr id="3" name="text-248"/>
          <p:cNvSpPr txBox="1"/>
          <p:nvPr/>
        </p:nvSpPr>
        <p:spPr>
          <a:xfrm>
            <a:off x="548640" y="1234440"/>
            <a:ext cx="11064240" cy="822960"/>
          </a:xfrm>
          <a:prstGeom prst="rect">
            <a:avLst/>
          </a:prstGeom>
          <a:noFill/>
          <a:ln/>
        </p:spPr>
        <p:txBody>
          <a:bodyPr wrap="square" lIns="0" tIns="0" rIns="0" bIns="0" rtlCol="0" anchor="t"/>
          <a:lstStyle/>
          <a:p>
            <a:pPr algn="l" indent="0" marL="0">
              <a:buNone/>
            </a:pPr>
            <a:r>
              <a:rPr lang="en-US" sz="1700" dirty="0">
                <a:solidFill>
                  <a:schemeClr val="tx1"/>
                </a:solidFill>
              </a:rPr>
              <a:t>A veces RabbitMQ puede entregar el mismo mensaje dos veces. Los servicios están preparados para que eso no cause problemas.</a:t>
            </a:r>
            <a:endParaRPr lang="en-US" sz="1700" dirty="0"/>
          </a:p>
        </p:txBody>
      </p:sp>
      <p:sp>
        <p:nvSpPr>
          <p:cNvPr id="4" name="box-249"/>
          <p:cNvSpPr/>
          <p:nvPr/>
        </p:nvSpPr>
        <p:spPr>
          <a:xfrm>
            <a:off x="548640" y="2240280"/>
            <a:ext cx="5440680" cy="2743200"/>
          </a:xfrm>
          <a:prstGeom prst="roundRect">
            <a:avLst>
              <a:gd name="adj" fmla="val 5000"/>
            </a:avLst>
          </a:prstGeom>
          <a:solidFill>
            <a:schemeClr val="bg2"/>
          </a:solidFill>
          <a:ln/>
        </p:spPr>
      </p:sp>
      <p:sp>
        <p:nvSpPr>
          <p:cNvPr id="5" name="dot-250"/>
          <p:cNvSpPr/>
          <p:nvPr/>
        </p:nvSpPr>
        <p:spPr>
          <a:xfrm>
            <a:off x="822960" y="2487168"/>
            <a:ext cx="292608" cy="292608"/>
          </a:xfrm>
          <a:prstGeom prst="ellipse">
            <a:avLst/>
          </a:prstGeom>
          <a:solidFill>
            <a:schemeClr val="accent2"/>
          </a:solidFill>
          <a:ln/>
        </p:spPr>
      </p:sp>
      <p:sp>
        <p:nvSpPr>
          <p:cNvPr id="6" name="text-251"/>
          <p:cNvSpPr txBox="1"/>
          <p:nvPr/>
        </p:nvSpPr>
        <p:spPr>
          <a:xfrm>
            <a:off x="1280160" y="2377440"/>
            <a:ext cx="4572000" cy="502920"/>
          </a:xfrm>
          <a:prstGeom prst="rect">
            <a:avLst/>
          </a:prstGeom>
          <a:noFill/>
          <a:ln/>
        </p:spPr>
        <p:txBody>
          <a:bodyPr wrap="square" lIns="0" tIns="0" rIns="0" bIns="0" rtlCol="0" anchor="ctr"/>
          <a:lstStyle/>
          <a:p>
            <a:pPr algn="l" indent="0" marL="0">
              <a:buNone/>
            </a:pPr>
            <a:r>
              <a:rPr lang="en-US" sz="1800" b="1" dirty="0">
                <a:solidFill>
                  <a:schemeClr val="tx1"/>
                </a:solidFill>
              </a:rPr>
              <a:t>ms-gimnasios</a:t>
            </a:r>
            <a:endParaRPr lang="en-US" sz="1800" dirty="0"/>
          </a:p>
        </p:txBody>
      </p:sp>
      <p:sp>
        <p:nvSpPr>
          <p:cNvPr id="7" name="list-252"/>
          <p:cNvSpPr txBox="1"/>
          <p:nvPr/>
        </p:nvSpPr>
        <p:spPr>
          <a:xfrm>
            <a:off x="868680" y="3108960"/>
            <a:ext cx="4846320" cy="2286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Guarda cada reserva con el mismo número que tiene en ms-reservas</a:t>
            </a:r>
            <a:endParaRPr lang="en-US" sz="1600" dirty="0"/>
          </a:p>
          <a:p>
            <a:pPr marL="228600" indent="-228600">
              <a:spcAft>
                <a:spcPts val="800"/>
              </a:spcAft>
              <a:buSzPct val="100000"/>
              <a:buChar char="•"/>
            </a:pPr>
            <a:r>
              <a:rPr lang="en-US" sz="1600" dirty="0">
                <a:solidFill>
                  <a:schemeClr val="tx1"/>
                </a:solidFill>
              </a:rPr>
              <a:t>Si llega repetida, sobrescribe ese mismo registro en vez de crear otro</a:t>
            </a:r>
            <a:endParaRPr lang="en-US" sz="1600" dirty="0"/>
          </a:p>
          <a:p>
            <a:pPr marL="228600" indent="-228600">
              <a:spcAft>
                <a:spcPts val="800"/>
              </a:spcAft>
              <a:buSzPct val="100000"/>
              <a:buChar char="•"/>
            </a:pPr>
            <a:r>
              <a:rPr lang="en-US" sz="1600" dirty="0">
                <a:solidFill>
                  <a:schemeClr val="tx1"/>
                </a:solidFill>
              </a:rPr>
              <a:t>Una cancelación actualiza el mismo registro</a:t>
            </a:r>
            <a:endParaRPr lang="en-US" sz="1600" dirty="0"/>
          </a:p>
        </p:txBody>
      </p:sp>
      <p:sp>
        <p:nvSpPr>
          <p:cNvPr id="8" name="box-253"/>
          <p:cNvSpPr/>
          <p:nvPr/>
        </p:nvSpPr>
        <p:spPr>
          <a:xfrm>
            <a:off x="6172200" y="2240280"/>
            <a:ext cx="5440680" cy="2743200"/>
          </a:xfrm>
          <a:prstGeom prst="roundRect">
            <a:avLst>
              <a:gd name="adj" fmla="val 5000"/>
            </a:avLst>
          </a:prstGeom>
          <a:solidFill>
            <a:schemeClr val="bg2"/>
          </a:solidFill>
          <a:ln/>
        </p:spPr>
      </p:sp>
      <p:sp>
        <p:nvSpPr>
          <p:cNvPr id="9" name="dot-254"/>
          <p:cNvSpPr/>
          <p:nvPr/>
        </p:nvSpPr>
        <p:spPr>
          <a:xfrm>
            <a:off x="6446520" y="2487168"/>
            <a:ext cx="292608" cy="292608"/>
          </a:xfrm>
          <a:prstGeom prst="ellipse">
            <a:avLst/>
          </a:prstGeom>
          <a:solidFill>
            <a:schemeClr val="accent3"/>
          </a:solidFill>
          <a:ln/>
        </p:spPr>
      </p:sp>
      <p:sp>
        <p:nvSpPr>
          <p:cNvPr id="10" name="text-255"/>
          <p:cNvSpPr txBox="1"/>
          <p:nvPr/>
        </p:nvSpPr>
        <p:spPr>
          <a:xfrm>
            <a:off x="6903720" y="2377440"/>
            <a:ext cx="4572000" cy="502920"/>
          </a:xfrm>
          <a:prstGeom prst="rect">
            <a:avLst/>
          </a:prstGeom>
          <a:noFill/>
          <a:ln/>
        </p:spPr>
        <p:txBody>
          <a:bodyPr wrap="square" lIns="0" tIns="0" rIns="0" bIns="0" rtlCol="0" anchor="ctr"/>
          <a:lstStyle/>
          <a:p>
            <a:pPr algn="l" indent="0" marL="0">
              <a:buNone/>
            </a:pPr>
            <a:r>
              <a:rPr lang="en-US" sz="1800" b="1" dirty="0">
                <a:solidFill>
                  <a:schemeClr val="tx1"/>
                </a:solidFill>
              </a:rPr>
              <a:t>ms-notificaciones</a:t>
            </a:r>
            <a:endParaRPr lang="en-US" sz="1800" dirty="0"/>
          </a:p>
        </p:txBody>
      </p:sp>
      <p:sp>
        <p:nvSpPr>
          <p:cNvPr id="11" name="list-256"/>
          <p:cNvSpPr txBox="1"/>
          <p:nvPr/>
        </p:nvSpPr>
        <p:spPr>
          <a:xfrm>
            <a:off x="6492240" y="3108960"/>
            <a:ext cx="4846320" cy="2286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Antes de crear un aviso, revisa si ya existe</a:t>
            </a:r>
            <a:endParaRPr lang="en-US" sz="1600" dirty="0"/>
          </a:p>
          <a:p>
            <a:pPr marL="228600" indent="-228600">
              <a:spcAft>
                <a:spcPts val="800"/>
              </a:spcAft>
              <a:buSzPct val="100000"/>
              <a:buChar char="•"/>
            </a:pPr>
            <a:r>
              <a:rPr lang="en-US" sz="1600" dirty="0">
                <a:solidFill>
                  <a:schemeClr val="tx1"/>
                </a:solidFill>
              </a:rPr>
              <a:t>La base de datos además impide avisos duplicados</a:t>
            </a:r>
            <a:endParaRPr lang="en-US" sz="1600" dirty="0"/>
          </a:p>
          <a:p>
            <a:pPr marL="228600" indent="-228600">
              <a:spcAft>
                <a:spcPts val="800"/>
              </a:spcAft>
              <a:buSzPct val="100000"/>
              <a:buChar char="•"/>
            </a:pPr>
            <a:r>
              <a:rPr lang="en-US" sz="1600" dirty="0">
                <a:solidFill>
                  <a:schemeClr val="tx1"/>
                </a:solidFill>
              </a:rPr>
              <a:t>El usuario nunca ve el mismo aviso dos veces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¿Qué pasa si un mensaje falla?</a:t>
            </a:r>
            <a:endParaRPr lang="en-US" sz="3200" dirty="0"/>
          </a:p>
        </p:txBody>
      </p:sp>
      <p:sp>
        <p:nvSpPr>
          <p:cNvPr id="3" name="box-257"/>
          <p:cNvSpPr/>
          <p:nvPr/>
        </p:nvSpPr>
        <p:spPr>
          <a:xfrm>
            <a:off x="548640" y="1417320"/>
            <a:ext cx="1691640" cy="1280160"/>
          </a:xfrm>
          <a:prstGeom prst="roundRect">
            <a:avLst>
              <a:gd name="adj" fmla="val 8571"/>
            </a:avLst>
          </a:prstGeom>
          <a:solidFill>
            <a:schemeClr val="accent6"/>
          </a:solidFill>
          <a:ln/>
        </p:spPr>
      </p:sp>
      <p:sp>
        <p:nvSpPr>
          <p:cNvPr id="4" name="label-258"/>
          <p:cNvSpPr txBox="1"/>
          <p:nvPr/>
        </p:nvSpPr>
        <p:spPr>
          <a:xfrm>
            <a:off x="548640" y="1417320"/>
            <a:ext cx="1691640" cy="1280160"/>
          </a:xfrm>
          <a:prstGeom prst="rect">
            <a:avLst/>
          </a:prstGeom>
          <a:noFill/>
          <a:ln/>
        </p:spPr>
        <p:txBody>
          <a:bodyPr wrap="square" lIns="762" tIns="762" rIns="762" bIns="762" rtlCol="0" anchor="ctr"/>
          <a:lstStyle/>
          <a:p>
            <a:pPr algn="ctr" indent="0" marL="0">
              <a:buNone/>
            </a:pPr>
            <a:r>
              <a:rPr lang="en-US" sz="1400" b="1" dirty="0">
                <a:solidFill>
                  <a:schemeClr val="bg1"/>
                </a:solidFill>
              </a:rPr>
              <a:t>Falla</a:t>
            </a:r>
            <a:endParaRPr lang="en-US" sz="1400" dirty="0"/>
          </a:p>
          <a:p>
            <a:pPr algn="ctr" indent="0" marL="0">
              <a:buNone/>
            </a:pPr>
            <a:r>
              <a:rPr lang="en-US" sz="1400" dirty="0">
                <a:solidFill>
                  <a:schemeClr val="bg1"/>
                </a:solidFill>
              </a:rPr>
              <a:t>el servicio no pudo procesarlo</a:t>
            </a:r>
            <a:endParaRPr lang="en-US" sz="1400" dirty="0"/>
          </a:p>
        </p:txBody>
      </p:sp>
      <p:sp>
        <p:nvSpPr>
          <p:cNvPr id="5" name="arrow-259"/>
          <p:cNvSpPr/>
          <p:nvPr/>
        </p:nvSpPr>
        <p:spPr>
          <a:xfrm>
            <a:off x="2240280" y="2057400"/>
            <a:ext cx="182880" cy="914"/>
          </a:xfrm>
          <a:prstGeom prst="line">
            <a:avLst/>
          </a:prstGeom>
          <a:noFill/>
          <a:ln w="19050">
            <a:solidFill>
              <a:schemeClr val="accent6"/>
            </a:solidFill>
            <a:prstDash val="solid"/>
            <a:tailEnd type="triangle"/>
          </a:ln>
        </p:spPr>
      </p:sp>
      <p:sp>
        <p:nvSpPr>
          <p:cNvPr id="6" name="box-260"/>
          <p:cNvSpPr/>
          <p:nvPr/>
        </p:nvSpPr>
        <p:spPr>
          <a:xfrm>
            <a:off x="2423160" y="1417320"/>
            <a:ext cx="1691640" cy="1280160"/>
          </a:xfrm>
          <a:prstGeom prst="roundRect">
            <a:avLst>
              <a:gd name="adj" fmla="val 8571"/>
            </a:avLst>
          </a:prstGeom>
          <a:solidFill>
            <a:schemeClr val="accent1"/>
          </a:solidFill>
          <a:ln/>
        </p:spPr>
      </p:sp>
      <p:sp>
        <p:nvSpPr>
          <p:cNvPr id="7" name="label-261"/>
          <p:cNvSpPr txBox="1"/>
          <p:nvPr/>
        </p:nvSpPr>
        <p:spPr>
          <a:xfrm>
            <a:off x="2423160" y="1417320"/>
            <a:ext cx="1691640" cy="1280160"/>
          </a:xfrm>
          <a:prstGeom prst="rect">
            <a:avLst/>
          </a:prstGeom>
          <a:noFill/>
          <a:ln/>
        </p:spPr>
        <p:txBody>
          <a:bodyPr wrap="square" lIns="762" tIns="762" rIns="762" bIns="762" rtlCol="0" anchor="ctr"/>
          <a:lstStyle/>
          <a:p>
            <a:pPr algn="ctr" indent="0" marL="0">
              <a:buNone/>
            </a:pPr>
            <a:r>
              <a:rPr lang="en-US" sz="1400" b="1" dirty="0">
                <a:solidFill>
                  <a:schemeClr val="bg1"/>
                </a:solidFill>
              </a:rPr>
              <a:t>Reintenta</a:t>
            </a:r>
            <a:endParaRPr lang="en-US" sz="1400" dirty="0"/>
          </a:p>
          <a:p>
            <a:pPr algn="ctr" indent="0" marL="0">
              <a:buNone/>
            </a:pPr>
            <a:r>
              <a:rPr lang="en-US" sz="1400" dirty="0">
                <a:solidFill>
                  <a:schemeClr val="bg1"/>
                </a:solidFill>
              </a:rPr>
              <a:t>después de 1 s</a:t>
            </a:r>
            <a:endParaRPr lang="en-US" sz="1400" dirty="0"/>
          </a:p>
        </p:txBody>
      </p:sp>
      <p:sp>
        <p:nvSpPr>
          <p:cNvPr id="8" name="arrow-262"/>
          <p:cNvSpPr/>
          <p:nvPr/>
        </p:nvSpPr>
        <p:spPr>
          <a:xfrm>
            <a:off x="4114800" y="2057400"/>
            <a:ext cx="182880" cy="914"/>
          </a:xfrm>
          <a:prstGeom prst="line">
            <a:avLst/>
          </a:prstGeom>
          <a:noFill/>
          <a:ln w="19050">
            <a:solidFill>
              <a:schemeClr val="accent6"/>
            </a:solidFill>
            <a:prstDash val="solid"/>
            <a:tailEnd type="triangle"/>
          </a:ln>
        </p:spPr>
      </p:sp>
      <p:sp>
        <p:nvSpPr>
          <p:cNvPr id="9" name="box-263"/>
          <p:cNvSpPr/>
          <p:nvPr/>
        </p:nvSpPr>
        <p:spPr>
          <a:xfrm>
            <a:off x="4297680" y="1417320"/>
            <a:ext cx="1691640" cy="1280160"/>
          </a:xfrm>
          <a:prstGeom prst="roundRect">
            <a:avLst>
              <a:gd name="adj" fmla="val 8571"/>
            </a:avLst>
          </a:prstGeom>
          <a:solidFill>
            <a:schemeClr val="accent1"/>
          </a:solidFill>
          <a:ln/>
        </p:spPr>
      </p:sp>
      <p:sp>
        <p:nvSpPr>
          <p:cNvPr id="10" name="label-264"/>
          <p:cNvSpPr txBox="1"/>
          <p:nvPr/>
        </p:nvSpPr>
        <p:spPr>
          <a:xfrm>
            <a:off x="4297680" y="1417320"/>
            <a:ext cx="1691640" cy="1280160"/>
          </a:xfrm>
          <a:prstGeom prst="rect">
            <a:avLst/>
          </a:prstGeom>
          <a:noFill/>
          <a:ln/>
        </p:spPr>
        <p:txBody>
          <a:bodyPr wrap="square" lIns="762" tIns="762" rIns="762" bIns="762" rtlCol="0" anchor="ctr"/>
          <a:lstStyle/>
          <a:p>
            <a:pPr algn="ctr" indent="0" marL="0">
              <a:buNone/>
            </a:pPr>
            <a:r>
              <a:rPr lang="en-US" sz="1400" b="1" dirty="0">
                <a:solidFill>
                  <a:schemeClr val="bg1"/>
                </a:solidFill>
              </a:rPr>
              <a:t>Reintenta</a:t>
            </a:r>
            <a:endParaRPr lang="en-US" sz="1400" dirty="0"/>
          </a:p>
          <a:p>
            <a:pPr algn="ctr" indent="0" marL="0">
              <a:buNone/>
            </a:pPr>
            <a:r>
              <a:rPr lang="en-US" sz="1400" dirty="0">
                <a:solidFill>
                  <a:schemeClr val="bg1"/>
                </a:solidFill>
              </a:rPr>
              <a:t>después de 2 s</a:t>
            </a:r>
            <a:endParaRPr lang="en-US" sz="1400" dirty="0"/>
          </a:p>
        </p:txBody>
      </p:sp>
      <p:sp>
        <p:nvSpPr>
          <p:cNvPr id="11" name="arrow-265"/>
          <p:cNvSpPr/>
          <p:nvPr/>
        </p:nvSpPr>
        <p:spPr>
          <a:xfrm>
            <a:off x="5989320" y="2057400"/>
            <a:ext cx="182880" cy="914"/>
          </a:xfrm>
          <a:prstGeom prst="line">
            <a:avLst/>
          </a:prstGeom>
          <a:noFill/>
          <a:ln w="19050">
            <a:solidFill>
              <a:schemeClr val="accent6"/>
            </a:solidFill>
            <a:prstDash val="solid"/>
            <a:tailEnd type="triangle"/>
          </a:ln>
        </p:spPr>
      </p:sp>
      <p:sp>
        <p:nvSpPr>
          <p:cNvPr id="12" name="box-266"/>
          <p:cNvSpPr/>
          <p:nvPr/>
        </p:nvSpPr>
        <p:spPr>
          <a:xfrm>
            <a:off x="6172200" y="1417320"/>
            <a:ext cx="1691640" cy="1280160"/>
          </a:xfrm>
          <a:prstGeom prst="roundRect">
            <a:avLst>
              <a:gd name="adj" fmla="val 8571"/>
            </a:avLst>
          </a:prstGeom>
          <a:solidFill>
            <a:schemeClr val="accent1"/>
          </a:solidFill>
          <a:ln/>
        </p:spPr>
      </p:sp>
      <p:sp>
        <p:nvSpPr>
          <p:cNvPr id="13" name="label-267"/>
          <p:cNvSpPr txBox="1"/>
          <p:nvPr/>
        </p:nvSpPr>
        <p:spPr>
          <a:xfrm>
            <a:off x="6172200" y="1417320"/>
            <a:ext cx="1691640" cy="1280160"/>
          </a:xfrm>
          <a:prstGeom prst="rect">
            <a:avLst/>
          </a:prstGeom>
          <a:noFill/>
          <a:ln/>
        </p:spPr>
        <p:txBody>
          <a:bodyPr wrap="square" lIns="762" tIns="762" rIns="762" bIns="762" rtlCol="0" anchor="ctr"/>
          <a:lstStyle/>
          <a:p>
            <a:pPr algn="ctr" indent="0" marL="0">
              <a:buNone/>
            </a:pPr>
            <a:r>
              <a:rPr lang="en-US" sz="1400" b="1" dirty="0">
                <a:solidFill>
                  <a:schemeClr val="bg1"/>
                </a:solidFill>
              </a:rPr>
              <a:t>Reintenta</a:t>
            </a:r>
            <a:endParaRPr lang="en-US" sz="1400" dirty="0"/>
          </a:p>
          <a:p>
            <a:pPr algn="ctr" indent="0" marL="0">
              <a:buNone/>
            </a:pPr>
            <a:r>
              <a:rPr lang="en-US" sz="1400" dirty="0">
                <a:solidFill>
                  <a:schemeClr val="bg1"/>
                </a:solidFill>
              </a:rPr>
              <a:t>después de 4 s</a:t>
            </a:r>
            <a:endParaRPr lang="en-US" sz="1400" dirty="0"/>
          </a:p>
        </p:txBody>
      </p:sp>
      <p:sp>
        <p:nvSpPr>
          <p:cNvPr id="14" name="arrow-268"/>
          <p:cNvSpPr/>
          <p:nvPr/>
        </p:nvSpPr>
        <p:spPr>
          <a:xfrm>
            <a:off x="7863840" y="2057400"/>
            <a:ext cx="182880" cy="914"/>
          </a:xfrm>
          <a:prstGeom prst="line">
            <a:avLst/>
          </a:prstGeom>
          <a:noFill/>
          <a:ln w="19050">
            <a:solidFill>
              <a:schemeClr val="accent6"/>
            </a:solidFill>
            <a:prstDash val="solid"/>
            <a:tailEnd type="triangle"/>
          </a:ln>
        </p:spPr>
      </p:sp>
      <p:sp>
        <p:nvSpPr>
          <p:cNvPr id="15" name="box-269"/>
          <p:cNvSpPr/>
          <p:nvPr/>
        </p:nvSpPr>
        <p:spPr>
          <a:xfrm>
            <a:off x="8046720" y="1417320"/>
            <a:ext cx="1691640" cy="1280160"/>
          </a:xfrm>
          <a:prstGeom prst="roundRect">
            <a:avLst>
              <a:gd name="adj" fmla="val 8571"/>
            </a:avLst>
          </a:prstGeom>
          <a:solidFill>
            <a:schemeClr val="accent4"/>
          </a:solidFill>
          <a:ln/>
        </p:spPr>
      </p:sp>
      <p:sp>
        <p:nvSpPr>
          <p:cNvPr id="16" name="label-270"/>
          <p:cNvSpPr txBox="1"/>
          <p:nvPr/>
        </p:nvSpPr>
        <p:spPr>
          <a:xfrm>
            <a:off x="8046720" y="1417320"/>
            <a:ext cx="1691640" cy="1280160"/>
          </a:xfrm>
          <a:prstGeom prst="rect">
            <a:avLst/>
          </a:prstGeom>
          <a:noFill/>
          <a:ln/>
        </p:spPr>
        <p:txBody>
          <a:bodyPr wrap="square" lIns="762" tIns="762" rIns="762" bIns="762" rtlCol="0" anchor="ctr"/>
          <a:lstStyle/>
          <a:p>
            <a:pPr algn="ctr" indent="0" marL="0">
              <a:buNone/>
            </a:pPr>
            <a:r>
              <a:rPr lang="en-US" sz="1400" b="1" dirty="0">
                <a:solidFill>
                  <a:schemeClr val="bg1"/>
                </a:solidFill>
              </a:rPr>
              <a:t>Se registra</a:t>
            </a:r>
            <a:endParaRPr lang="en-US" sz="1400" dirty="0"/>
          </a:p>
          <a:p>
            <a:pPr algn="ctr" indent="0" marL="0">
              <a:buNone/>
            </a:pPr>
            <a:r>
              <a:rPr lang="en-US" sz="1400" dirty="0">
                <a:solidFill>
                  <a:schemeClr val="bg1"/>
                </a:solidFill>
              </a:rPr>
              <a:t>el error en el log</a:t>
            </a:r>
            <a:endParaRPr lang="en-US" sz="1400" dirty="0"/>
          </a:p>
        </p:txBody>
      </p:sp>
      <p:sp>
        <p:nvSpPr>
          <p:cNvPr id="17" name="arrow-271"/>
          <p:cNvSpPr/>
          <p:nvPr/>
        </p:nvSpPr>
        <p:spPr>
          <a:xfrm>
            <a:off x="9738360" y="2057400"/>
            <a:ext cx="182880" cy="914"/>
          </a:xfrm>
          <a:prstGeom prst="line">
            <a:avLst/>
          </a:prstGeom>
          <a:noFill/>
          <a:ln w="19050">
            <a:solidFill>
              <a:schemeClr val="accent6"/>
            </a:solidFill>
            <a:prstDash val="solid"/>
            <a:tailEnd type="triangle"/>
          </a:ln>
        </p:spPr>
      </p:sp>
      <p:sp>
        <p:nvSpPr>
          <p:cNvPr id="18" name="box-272"/>
          <p:cNvSpPr/>
          <p:nvPr/>
        </p:nvSpPr>
        <p:spPr>
          <a:xfrm>
            <a:off x="9921240" y="1417320"/>
            <a:ext cx="1691640" cy="1280160"/>
          </a:xfrm>
          <a:prstGeom prst="roundRect">
            <a:avLst>
              <a:gd name="adj" fmla="val 8571"/>
            </a:avLst>
          </a:prstGeom>
          <a:solidFill>
            <a:schemeClr val="accent4"/>
          </a:solidFill>
          <a:ln/>
        </p:spPr>
      </p:sp>
      <p:sp>
        <p:nvSpPr>
          <p:cNvPr id="19" name="label-273"/>
          <p:cNvSpPr txBox="1"/>
          <p:nvPr/>
        </p:nvSpPr>
        <p:spPr>
          <a:xfrm>
            <a:off x="9921240" y="1417320"/>
            <a:ext cx="1691640" cy="1280160"/>
          </a:xfrm>
          <a:prstGeom prst="rect">
            <a:avLst/>
          </a:prstGeom>
          <a:noFill/>
          <a:ln/>
        </p:spPr>
        <p:txBody>
          <a:bodyPr wrap="square" lIns="762" tIns="762" rIns="762" bIns="762" rtlCol="0" anchor="ctr"/>
          <a:lstStyle/>
          <a:p>
            <a:pPr algn="ctr" indent="0" marL="0">
              <a:buNone/>
            </a:pPr>
            <a:r>
              <a:rPr lang="en-US" sz="1400" b="1" dirty="0">
                <a:solidFill>
                  <a:schemeClr val="bg1"/>
                </a:solidFill>
              </a:rPr>
              <a:t>Cola de errores</a:t>
            </a:r>
            <a:endParaRPr lang="en-US" sz="1400" dirty="0"/>
          </a:p>
          <a:p>
            <a:pPr algn="ctr" indent="0" marL="0">
              <a:buNone/>
            </a:pPr>
            <a:r>
              <a:rPr lang="en-US" sz="1400" dirty="0">
                <a:solidFill>
                  <a:schemeClr val="bg1"/>
                </a:solidFill>
              </a:rPr>
              <a:t>queda guardado</a:t>
            </a:r>
            <a:endParaRPr lang="en-US" sz="1400" dirty="0"/>
          </a:p>
        </p:txBody>
      </p:sp>
      <p:sp>
        <p:nvSpPr>
          <p:cNvPr id="20" name="box-274"/>
          <p:cNvSpPr/>
          <p:nvPr/>
        </p:nvSpPr>
        <p:spPr>
          <a:xfrm>
            <a:off x="548640" y="3017520"/>
            <a:ext cx="3474720" cy="2103120"/>
          </a:xfrm>
          <a:prstGeom prst="roundRect">
            <a:avLst>
              <a:gd name="adj" fmla="val 5217"/>
            </a:avLst>
          </a:prstGeom>
          <a:solidFill>
            <a:schemeClr val="bg2"/>
          </a:solidFill>
          <a:ln/>
        </p:spPr>
      </p:sp>
      <p:sp>
        <p:nvSpPr>
          <p:cNvPr id="21" name="circle-275"/>
          <p:cNvSpPr/>
          <p:nvPr/>
        </p:nvSpPr>
        <p:spPr>
          <a:xfrm>
            <a:off x="822960" y="3246120"/>
            <a:ext cx="548640" cy="548640"/>
          </a:xfrm>
          <a:prstGeom prst="ellipse">
            <a:avLst/>
          </a:prstGeom>
          <a:solidFill>
            <a:schemeClr val="accent1"/>
          </a:solidFill>
          <a:ln/>
        </p:spPr>
      </p:sp>
      <p:pic>
        <p:nvPicPr>
          <p:cNvPr id="22" name="icon-276" descr="preencoded.png">    </p:cNvPr>
          <p:cNvPicPr>
            <a:picLocks noChangeAspect="1"/>
          </p:cNvPicPr>
          <p:nvPr/>
        </p:nvPicPr>
        <p:blipFill>
          <a:blip r:embed="rId1"/>
          <a:stretch>
            <a:fillRect/>
          </a:stretch>
        </p:blipFill>
        <p:spPr>
          <a:xfrm>
            <a:off x="960120" y="3383280"/>
            <a:ext cx="274320" cy="274320"/>
          </a:xfrm>
          <a:prstGeom prst="rect">
            <a:avLst/>
          </a:prstGeom>
        </p:spPr>
      </p:pic>
      <p:sp>
        <p:nvSpPr>
          <p:cNvPr id="23" name="text-277"/>
          <p:cNvSpPr txBox="1"/>
          <p:nvPr/>
        </p:nvSpPr>
        <p:spPr>
          <a:xfrm>
            <a:off x="1508760" y="3200400"/>
            <a:ext cx="2377440" cy="685800"/>
          </a:xfrm>
          <a:prstGeom prst="rect">
            <a:avLst/>
          </a:prstGeom>
          <a:noFill/>
          <a:ln/>
        </p:spPr>
        <p:txBody>
          <a:bodyPr wrap="square" lIns="0" tIns="0" rIns="0" bIns="0" rtlCol="0" anchor="ctr"/>
          <a:lstStyle/>
          <a:p>
            <a:pPr algn="l" indent="0" marL="0">
              <a:buNone/>
            </a:pPr>
            <a:r>
              <a:rPr lang="en-US" sz="1500" b="1" dirty="0">
                <a:solidFill>
                  <a:schemeClr val="tx1"/>
                </a:solidFill>
              </a:rPr>
              <a:t>Los errores pasajeros se arreglan solos</a:t>
            </a:r>
            <a:endParaRPr lang="en-US" sz="1500" dirty="0"/>
          </a:p>
        </p:txBody>
      </p:sp>
      <p:sp>
        <p:nvSpPr>
          <p:cNvPr id="24" name="text-278"/>
          <p:cNvSpPr txBox="1"/>
          <p:nvPr/>
        </p:nvSpPr>
        <p:spPr>
          <a:xfrm>
            <a:off x="822960" y="3977640"/>
            <a:ext cx="2971800" cy="1097280"/>
          </a:xfrm>
          <a:prstGeom prst="rect">
            <a:avLst/>
          </a:prstGeom>
          <a:noFill/>
          <a:ln/>
        </p:spPr>
        <p:txBody>
          <a:bodyPr wrap="square" lIns="0" tIns="0" rIns="0" bIns="0" rtlCol="0" anchor="t"/>
          <a:lstStyle/>
          <a:p>
            <a:pPr algn="l" indent="0" marL="0">
              <a:buNone/>
            </a:pPr>
            <a:r>
              <a:rPr lang="en-US" sz="1400" dirty="0">
                <a:solidFill>
                  <a:schemeClr val="tx1"/>
                </a:solidFill>
              </a:rPr>
              <a:t>Si la base de datos se demoró un momento, el reintento lo resuelve sin que nadie haga nada.</a:t>
            </a:r>
            <a:endParaRPr lang="en-US" sz="1400" dirty="0"/>
          </a:p>
        </p:txBody>
      </p:sp>
      <p:sp>
        <p:nvSpPr>
          <p:cNvPr id="25" name="box-279"/>
          <p:cNvSpPr/>
          <p:nvPr/>
        </p:nvSpPr>
        <p:spPr>
          <a:xfrm>
            <a:off x="4343400" y="3017520"/>
            <a:ext cx="3474720" cy="2103120"/>
          </a:xfrm>
          <a:prstGeom prst="roundRect">
            <a:avLst>
              <a:gd name="adj" fmla="val 5217"/>
            </a:avLst>
          </a:prstGeom>
          <a:solidFill>
            <a:schemeClr val="bg2"/>
          </a:solidFill>
          <a:ln/>
        </p:spPr>
      </p:sp>
      <p:sp>
        <p:nvSpPr>
          <p:cNvPr id="26" name="circle-280"/>
          <p:cNvSpPr/>
          <p:nvPr/>
        </p:nvSpPr>
        <p:spPr>
          <a:xfrm>
            <a:off x="4617720" y="3246120"/>
            <a:ext cx="548640" cy="548640"/>
          </a:xfrm>
          <a:prstGeom prst="ellipse">
            <a:avLst/>
          </a:prstGeom>
          <a:solidFill>
            <a:schemeClr val="accent4"/>
          </a:solidFill>
          <a:ln/>
        </p:spPr>
      </p:sp>
      <p:pic>
        <p:nvPicPr>
          <p:cNvPr id="27" name="icon-281" descr="preencoded.png">    </p:cNvPr>
          <p:cNvPicPr>
            <a:picLocks noChangeAspect="1"/>
          </p:cNvPicPr>
          <p:nvPr/>
        </p:nvPicPr>
        <p:blipFill>
          <a:blip r:embed="rId2"/>
          <a:stretch>
            <a:fillRect/>
          </a:stretch>
        </p:blipFill>
        <p:spPr>
          <a:xfrm>
            <a:off x="4754880" y="3383280"/>
            <a:ext cx="274320" cy="274320"/>
          </a:xfrm>
          <a:prstGeom prst="rect">
            <a:avLst/>
          </a:prstGeom>
        </p:spPr>
      </p:pic>
      <p:sp>
        <p:nvSpPr>
          <p:cNvPr id="28" name="text-282"/>
          <p:cNvSpPr txBox="1"/>
          <p:nvPr/>
        </p:nvSpPr>
        <p:spPr>
          <a:xfrm>
            <a:off x="5303520" y="3200400"/>
            <a:ext cx="2377440" cy="685800"/>
          </a:xfrm>
          <a:prstGeom prst="rect">
            <a:avLst/>
          </a:prstGeom>
          <a:noFill/>
          <a:ln/>
        </p:spPr>
        <p:txBody>
          <a:bodyPr wrap="square" lIns="0" tIns="0" rIns="0" bIns="0" rtlCol="0" anchor="ctr"/>
          <a:lstStyle/>
          <a:p>
            <a:pPr algn="l" indent="0" marL="0">
              <a:buNone/>
            </a:pPr>
            <a:r>
              <a:rPr lang="en-US" sz="1500" b="1" dirty="0">
                <a:solidFill>
                  <a:schemeClr val="tx1"/>
                </a:solidFill>
              </a:rPr>
              <a:t>No se repite para siempre</a:t>
            </a:r>
            <a:endParaRPr lang="en-US" sz="1500" dirty="0"/>
          </a:p>
        </p:txBody>
      </p:sp>
      <p:sp>
        <p:nvSpPr>
          <p:cNvPr id="29" name="text-283"/>
          <p:cNvSpPr txBox="1"/>
          <p:nvPr/>
        </p:nvSpPr>
        <p:spPr>
          <a:xfrm>
            <a:off x="4617720" y="3977640"/>
            <a:ext cx="2971800" cy="1097280"/>
          </a:xfrm>
          <a:prstGeom prst="rect">
            <a:avLst/>
          </a:prstGeom>
          <a:noFill/>
          <a:ln/>
        </p:spPr>
        <p:txBody>
          <a:bodyPr wrap="square" lIns="0" tIns="0" rIns="0" bIns="0" rtlCol="0" anchor="t"/>
          <a:lstStyle/>
          <a:p>
            <a:pPr algn="l" indent="0" marL="0">
              <a:buNone/>
            </a:pPr>
            <a:r>
              <a:rPr lang="en-US" sz="1400" dirty="0">
                <a:solidFill>
                  <a:schemeClr val="tx1"/>
                </a:solidFill>
              </a:rPr>
              <a:t>Después de 4 intentos se deja de reintentar, para no trabar la cola con un mensaje que siempre falla.</a:t>
            </a:r>
            <a:endParaRPr lang="en-US" sz="1400" dirty="0"/>
          </a:p>
        </p:txBody>
      </p:sp>
      <p:sp>
        <p:nvSpPr>
          <p:cNvPr id="30" name="box-284"/>
          <p:cNvSpPr/>
          <p:nvPr/>
        </p:nvSpPr>
        <p:spPr>
          <a:xfrm>
            <a:off x="8138160" y="3017520"/>
            <a:ext cx="3474720" cy="2103120"/>
          </a:xfrm>
          <a:prstGeom prst="roundRect">
            <a:avLst>
              <a:gd name="adj" fmla="val 5217"/>
            </a:avLst>
          </a:prstGeom>
          <a:solidFill>
            <a:schemeClr val="bg2"/>
          </a:solidFill>
          <a:ln/>
        </p:spPr>
      </p:sp>
      <p:sp>
        <p:nvSpPr>
          <p:cNvPr id="31" name="circle-285"/>
          <p:cNvSpPr/>
          <p:nvPr/>
        </p:nvSpPr>
        <p:spPr>
          <a:xfrm>
            <a:off x="8412480" y="3246120"/>
            <a:ext cx="548640" cy="548640"/>
          </a:xfrm>
          <a:prstGeom prst="ellipse">
            <a:avLst/>
          </a:prstGeom>
          <a:solidFill>
            <a:schemeClr val="accent3"/>
          </a:solidFill>
          <a:ln/>
        </p:spPr>
      </p:sp>
      <p:pic>
        <p:nvPicPr>
          <p:cNvPr id="32" name="icon-286" descr="preencoded.png">    </p:cNvPr>
          <p:cNvPicPr>
            <a:picLocks noChangeAspect="1"/>
          </p:cNvPicPr>
          <p:nvPr/>
        </p:nvPicPr>
        <p:blipFill>
          <a:blip r:embed="rId3"/>
          <a:stretch>
            <a:fillRect/>
          </a:stretch>
        </p:blipFill>
        <p:spPr>
          <a:xfrm>
            <a:off x="8549640" y="3383280"/>
            <a:ext cx="274320" cy="274320"/>
          </a:xfrm>
          <a:prstGeom prst="rect">
            <a:avLst/>
          </a:prstGeom>
        </p:spPr>
      </p:pic>
      <p:sp>
        <p:nvSpPr>
          <p:cNvPr id="33" name="text-287"/>
          <p:cNvSpPr txBox="1"/>
          <p:nvPr/>
        </p:nvSpPr>
        <p:spPr>
          <a:xfrm>
            <a:off x="9098280" y="3200400"/>
            <a:ext cx="2377440" cy="685800"/>
          </a:xfrm>
          <a:prstGeom prst="rect">
            <a:avLst/>
          </a:prstGeom>
          <a:noFill/>
          <a:ln/>
        </p:spPr>
        <p:txBody>
          <a:bodyPr wrap="square" lIns="0" tIns="0" rIns="0" bIns="0" rtlCol="0" anchor="ctr"/>
          <a:lstStyle/>
          <a:p>
            <a:pPr algn="l" indent="0" marL="0">
              <a:buNone/>
            </a:pPr>
            <a:r>
              <a:rPr lang="en-US" sz="1500" b="1" dirty="0">
                <a:solidFill>
                  <a:schemeClr val="tx1"/>
                </a:solidFill>
              </a:rPr>
              <a:t>Nada se pierde</a:t>
            </a:r>
            <a:endParaRPr lang="en-US" sz="1500" dirty="0"/>
          </a:p>
        </p:txBody>
      </p:sp>
      <p:sp>
        <p:nvSpPr>
          <p:cNvPr id="34" name="text-288"/>
          <p:cNvSpPr txBox="1"/>
          <p:nvPr/>
        </p:nvSpPr>
        <p:spPr>
          <a:xfrm>
            <a:off x="8412480" y="3977640"/>
            <a:ext cx="2971800" cy="1097280"/>
          </a:xfrm>
          <a:prstGeom prst="rect">
            <a:avLst/>
          </a:prstGeom>
          <a:noFill/>
          <a:ln/>
        </p:spPr>
        <p:txBody>
          <a:bodyPr wrap="square" lIns="0" tIns="0" rIns="0" bIns="0" rtlCol="0" anchor="t"/>
          <a:lstStyle/>
          <a:p>
            <a:pPr algn="l" indent="0" marL="0">
              <a:buNone/>
            </a:pPr>
            <a:r>
              <a:rPr lang="en-US" sz="1400" dirty="0">
                <a:solidFill>
                  <a:schemeClr val="tx1"/>
                </a:solidFill>
              </a:rPr>
              <a:t>El mensaje queda en la cola de errores y se puede revisar o reenviar desde el panel de RabbitMQ.</a:t>
            </a:r>
            <a:endParaRPr lang="en-US" sz="1400" dirty="0"/>
          </a:p>
        </p:txBody>
      </p:sp>
      <p:sp>
        <p:nvSpPr>
          <p:cNvPr id="35" name="box-289"/>
          <p:cNvSpPr/>
          <p:nvPr/>
        </p:nvSpPr>
        <p:spPr>
          <a:xfrm>
            <a:off x="548640" y="5349240"/>
            <a:ext cx="11064240" cy="731520"/>
          </a:xfrm>
          <a:prstGeom prst="roundRect">
            <a:avLst>
              <a:gd name="adj" fmla="val 15000"/>
            </a:avLst>
          </a:prstGeom>
          <a:solidFill>
            <a:schemeClr val="bg2"/>
          </a:solidFill>
          <a:ln/>
        </p:spPr>
      </p:sp>
      <p:sp>
        <p:nvSpPr>
          <p:cNvPr id="36" name="label-290"/>
          <p:cNvSpPr txBox="1"/>
          <p:nvPr/>
        </p:nvSpPr>
        <p:spPr>
          <a:xfrm>
            <a:off x="548640" y="5349240"/>
            <a:ext cx="11064240" cy="731520"/>
          </a:xfrm>
          <a:prstGeom prst="rect">
            <a:avLst/>
          </a:prstGeom>
          <a:noFill/>
          <a:ln/>
        </p:spPr>
        <p:txBody>
          <a:bodyPr wrap="square" lIns="762" tIns="762" rIns="762" bIns="762" rtlCol="0" anchor="ctr"/>
          <a:lstStyle/>
          <a:p>
            <a:pPr algn="ctr" indent="0" marL="0">
              <a:buNone/>
            </a:pPr>
            <a:r>
              <a:rPr lang="en-US" sz="1500" dirty="0">
                <a:solidFill>
                  <a:schemeClr val="tx1"/>
                </a:solidFill>
              </a:rPr>
              <a:t>Ejemplo: llega una reserva de un gimnasio que no existe → falla 4 veces → termina en gimnasios.bookings.dlq</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Cómo llega la notificación al frontend</a:t>
            </a:r>
            <a:endParaRPr lang="en-US" sz="3200" dirty="0"/>
          </a:p>
        </p:txBody>
      </p:sp>
      <p:sp>
        <p:nvSpPr>
          <p:cNvPr id="3" name="timeline-291"/>
          <p:cNvSpPr/>
          <p:nvPr/>
        </p:nvSpPr>
        <p:spPr>
          <a:xfrm>
            <a:off x="685800" y="2148840"/>
            <a:ext cx="10927080" cy="0"/>
          </a:xfrm>
          <a:prstGeom prst="line">
            <a:avLst/>
          </a:prstGeom>
          <a:noFill/>
          <a:ln w="25400">
            <a:solidFill>
              <a:schemeClr val="accent6"/>
            </a:solidFill>
            <a:prstDash val="solid"/>
          </a:ln>
        </p:spPr>
      </p:sp>
      <p:sp>
        <p:nvSpPr>
          <p:cNvPr id="4" name="mark-292"/>
          <p:cNvSpPr/>
          <p:nvPr/>
        </p:nvSpPr>
        <p:spPr>
          <a:xfrm>
            <a:off x="557784" y="2020824"/>
            <a:ext cx="256032" cy="256032"/>
          </a:xfrm>
          <a:prstGeom prst="ellipse">
            <a:avLst/>
          </a:prstGeom>
          <a:solidFill>
            <a:schemeClr val="accent5"/>
          </a:solidFill>
          <a:ln/>
        </p:spPr>
      </p:sp>
      <p:sp>
        <p:nvSpPr>
          <p:cNvPr id="5" name="text-293"/>
          <p:cNvSpPr txBox="1"/>
          <p:nvPr/>
        </p:nvSpPr>
        <p:spPr>
          <a:xfrm>
            <a:off x="548640" y="1417320"/>
            <a:ext cx="2377440" cy="457200"/>
          </a:xfrm>
          <a:prstGeom prst="rect">
            <a:avLst/>
          </a:prstGeom>
          <a:noFill/>
          <a:ln/>
        </p:spPr>
        <p:txBody>
          <a:bodyPr wrap="square" lIns="0" tIns="0" rIns="0" bIns="0" rtlCol="0" anchor="ctr"/>
          <a:lstStyle/>
          <a:p>
            <a:pPr algn="l" indent="0" marL="0">
              <a:buNone/>
            </a:pPr>
            <a:r>
              <a:rPr lang="en-US" sz="1600" b="1" dirty="0">
                <a:solidFill>
                  <a:schemeClr val="tx1"/>
                </a:solidFill>
              </a:rPr>
              <a:t>0 s</a:t>
            </a:r>
            <a:endParaRPr lang="en-US" sz="1600" dirty="0"/>
          </a:p>
        </p:txBody>
      </p:sp>
      <p:sp>
        <p:nvSpPr>
          <p:cNvPr id="6" name="text-294"/>
          <p:cNvSpPr txBox="1"/>
          <p:nvPr/>
        </p:nvSpPr>
        <p:spPr>
          <a:xfrm>
            <a:off x="548640" y="2423160"/>
            <a:ext cx="2651760" cy="731520"/>
          </a:xfrm>
          <a:prstGeom prst="rect">
            <a:avLst/>
          </a:prstGeom>
          <a:noFill/>
          <a:ln/>
        </p:spPr>
        <p:txBody>
          <a:bodyPr wrap="square" lIns="0" tIns="0" rIns="0" bIns="0" rtlCol="0" anchor="t"/>
          <a:lstStyle/>
          <a:p>
            <a:pPr algn="l" indent="0" marL="0">
              <a:buNone/>
            </a:pPr>
            <a:r>
              <a:rPr lang="en-US" sz="1300" dirty="0">
                <a:solidFill>
                  <a:schemeClr val="tx1"/>
                </a:solidFill>
              </a:rPr>
              <a:t>El usuario reserva y ve la confirmación</a:t>
            </a:r>
            <a:endParaRPr lang="en-US" sz="1300" dirty="0"/>
          </a:p>
        </p:txBody>
      </p:sp>
      <p:sp>
        <p:nvSpPr>
          <p:cNvPr id="7" name="mark-295"/>
          <p:cNvSpPr/>
          <p:nvPr/>
        </p:nvSpPr>
        <p:spPr>
          <a:xfrm>
            <a:off x="3392424" y="2020824"/>
            <a:ext cx="256032" cy="256032"/>
          </a:xfrm>
          <a:prstGeom prst="ellipse">
            <a:avLst/>
          </a:prstGeom>
          <a:solidFill>
            <a:schemeClr val="accent1"/>
          </a:solidFill>
          <a:ln/>
        </p:spPr>
      </p:sp>
      <p:sp>
        <p:nvSpPr>
          <p:cNvPr id="8" name="text-296"/>
          <p:cNvSpPr txBox="1"/>
          <p:nvPr/>
        </p:nvSpPr>
        <p:spPr>
          <a:xfrm>
            <a:off x="3383280" y="1417320"/>
            <a:ext cx="2377440" cy="457200"/>
          </a:xfrm>
          <a:prstGeom prst="rect">
            <a:avLst/>
          </a:prstGeom>
          <a:noFill/>
          <a:ln/>
        </p:spPr>
        <p:txBody>
          <a:bodyPr wrap="square" lIns="0" tIns="0" rIns="0" bIns="0" rtlCol="0" anchor="ctr"/>
          <a:lstStyle/>
          <a:p>
            <a:pPr algn="l" indent="0" marL="0">
              <a:buNone/>
            </a:pPr>
            <a:r>
              <a:rPr lang="en-US" sz="1600" b="1" dirty="0">
                <a:solidFill>
                  <a:schemeClr val="tx1"/>
                </a:solidFill>
              </a:rPr>
              <a:t>milisegundos</a:t>
            </a:r>
            <a:endParaRPr lang="en-US" sz="1600" dirty="0"/>
          </a:p>
        </p:txBody>
      </p:sp>
      <p:sp>
        <p:nvSpPr>
          <p:cNvPr id="9" name="text-297"/>
          <p:cNvSpPr txBox="1"/>
          <p:nvPr/>
        </p:nvSpPr>
        <p:spPr>
          <a:xfrm>
            <a:off x="3383280" y="2423160"/>
            <a:ext cx="2651760" cy="731520"/>
          </a:xfrm>
          <a:prstGeom prst="rect">
            <a:avLst/>
          </a:prstGeom>
          <a:noFill/>
          <a:ln/>
        </p:spPr>
        <p:txBody>
          <a:bodyPr wrap="square" lIns="0" tIns="0" rIns="0" bIns="0" rtlCol="0" anchor="t"/>
          <a:lstStyle/>
          <a:p>
            <a:pPr algn="l" indent="0" marL="0">
              <a:buNone/>
            </a:pPr>
            <a:r>
              <a:rPr lang="en-US" sz="1300" dirty="0">
                <a:solidFill>
                  <a:schemeClr val="tx1"/>
                </a:solidFill>
              </a:rPr>
              <a:t>RabbitMQ entrega a ms-notificaciones</a:t>
            </a:r>
            <a:endParaRPr lang="en-US" sz="1300" dirty="0"/>
          </a:p>
        </p:txBody>
      </p:sp>
      <p:sp>
        <p:nvSpPr>
          <p:cNvPr id="10" name="mark-298"/>
          <p:cNvSpPr/>
          <p:nvPr/>
        </p:nvSpPr>
        <p:spPr>
          <a:xfrm>
            <a:off x="6227064" y="2020824"/>
            <a:ext cx="256032" cy="256032"/>
          </a:xfrm>
          <a:prstGeom prst="ellipse">
            <a:avLst/>
          </a:prstGeom>
          <a:solidFill>
            <a:schemeClr val="accent5"/>
          </a:solidFill>
          <a:ln/>
        </p:spPr>
      </p:sp>
      <p:sp>
        <p:nvSpPr>
          <p:cNvPr id="11" name="text-299"/>
          <p:cNvSpPr txBox="1"/>
          <p:nvPr/>
        </p:nvSpPr>
        <p:spPr>
          <a:xfrm>
            <a:off x="6217920" y="1417320"/>
            <a:ext cx="2377440" cy="457200"/>
          </a:xfrm>
          <a:prstGeom prst="rect">
            <a:avLst/>
          </a:prstGeom>
          <a:noFill/>
          <a:ln/>
        </p:spPr>
        <p:txBody>
          <a:bodyPr wrap="square" lIns="0" tIns="0" rIns="0" bIns="0" rtlCol="0" anchor="ctr"/>
          <a:lstStyle/>
          <a:p>
            <a:pPr algn="l" indent="0" marL="0">
              <a:buNone/>
            </a:pPr>
            <a:r>
              <a:rPr lang="en-US" sz="1600" b="1" dirty="0">
                <a:solidFill>
                  <a:schemeClr val="tx1"/>
                </a:solidFill>
              </a:rPr>
              <a:t>1,5 s</a:t>
            </a:r>
            <a:endParaRPr lang="en-US" sz="1600" dirty="0"/>
          </a:p>
        </p:txBody>
      </p:sp>
      <p:sp>
        <p:nvSpPr>
          <p:cNvPr id="12" name="text-300"/>
          <p:cNvSpPr txBox="1"/>
          <p:nvPr/>
        </p:nvSpPr>
        <p:spPr>
          <a:xfrm>
            <a:off x="6217920" y="2423160"/>
            <a:ext cx="2651760" cy="731520"/>
          </a:xfrm>
          <a:prstGeom prst="rect">
            <a:avLst/>
          </a:prstGeom>
          <a:noFill/>
          <a:ln/>
        </p:spPr>
        <p:txBody>
          <a:bodyPr wrap="square" lIns="0" tIns="0" rIns="0" bIns="0" rtlCol="0" anchor="t"/>
          <a:lstStyle/>
          <a:p>
            <a:pPr algn="l" indent="0" marL="0">
              <a:buNone/>
            </a:pPr>
            <a:r>
              <a:rPr lang="en-US" sz="1300" dirty="0">
                <a:solidFill>
                  <a:schemeClr val="tx1"/>
                </a:solidFill>
              </a:rPr>
              <a:t>La campana se recarga sola</a:t>
            </a:r>
            <a:endParaRPr lang="en-US" sz="1300" dirty="0"/>
          </a:p>
        </p:txBody>
      </p:sp>
      <p:sp>
        <p:nvSpPr>
          <p:cNvPr id="13" name="mark-301"/>
          <p:cNvSpPr/>
          <p:nvPr/>
        </p:nvSpPr>
        <p:spPr>
          <a:xfrm>
            <a:off x="9061704" y="2020824"/>
            <a:ext cx="256032" cy="256032"/>
          </a:xfrm>
          <a:prstGeom prst="ellipse">
            <a:avLst/>
          </a:prstGeom>
          <a:solidFill>
            <a:schemeClr val="accent5"/>
          </a:solidFill>
          <a:ln/>
        </p:spPr>
      </p:sp>
      <p:sp>
        <p:nvSpPr>
          <p:cNvPr id="14" name="text-302"/>
          <p:cNvSpPr txBox="1"/>
          <p:nvPr/>
        </p:nvSpPr>
        <p:spPr>
          <a:xfrm>
            <a:off x="9052560" y="1417320"/>
            <a:ext cx="2377440" cy="457200"/>
          </a:xfrm>
          <a:prstGeom prst="rect">
            <a:avLst/>
          </a:prstGeom>
          <a:noFill/>
          <a:ln/>
        </p:spPr>
        <p:txBody>
          <a:bodyPr wrap="square" lIns="0" tIns="0" rIns="0" bIns="0" rtlCol="0" anchor="ctr"/>
          <a:lstStyle/>
          <a:p>
            <a:pPr algn="l" indent="0" marL="0">
              <a:buNone/>
            </a:pPr>
            <a:r>
              <a:rPr lang="en-US" sz="1600" b="1" dirty="0">
                <a:solidFill>
                  <a:schemeClr val="tx1"/>
                </a:solidFill>
              </a:rPr>
              <a:t>cada 30 s</a:t>
            </a:r>
            <a:endParaRPr lang="en-US" sz="1600" dirty="0"/>
          </a:p>
        </p:txBody>
      </p:sp>
      <p:sp>
        <p:nvSpPr>
          <p:cNvPr id="15" name="text-303"/>
          <p:cNvSpPr txBox="1"/>
          <p:nvPr/>
        </p:nvSpPr>
        <p:spPr>
          <a:xfrm>
            <a:off x="9052560" y="2423160"/>
            <a:ext cx="2651760" cy="731520"/>
          </a:xfrm>
          <a:prstGeom prst="rect">
            <a:avLst/>
          </a:prstGeom>
          <a:noFill/>
          <a:ln/>
        </p:spPr>
        <p:txBody>
          <a:bodyPr wrap="square" lIns="0" tIns="0" rIns="0" bIns="0" rtlCol="0" anchor="t"/>
          <a:lstStyle/>
          <a:p>
            <a:pPr algn="l" indent="0" marL="0">
              <a:buNone/>
            </a:pPr>
            <a:r>
              <a:rPr lang="en-US" sz="1300" dirty="0">
                <a:solidFill>
                  <a:schemeClr val="tx1"/>
                </a:solidFill>
              </a:rPr>
              <a:t>La campana vuelve a consultar</a:t>
            </a:r>
            <a:endParaRPr lang="en-US" sz="1300" dirty="0"/>
          </a:p>
        </p:txBody>
      </p:sp>
      <p:sp>
        <p:nvSpPr>
          <p:cNvPr id="16" name="box-304"/>
          <p:cNvSpPr/>
          <p:nvPr/>
        </p:nvSpPr>
        <p:spPr>
          <a:xfrm>
            <a:off x="548640" y="3429000"/>
            <a:ext cx="3520440" cy="2011680"/>
          </a:xfrm>
          <a:prstGeom prst="roundRect">
            <a:avLst>
              <a:gd name="adj" fmla="val 5455"/>
            </a:avLst>
          </a:prstGeom>
          <a:solidFill>
            <a:schemeClr val="bg2"/>
          </a:solidFill>
          <a:ln/>
        </p:spPr>
      </p:sp>
      <p:sp>
        <p:nvSpPr>
          <p:cNvPr id="17" name="circle-305"/>
          <p:cNvSpPr/>
          <p:nvPr/>
        </p:nvSpPr>
        <p:spPr>
          <a:xfrm>
            <a:off x="822960" y="3657600"/>
            <a:ext cx="548640" cy="548640"/>
          </a:xfrm>
          <a:prstGeom prst="ellipse">
            <a:avLst/>
          </a:prstGeom>
          <a:solidFill>
            <a:schemeClr val="accent5"/>
          </a:solidFill>
          <a:ln/>
        </p:spPr>
      </p:sp>
      <p:pic>
        <p:nvPicPr>
          <p:cNvPr id="18" name="icon-306" descr="preencoded.png">    </p:cNvPr>
          <p:cNvPicPr>
            <a:picLocks noChangeAspect="1"/>
          </p:cNvPicPr>
          <p:nvPr/>
        </p:nvPicPr>
        <p:blipFill>
          <a:blip r:embed="rId1"/>
          <a:stretch>
            <a:fillRect/>
          </a:stretch>
        </p:blipFill>
        <p:spPr>
          <a:xfrm>
            <a:off x="960120" y="3794760"/>
            <a:ext cx="274320" cy="274320"/>
          </a:xfrm>
          <a:prstGeom prst="rect">
            <a:avLst/>
          </a:prstGeom>
        </p:spPr>
      </p:pic>
      <p:sp>
        <p:nvSpPr>
          <p:cNvPr id="19" name="text-307"/>
          <p:cNvSpPr txBox="1"/>
          <p:nvPr/>
        </p:nvSpPr>
        <p:spPr>
          <a:xfrm>
            <a:off x="1508760" y="3657600"/>
            <a:ext cx="2423160" cy="548640"/>
          </a:xfrm>
          <a:prstGeom prst="rect">
            <a:avLst/>
          </a:prstGeom>
          <a:noFill/>
          <a:ln/>
        </p:spPr>
        <p:txBody>
          <a:bodyPr wrap="square" lIns="0" tIns="0" rIns="0" bIns="0" rtlCol="0" anchor="ctr"/>
          <a:lstStyle/>
          <a:p>
            <a:pPr algn="l" indent="0" marL="0">
              <a:buNone/>
            </a:pPr>
            <a:r>
              <a:rPr lang="en-US" sz="1600" b="1" dirty="0">
                <a:solidFill>
                  <a:schemeClr val="tx1"/>
                </a:solidFill>
              </a:rPr>
              <a:t>La campana</a:t>
            </a:r>
            <a:endParaRPr lang="en-US" sz="1600" dirty="0"/>
          </a:p>
        </p:txBody>
      </p:sp>
      <p:sp>
        <p:nvSpPr>
          <p:cNvPr id="20" name="text-308"/>
          <p:cNvSpPr txBox="1"/>
          <p:nvPr/>
        </p:nvSpPr>
        <p:spPr>
          <a:xfrm>
            <a:off x="822960" y="4389120"/>
            <a:ext cx="3017520" cy="1645920"/>
          </a:xfrm>
          <a:prstGeom prst="rect">
            <a:avLst/>
          </a:prstGeom>
          <a:noFill/>
          <a:ln/>
        </p:spPr>
        <p:txBody>
          <a:bodyPr wrap="square" lIns="0" tIns="0" rIns="0" bIns="0" rtlCol="0" anchor="t"/>
          <a:lstStyle/>
          <a:p>
            <a:pPr algn="l" indent="0" marL="0">
              <a:buNone/>
            </a:pPr>
            <a:r>
              <a:rPr lang="en-US" sz="1400" dirty="0">
                <a:solidFill>
                  <a:schemeClr val="tx1"/>
                </a:solidFill>
              </a:rPr>
              <a:t>Muestra cuántos avisos hay sin leer y permite marcarlos como leídos.</a:t>
            </a:r>
            <a:endParaRPr lang="en-US" sz="1400" dirty="0"/>
          </a:p>
        </p:txBody>
      </p:sp>
      <p:sp>
        <p:nvSpPr>
          <p:cNvPr id="21" name="box-309"/>
          <p:cNvSpPr/>
          <p:nvPr/>
        </p:nvSpPr>
        <p:spPr>
          <a:xfrm>
            <a:off x="4320540" y="3429000"/>
            <a:ext cx="3520440" cy="2011680"/>
          </a:xfrm>
          <a:prstGeom prst="roundRect">
            <a:avLst>
              <a:gd name="adj" fmla="val 5455"/>
            </a:avLst>
          </a:prstGeom>
          <a:solidFill>
            <a:schemeClr val="bg2"/>
          </a:solidFill>
          <a:ln/>
        </p:spPr>
      </p:sp>
      <p:sp>
        <p:nvSpPr>
          <p:cNvPr id="22" name="circle-310"/>
          <p:cNvSpPr/>
          <p:nvPr/>
        </p:nvSpPr>
        <p:spPr>
          <a:xfrm>
            <a:off x="4594860" y="3657600"/>
            <a:ext cx="548640" cy="548640"/>
          </a:xfrm>
          <a:prstGeom prst="ellipse">
            <a:avLst/>
          </a:prstGeom>
          <a:solidFill>
            <a:schemeClr val="accent5"/>
          </a:solidFill>
          <a:ln/>
        </p:spPr>
      </p:sp>
      <p:pic>
        <p:nvPicPr>
          <p:cNvPr id="23" name="icon-311" descr="preencoded.png">    </p:cNvPr>
          <p:cNvPicPr>
            <a:picLocks noChangeAspect="1"/>
          </p:cNvPicPr>
          <p:nvPr/>
        </p:nvPicPr>
        <p:blipFill>
          <a:blip r:embed="rId2"/>
          <a:stretch>
            <a:fillRect/>
          </a:stretch>
        </p:blipFill>
        <p:spPr>
          <a:xfrm>
            <a:off x="4732020" y="3794760"/>
            <a:ext cx="274320" cy="274320"/>
          </a:xfrm>
          <a:prstGeom prst="rect">
            <a:avLst/>
          </a:prstGeom>
        </p:spPr>
      </p:pic>
      <p:sp>
        <p:nvSpPr>
          <p:cNvPr id="24" name="text-312"/>
          <p:cNvSpPr txBox="1"/>
          <p:nvPr/>
        </p:nvSpPr>
        <p:spPr>
          <a:xfrm>
            <a:off x="5280660" y="3657600"/>
            <a:ext cx="2423160" cy="548640"/>
          </a:xfrm>
          <a:prstGeom prst="rect">
            <a:avLst/>
          </a:prstGeom>
          <a:noFill/>
          <a:ln/>
        </p:spPr>
        <p:txBody>
          <a:bodyPr wrap="square" lIns="0" tIns="0" rIns="0" bIns="0" rtlCol="0" anchor="ctr"/>
          <a:lstStyle/>
          <a:p>
            <a:pPr algn="l" indent="0" marL="0">
              <a:buNone/>
            </a:pPr>
            <a:r>
              <a:rPr lang="en-US" sz="1600" b="1" dirty="0">
                <a:solidFill>
                  <a:schemeClr val="tx1"/>
                </a:solidFill>
              </a:rPr>
              <a:t>Ahorra consultas</a:t>
            </a:r>
            <a:endParaRPr lang="en-US" sz="1600" dirty="0"/>
          </a:p>
        </p:txBody>
      </p:sp>
      <p:sp>
        <p:nvSpPr>
          <p:cNvPr id="25" name="text-313"/>
          <p:cNvSpPr txBox="1"/>
          <p:nvPr/>
        </p:nvSpPr>
        <p:spPr>
          <a:xfrm>
            <a:off x="4594860" y="4389120"/>
            <a:ext cx="3017520" cy="1645920"/>
          </a:xfrm>
          <a:prstGeom prst="rect">
            <a:avLst/>
          </a:prstGeom>
          <a:noFill/>
          <a:ln/>
        </p:spPr>
        <p:txBody>
          <a:bodyPr wrap="square" lIns="0" tIns="0" rIns="0" bIns="0" rtlCol="0" anchor="t"/>
          <a:lstStyle/>
          <a:p>
            <a:pPr algn="l" indent="0" marL="0">
              <a:buNone/>
            </a:pPr>
            <a:r>
              <a:rPr lang="en-US" sz="1400" dirty="0">
                <a:solidFill>
                  <a:schemeClr val="tx1"/>
                </a:solidFill>
              </a:rPr>
              <a:t>Si la pestaña está en segundo plano no consulta, y recarga al volver.</a:t>
            </a:r>
            <a:endParaRPr lang="en-US" sz="1400" dirty="0"/>
          </a:p>
        </p:txBody>
      </p:sp>
      <p:sp>
        <p:nvSpPr>
          <p:cNvPr id="26" name="box-314"/>
          <p:cNvSpPr/>
          <p:nvPr/>
        </p:nvSpPr>
        <p:spPr>
          <a:xfrm>
            <a:off x="8092440" y="3429000"/>
            <a:ext cx="3520440" cy="2011680"/>
          </a:xfrm>
          <a:prstGeom prst="roundRect">
            <a:avLst>
              <a:gd name="adj" fmla="val 5455"/>
            </a:avLst>
          </a:prstGeom>
          <a:solidFill>
            <a:schemeClr val="bg2"/>
          </a:solidFill>
          <a:ln/>
        </p:spPr>
      </p:sp>
      <p:sp>
        <p:nvSpPr>
          <p:cNvPr id="27" name="circle-315"/>
          <p:cNvSpPr/>
          <p:nvPr/>
        </p:nvSpPr>
        <p:spPr>
          <a:xfrm>
            <a:off x="8366760" y="3657600"/>
            <a:ext cx="548640" cy="548640"/>
          </a:xfrm>
          <a:prstGeom prst="ellipse">
            <a:avLst/>
          </a:prstGeom>
          <a:solidFill>
            <a:schemeClr val="accent1"/>
          </a:solidFill>
          <a:ln/>
        </p:spPr>
      </p:sp>
      <p:pic>
        <p:nvPicPr>
          <p:cNvPr id="28" name="icon-316" descr="preencoded.png">    </p:cNvPr>
          <p:cNvPicPr>
            <a:picLocks noChangeAspect="1"/>
          </p:cNvPicPr>
          <p:nvPr/>
        </p:nvPicPr>
        <p:blipFill>
          <a:blip r:embed="rId3"/>
          <a:stretch>
            <a:fillRect/>
          </a:stretch>
        </p:blipFill>
        <p:spPr>
          <a:xfrm>
            <a:off x="8503920" y="3794760"/>
            <a:ext cx="274320" cy="274320"/>
          </a:xfrm>
          <a:prstGeom prst="rect">
            <a:avLst/>
          </a:prstGeom>
        </p:spPr>
      </p:pic>
      <p:sp>
        <p:nvSpPr>
          <p:cNvPr id="29" name="text-317"/>
          <p:cNvSpPr txBox="1"/>
          <p:nvPr/>
        </p:nvSpPr>
        <p:spPr>
          <a:xfrm>
            <a:off x="9052560" y="3657600"/>
            <a:ext cx="2423160" cy="548640"/>
          </a:xfrm>
          <a:prstGeom prst="rect">
            <a:avLst/>
          </a:prstGeom>
          <a:noFill/>
          <a:ln/>
        </p:spPr>
        <p:txBody>
          <a:bodyPr wrap="square" lIns="0" tIns="0" rIns="0" bIns="0" rtlCol="0" anchor="ctr"/>
          <a:lstStyle/>
          <a:p>
            <a:pPr algn="l" indent="0" marL="0">
              <a:buNone/>
            </a:pPr>
            <a:r>
              <a:rPr lang="en-US" sz="1600" b="1" dirty="0">
                <a:solidFill>
                  <a:schemeClr val="tx1"/>
                </a:solidFill>
              </a:rPr>
              <a:t>Consistencia eventual</a:t>
            </a:r>
            <a:endParaRPr lang="en-US" sz="1600" dirty="0"/>
          </a:p>
        </p:txBody>
      </p:sp>
      <p:sp>
        <p:nvSpPr>
          <p:cNvPr id="30" name="text-318"/>
          <p:cNvSpPr txBox="1"/>
          <p:nvPr/>
        </p:nvSpPr>
        <p:spPr>
          <a:xfrm>
            <a:off x="8366760" y="4389120"/>
            <a:ext cx="3017520" cy="1645920"/>
          </a:xfrm>
          <a:prstGeom prst="rect">
            <a:avLst/>
          </a:prstGeom>
          <a:noFill/>
          <a:ln/>
        </p:spPr>
        <p:txBody>
          <a:bodyPr wrap="square" lIns="0" tIns="0" rIns="0" bIns="0" rtlCol="0" anchor="t"/>
          <a:lstStyle/>
          <a:p>
            <a:pPr algn="l" indent="0" marL="0">
              <a:buNone/>
            </a:pPr>
            <a:r>
              <a:rPr lang="en-US" sz="1400" dirty="0">
                <a:solidFill>
                  <a:schemeClr val="tx1"/>
                </a:solidFill>
              </a:rPr>
              <a:t>El mensaje llega un momento después de la reserva, por eso la campana espera 1,5 s antes de recargar.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Despliegue y orden de arranque</a:t>
            </a:r>
            <a:endParaRPr lang="en-US" sz="3200" dirty="0"/>
          </a:p>
        </p:txBody>
      </p:sp>
      <p:sp>
        <p:nvSpPr>
          <p:cNvPr id="3" name="box-319"/>
          <p:cNvSpPr/>
          <p:nvPr/>
        </p:nvSpPr>
        <p:spPr>
          <a:xfrm>
            <a:off x="548640" y="1280160"/>
            <a:ext cx="5120640" cy="640080"/>
          </a:xfrm>
          <a:prstGeom prst="roundRect">
            <a:avLst>
              <a:gd name="adj" fmla="val 17143"/>
            </a:avLst>
          </a:prstGeom>
          <a:solidFill>
            <a:schemeClr val="tx2"/>
          </a:solidFill>
          <a:ln/>
        </p:spPr>
      </p:sp>
      <p:sp>
        <p:nvSpPr>
          <p:cNvPr id="4" name="label-320"/>
          <p:cNvSpPr txBox="1"/>
          <p:nvPr/>
        </p:nvSpPr>
        <p:spPr>
          <a:xfrm>
            <a:off x="548640" y="1280160"/>
            <a:ext cx="5120640" cy="640080"/>
          </a:xfrm>
          <a:prstGeom prst="rect">
            <a:avLst/>
          </a:prstGeom>
          <a:noFill/>
          <a:ln/>
        </p:spPr>
        <p:txBody>
          <a:bodyPr wrap="square" lIns="762" tIns="762" rIns="762" bIns="762" rtlCol="0" anchor="ctr"/>
          <a:lstStyle/>
          <a:p>
            <a:pPr algn="ctr" indent="0" marL="0">
              <a:buNone/>
            </a:pPr>
            <a:r>
              <a:rPr lang="en-US" sz="1500" b="1" dirty="0">
                <a:solidFill>
                  <a:schemeClr val="bg1"/>
                </a:solidFill>
              </a:rPr>
              <a:t>mysql · rabbitmq</a:t>
            </a:r>
            <a:endParaRPr lang="en-US" sz="1500" dirty="0"/>
          </a:p>
        </p:txBody>
      </p:sp>
      <p:sp>
        <p:nvSpPr>
          <p:cNvPr id="5" name="arrow-321"/>
          <p:cNvSpPr/>
          <p:nvPr/>
        </p:nvSpPr>
        <p:spPr>
          <a:xfrm>
            <a:off x="3108960" y="1920240"/>
            <a:ext cx="914" cy="274320"/>
          </a:xfrm>
          <a:prstGeom prst="line">
            <a:avLst/>
          </a:prstGeom>
          <a:noFill/>
          <a:ln w="19050">
            <a:solidFill>
              <a:schemeClr val="accent6"/>
            </a:solidFill>
            <a:prstDash val="solid"/>
            <a:tailEnd type="triangle"/>
          </a:ln>
        </p:spPr>
      </p:sp>
      <p:sp>
        <p:nvSpPr>
          <p:cNvPr id="6" name="box-322"/>
          <p:cNvSpPr/>
          <p:nvPr/>
        </p:nvSpPr>
        <p:spPr>
          <a:xfrm>
            <a:off x="548640" y="2194560"/>
            <a:ext cx="5120640" cy="640080"/>
          </a:xfrm>
          <a:prstGeom prst="roundRect">
            <a:avLst>
              <a:gd name="adj" fmla="val 17143"/>
            </a:avLst>
          </a:prstGeom>
          <a:solidFill>
            <a:schemeClr val="accent2"/>
          </a:solidFill>
          <a:ln/>
        </p:spPr>
      </p:sp>
      <p:sp>
        <p:nvSpPr>
          <p:cNvPr id="7" name="label-323"/>
          <p:cNvSpPr txBox="1"/>
          <p:nvPr/>
        </p:nvSpPr>
        <p:spPr>
          <a:xfrm>
            <a:off x="548640" y="2194560"/>
            <a:ext cx="5120640" cy="640080"/>
          </a:xfrm>
          <a:prstGeom prst="rect">
            <a:avLst/>
          </a:prstGeom>
          <a:noFill/>
          <a:ln/>
        </p:spPr>
        <p:txBody>
          <a:bodyPr wrap="square" lIns="762" tIns="762" rIns="762" bIns="762" rtlCol="0" anchor="ctr"/>
          <a:lstStyle/>
          <a:p>
            <a:pPr algn="ctr" indent="0" marL="0">
              <a:buNone/>
            </a:pPr>
            <a:r>
              <a:rPr lang="en-US" sz="1500" b="1" dirty="0">
                <a:solidFill>
                  <a:schemeClr val="bg1"/>
                </a:solidFill>
              </a:rPr>
              <a:t>ms-gimnasios · ms-notificaciones · ms-usuarios</a:t>
            </a:r>
            <a:endParaRPr lang="en-US" sz="1500" dirty="0"/>
          </a:p>
        </p:txBody>
      </p:sp>
      <p:sp>
        <p:nvSpPr>
          <p:cNvPr id="8" name="arrow-324"/>
          <p:cNvSpPr/>
          <p:nvPr/>
        </p:nvSpPr>
        <p:spPr>
          <a:xfrm>
            <a:off x="3108960" y="2834640"/>
            <a:ext cx="914" cy="274320"/>
          </a:xfrm>
          <a:prstGeom prst="line">
            <a:avLst/>
          </a:prstGeom>
          <a:noFill/>
          <a:ln w="19050">
            <a:solidFill>
              <a:schemeClr val="accent6"/>
            </a:solidFill>
            <a:prstDash val="solid"/>
            <a:tailEnd type="triangle"/>
          </a:ln>
        </p:spPr>
      </p:sp>
      <p:sp>
        <p:nvSpPr>
          <p:cNvPr id="9" name="box-325"/>
          <p:cNvSpPr/>
          <p:nvPr/>
        </p:nvSpPr>
        <p:spPr>
          <a:xfrm>
            <a:off x="548640" y="3108960"/>
            <a:ext cx="5120640" cy="640080"/>
          </a:xfrm>
          <a:prstGeom prst="roundRect">
            <a:avLst>
              <a:gd name="adj" fmla="val 17143"/>
            </a:avLst>
          </a:prstGeom>
          <a:solidFill>
            <a:schemeClr val="accent1"/>
          </a:solidFill>
          <a:ln/>
        </p:spPr>
      </p:sp>
      <p:sp>
        <p:nvSpPr>
          <p:cNvPr id="10" name="label-326"/>
          <p:cNvSpPr txBox="1"/>
          <p:nvPr/>
        </p:nvSpPr>
        <p:spPr>
          <a:xfrm>
            <a:off x="548640" y="3108960"/>
            <a:ext cx="5120640" cy="640080"/>
          </a:xfrm>
          <a:prstGeom prst="rect">
            <a:avLst/>
          </a:prstGeom>
          <a:noFill/>
          <a:ln/>
        </p:spPr>
        <p:txBody>
          <a:bodyPr wrap="square" lIns="762" tIns="762" rIns="762" bIns="762" rtlCol="0" anchor="ctr"/>
          <a:lstStyle/>
          <a:p>
            <a:pPr algn="ctr" indent="0" marL="0">
              <a:buNone/>
            </a:pPr>
            <a:r>
              <a:rPr lang="en-US" sz="1500" b="1" dirty="0">
                <a:solidFill>
                  <a:schemeClr val="bg1"/>
                </a:solidFill>
              </a:rPr>
              <a:t>ms-reservas</a:t>
            </a:r>
            <a:endParaRPr lang="en-US" sz="1500" dirty="0"/>
          </a:p>
        </p:txBody>
      </p:sp>
      <p:sp>
        <p:nvSpPr>
          <p:cNvPr id="11" name="arrow-327"/>
          <p:cNvSpPr/>
          <p:nvPr/>
        </p:nvSpPr>
        <p:spPr>
          <a:xfrm>
            <a:off x="3108960" y="3749040"/>
            <a:ext cx="914" cy="274320"/>
          </a:xfrm>
          <a:prstGeom prst="line">
            <a:avLst/>
          </a:prstGeom>
          <a:noFill/>
          <a:ln w="19050">
            <a:solidFill>
              <a:schemeClr val="accent6"/>
            </a:solidFill>
            <a:prstDash val="solid"/>
            <a:tailEnd type="triangle"/>
          </a:ln>
        </p:spPr>
      </p:sp>
      <p:sp>
        <p:nvSpPr>
          <p:cNvPr id="12" name="box-328"/>
          <p:cNvSpPr/>
          <p:nvPr/>
        </p:nvSpPr>
        <p:spPr>
          <a:xfrm>
            <a:off x="548640" y="4023360"/>
            <a:ext cx="5120640" cy="640080"/>
          </a:xfrm>
          <a:prstGeom prst="roundRect">
            <a:avLst>
              <a:gd name="adj" fmla="val 17143"/>
            </a:avLst>
          </a:prstGeom>
          <a:solidFill>
            <a:schemeClr val="accent6"/>
          </a:solidFill>
          <a:ln/>
        </p:spPr>
      </p:sp>
      <p:sp>
        <p:nvSpPr>
          <p:cNvPr id="13" name="label-329"/>
          <p:cNvSpPr txBox="1"/>
          <p:nvPr/>
        </p:nvSpPr>
        <p:spPr>
          <a:xfrm>
            <a:off x="548640" y="4023360"/>
            <a:ext cx="5120640" cy="640080"/>
          </a:xfrm>
          <a:prstGeom prst="rect">
            <a:avLst/>
          </a:prstGeom>
          <a:noFill/>
          <a:ln/>
        </p:spPr>
        <p:txBody>
          <a:bodyPr wrap="square" lIns="762" tIns="762" rIns="762" bIns="762" rtlCol="0" anchor="ctr"/>
          <a:lstStyle/>
          <a:p>
            <a:pPr algn="ctr" indent="0" marL="0">
              <a:buNone/>
            </a:pPr>
            <a:r>
              <a:rPr lang="en-US" sz="1500" b="1" dirty="0">
                <a:solidFill>
                  <a:schemeClr val="bg1"/>
                </a:solidFill>
              </a:rPr>
              <a:t>api-gateway</a:t>
            </a:r>
            <a:endParaRPr lang="en-US" sz="1500" dirty="0"/>
          </a:p>
        </p:txBody>
      </p:sp>
      <p:sp>
        <p:nvSpPr>
          <p:cNvPr id="14" name="arrow-330"/>
          <p:cNvSpPr/>
          <p:nvPr/>
        </p:nvSpPr>
        <p:spPr>
          <a:xfrm>
            <a:off x="3108960" y="4663440"/>
            <a:ext cx="914" cy="274320"/>
          </a:xfrm>
          <a:prstGeom prst="line">
            <a:avLst/>
          </a:prstGeom>
          <a:noFill/>
          <a:ln w="19050">
            <a:solidFill>
              <a:schemeClr val="accent6"/>
            </a:solidFill>
            <a:prstDash val="solid"/>
            <a:tailEnd type="triangle"/>
          </a:ln>
        </p:spPr>
      </p:sp>
      <p:sp>
        <p:nvSpPr>
          <p:cNvPr id="15" name="box-331"/>
          <p:cNvSpPr/>
          <p:nvPr/>
        </p:nvSpPr>
        <p:spPr>
          <a:xfrm>
            <a:off x="548640" y="4937760"/>
            <a:ext cx="5120640" cy="640080"/>
          </a:xfrm>
          <a:prstGeom prst="roundRect">
            <a:avLst>
              <a:gd name="adj" fmla="val 17143"/>
            </a:avLst>
          </a:prstGeom>
          <a:solidFill>
            <a:schemeClr val="accent5"/>
          </a:solidFill>
          <a:ln/>
        </p:spPr>
      </p:sp>
      <p:sp>
        <p:nvSpPr>
          <p:cNvPr id="16" name="label-332"/>
          <p:cNvSpPr txBox="1"/>
          <p:nvPr/>
        </p:nvSpPr>
        <p:spPr>
          <a:xfrm>
            <a:off x="548640" y="4937760"/>
            <a:ext cx="5120640" cy="640080"/>
          </a:xfrm>
          <a:prstGeom prst="rect">
            <a:avLst/>
          </a:prstGeom>
          <a:noFill/>
          <a:ln/>
        </p:spPr>
        <p:txBody>
          <a:bodyPr wrap="square" lIns="762" tIns="762" rIns="762" bIns="762" rtlCol="0" anchor="ctr"/>
          <a:lstStyle/>
          <a:p>
            <a:pPr algn="ctr" indent="0" marL="0">
              <a:buNone/>
            </a:pPr>
            <a:r>
              <a:rPr lang="en-US" sz="1500" b="1" dirty="0">
                <a:solidFill>
                  <a:schemeClr val="bg1"/>
                </a:solidFill>
              </a:rPr>
              <a:t>frontend (nginx)</a:t>
            </a:r>
            <a:endParaRPr lang="en-US" sz="1500" dirty="0"/>
          </a:p>
        </p:txBody>
      </p:sp>
      <p:sp>
        <p:nvSpPr>
          <p:cNvPr id="17" name="text-333"/>
          <p:cNvSpPr txBox="1"/>
          <p:nvPr/>
        </p:nvSpPr>
        <p:spPr>
          <a:xfrm>
            <a:off x="548640" y="5715000"/>
            <a:ext cx="5120640" cy="457200"/>
          </a:xfrm>
          <a:prstGeom prst="rect">
            <a:avLst/>
          </a:prstGeom>
          <a:noFill/>
          <a:ln/>
        </p:spPr>
        <p:txBody>
          <a:bodyPr wrap="square" lIns="0" tIns="0" rIns="0" bIns="0" rtlCol="0" anchor="t"/>
          <a:lstStyle/>
          <a:p>
            <a:pPr algn="l" indent="0" marL="0">
              <a:buNone/>
            </a:pPr>
            <a:r>
              <a:rPr lang="en-US" sz="1200" dirty="0">
                <a:solidFill>
                  <a:schemeClr val="accent6"/>
                </a:solidFill>
              </a:rPr>
              <a:t>Con docker compose, cada servicio espera a que el anterior esté listo</a:t>
            </a:r>
            <a:endParaRPr lang="en-US" sz="1200" dirty="0"/>
          </a:p>
        </p:txBody>
      </p:sp>
      <p:sp>
        <p:nvSpPr>
          <p:cNvPr id="18" name="circle-334"/>
          <p:cNvSpPr/>
          <p:nvPr/>
        </p:nvSpPr>
        <p:spPr>
          <a:xfrm>
            <a:off x="6172200" y="1325880"/>
            <a:ext cx="548640" cy="548640"/>
          </a:xfrm>
          <a:prstGeom prst="ellipse">
            <a:avLst/>
          </a:prstGeom>
          <a:solidFill>
            <a:schemeClr val="accent2"/>
          </a:solidFill>
          <a:ln/>
        </p:spPr>
      </p:sp>
      <p:pic>
        <p:nvPicPr>
          <p:cNvPr id="19" name="icon-335" descr="preencoded.png">    </p:cNvPr>
          <p:cNvPicPr>
            <a:picLocks noChangeAspect="1"/>
          </p:cNvPicPr>
          <p:nvPr/>
        </p:nvPicPr>
        <p:blipFill>
          <a:blip r:embed="rId1"/>
          <a:stretch>
            <a:fillRect/>
          </a:stretch>
        </p:blipFill>
        <p:spPr>
          <a:xfrm>
            <a:off x="6309360" y="1463040"/>
            <a:ext cx="274320" cy="274320"/>
          </a:xfrm>
          <a:prstGeom prst="rect">
            <a:avLst/>
          </a:prstGeom>
        </p:spPr>
      </p:pic>
      <p:sp>
        <p:nvSpPr>
          <p:cNvPr id="20" name="text-336"/>
          <p:cNvSpPr txBox="1"/>
          <p:nvPr/>
        </p:nvSpPr>
        <p:spPr>
          <a:xfrm>
            <a:off x="6903720" y="1280160"/>
            <a:ext cx="4709160" cy="411480"/>
          </a:xfrm>
          <a:prstGeom prst="rect">
            <a:avLst/>
          </a:prstGeom>
          <a:noFill/>
          <a:ln/>
        </p:spPr>
        <p:txBody>
          <a:bodyPr wrap="square" lIns="0" tIns="0" rIns="0" bIns="0" rtlCol="0" anchor="ctr"/>
          <a:lstStyle/>
          <a:p>
            <a:pPr algn="l" indent="0" marL="0">
              <a:buNone/>
            </a:pPr>
            <a:r>
              <a:rPr lang="en-US" sz="1700" b="1" dirty="0">
                <a:solidFill>
                  <a:schemeClr val="tx1"/>
                </a:solidFill>
              </a:rPr>
              <a:t>Los que reciben parten primero</a:t>
            </a:r>
            <a:endParaRPr lang="en-US" sz="1700" dirty="0"/>
          </a:p>
        </p:txBody>
      </p:sp>
      <p:sp>
        <p:nvSpPr>
          <p:cNvPr id="21" name="text-337"/>
          <p:cNvSpPr txBox="1"/>
          <p:nvPr/>
        </p:nvSpPr>
        <p:spPr>
          <a:xfrm>
            <a:off x="6903720" y="1737360"/>
            <a:ext cx="4709160" cy="868680"/>
          </a:xfrm>
          <a:prstGeom prst="rect">
            <a:avLst/>
          </a:prstGeom>
          <a:noFill/>
          <a:ln/>
        </p:spPr>
        <p:txBody>
          <a:bodyPr wrap="square" lIns="0" tIns="0" rIns="0" bIns="0" rtlCol="0" anchor="t"/>
          <a:lstStyle/>
          <a:p>
            <a:pPr algn="l" indent="0" marL="0">
              <a:buNone/>
            </a:pPr>
            <a:r>
              <a:rPr lang="en-US" sz="1500" dirty="0">
                <a:solidFill>
                  <a:schemeClr val="tx1"/>
                </a:solidFill>
              </a:rPr>
              <a:t>Ellos crean sus colas. Si ms-reservas partiera antes, sus mensajes no tendrían dónde llegar.</a:t>
            </a:r>
            <a:endParaRPr lang="en-US" sz="1500" dirty="0"/>
          </a:p>
        </p:txBody>
      </p:sp>
      <p:sp>
        <p:nvSpPr>
          <p:cNvPr id="22" name="circle-338"/>
          <p:cNvSpPr/>
          <p:nvPr/>
        </p:nvSpPr>
        <p:spPr>
          <a:xfrm>
            <a:off x="6172200" y="2834640"/>
            <a:ext cx="548640" cy="548640"/>
          </a:xfrm>
          <a:prstGeom prst="ellipse">
            <a:avLst/>
          </a:prstGeom>
          <a:solidFill>
            <a:schemeClr val="accent1"/>
          </a:solidFill>
          <a:ln/>
        </p:spPr>
      </p:sp>
      <p:pic>
        <p:nvPicPr>
          <p:cNvPr id="23" name="icon-339" descr="preencoded.png">    </p:cNvPr>
          <p:cNvPicPr>
            <a:picLocks noChangeAspect="1"/>
          </p:cNvPicPr>
          <p:nvPr/>
        </p:nvPicPr>
        <p:blipFill>
          <a:blip r:embed="rId2"/>
          <a:stretch>
            <a:fillRect/>
          </a:stretch>
        </p:blipFill>
        <p:spPr>
          <a:xfrm>
            <a:off x="6309360" y="2971800"/>
            <a:ext cx="274320" cy="274320"/>
          </a:xfrm>
          <a:prstGeom prst="rect">
            <a:avLst/>
          </a:prstGeom>
        </p:spPr>
      </p:pic>
      <p:sp>
        <p:nvSpPr>
          <p:cNvPr id="24" name="text-340"/>
          <p:cNvSpPr txBox="1"/>
          <p:nvPr/>
        </p:nvSpPr>
        <p:spPr>
          <a:xfrm>
            <a:off x="6903720" y="2788920"/>
            <a:ext cx="4709160" cy="411480"/>
          </a:xfrm>
          <a:prstGeom prst="rect">
            <a:avLst/>
          </a:prstGeom>
          <a:noFill/>
          <a:ln/>
        </p:spPr>
        <p:txBody>
          <a:bodyPr wrap="square" lIns="0" tIns="0" rIns="0" bIns="0" rtlCol="0" anchor="ctr"/>
          <a:lstStyle/>
          <a:p>
            <a:pPr algn="l" indent="0" marL="0">
              <a:buNone/>
            </a:pPr>
            <a:r>
              <a:rPr lang="en-US" sz="1700" b="1" dirty="0">
                <a:solidFill>
                  <a:schemeClr val="tx1"/>
                </a:solidFill>
              </a:rPr>
              <a:t>Nada se pierde al reiniciar</a:t>
            </a:r>
            <a:endParaRPr lang="en-US" sz="1700" dirty="0"/>
          </a:p>
        </p:txBody>
      </p:sp>
      <p:sp>
        <p:nvSpPr>
          <p:cNvPr id="25" name="text-341"/>
          <p:cNvSpPr txBox="1"/>
          <p:nvPr/>
        </p:nvSpPr>
        <p:spPr>
          <a:xfrm>
            <a:off x="6903720" y="3246120"/>
            <a:ext cx="4709160" cy="868680"/>
          </a:xfrm>
          <a:prstGeom prst="rect">
            <a:avLst/>
          </a:prstGeom>
          <a:noFill/>
          <a:ln/>
        </p:spPr>
        <p:txBody>
          <a:bodyPr wrap="square" lIns="0" tIns="0" rIns="0" bIns="0" rtlCol="0" anchor="t"/>
          <a:lstStyle/>
          <a:p>
            <a:pPr algn="l" indent="0" marL="0">
              <a:buNone/>
            </a:pPr>
            <a:r>
              <a:rPr lang="en-US" sz="1500" dirty="0">
                <a:solidFill>
                  <a:schemeClr val="tx1"/>
                </a:solidFill>
              </a:rPr>
              <a:t>MySQL y RabbitMQ guardan sus datos en disco: las colas y sus mensajes siguen ahí después de apagar todo.</a:t>
            </a:r>
            <a:endParaRPr lang="en-US" sz="1500" dirty="0"/>
          </a:p>
        </p:txBody>
      </p:sp>
      <p:sp>
        <p:nvSpPr>
          <p:cNvPr id="26" name="circle-342"/>
          <p:cNvSpPr/>
          <p:nvPr/>
        </p:nvSpPr>
        <p:spPr>
          <a:xfrm>
            <a:off x="6172200" y="4343400"/>
            <a:ext cx="548640" cy="548640"/>
          </a:xfrm>
          <a:prstGeom prst="ellipse">
            <a:avLst/>
          </a:prstGeom>
          <a:solidFill>
            <a:schemeClr val="accent3"/>
          </a:solidFill>
          <a:ln/>
        </p:spPr>
      </p:sp>
      <p:pic>
        <p:nvPicPr>
          <p:cNvPr id="27" name="icon-343" descr="preencoded.png">    </p:cNvPr>
          <p:cNvPicPr>
            <a:picLocks noChangeAspect="1"/>
          </p:cNvPicPr>
          <p:nvPr/>
        </p:nvPicPr>
        <p:blipFill>
          <a:blip r:embed="rId3"/>
          <a:stretch>
            <a:fillRect/>
          </a:stretch>
        </p:blipFill>
        <p:spPr>
          <a:xfrm>
            <a:off x="6309360" y="4480560"/>
            <a:ext cx="274320" cy="274320"/>
          </a:xfrm>
          <a:prstGeom prst="rect">
            <a:avLst/>
          </a:prstGeom>
        </p:spPr>
      </p:pic>
      <p:sp>
        <p:nvSpPr>
          <p:cNvPr id="28" name="text-344"/>
          <p:cNvSpPr txBox="1"/>
          <p:nvPr/>
        </p:nvSpPr>
        <p:spPr>
          <a:xfrm>
            <a:off x="6903720" y="4297680"/>
            <a:ext cx="4709160" cy="411480"/>
          </a:xfrm>
          <a:prstGeom prst="rect">
            <a:avLst/>
          </a:prstGeom>
          <a:noFill/>
          <a:ln/>
        </p:spPr>
        <p:txBody>
          <a:bodyPr wrap="square" lIns="0" tIns="0" rIns="0" bIns="0" rtlCol="0" anchor="ctr"/>
          <a:lstStyle/>
          <a:p>
            <a:pPr algn="l" indent="0" marL="0">
              <a:buNone/>
            </a:pPr>
            <a:r>
              <a:rPr lang="en-US" sz="1700" b="1" dirty="0">
                <a:solidFill>
                  <a:schemeClr val="tx1"/>
                </a:solidFill>
              </a:rPr>
              <a:t>Se puede ver qué pasa</a:t>
            </a:r>
            <a:endParaRPr lang="en-US" sz="1700" dirty="0"/>
          </a:p>
        </p:txBody>
      </p:sp>
      <p:sp>
        <p:nvSpPr>
          <p:cNvPr id="29" name="text-345"/>
          <p:cNvSpPr txBox="1"/>
          <p:nvPr/>
        </p:nvSpPr>
        <p:spPr>
          <a:xfrm>
            <a:off x="6903720" y="4754880"/>
            <a:ext cx="4709160" cy="868680"/>
          </a:xfrm>
          <a:prstGeom prst="rect">
            <a:avLst/>
          </a:prstGeom>
          <a:noFill/>
          <a:ln/>
        </p:spPr>
        <p:txBody>
          <a:bodyPr wrap="square" lIns="0" tIns="0" rIns="0" bIns="0" rtlCol="0" anchor="t"/>
          <a:lstStyle/>
          <a:p>
            <a:pPr algn="l" indent="0" marL="0">
              <a:buNone/>
            </a:pPr>
            <a:r>
              <a:rPr lang="en-US" sz="1500" dirty="0">
                <a:solidFill>
                  <a:schemeClr val="tx1"/>
                </a:solidFill>
              </a:rPr>
              <a:t>El panel web de RabbitMQ (localhost:15672) muestra las colas y los mensajes, y cada servicio deja un log.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Lo que hay que llevarse</a:t>
            </a:r>
            <a:endParaRPr lang="en-US" sz="3200" dirty="0"/>
          </a:p>
        </p:txBody>
      </p:sp>
      <p:sp>
        <p:nvSpPr>
          <p:cNvPr id="3" name="circle-346"/>
          <p:cNvSpPr/>
          <p:nvPr/>
        </p:nvSpPr>
        <p:spPr>
          <a:xfrm>
            <a:off x="548640" y="1371600"/>
            <a:ext cx="685800" cy="685800"/>
          </a:xfrm>
          <a:prstGeom prst="ellipse">
            <a:avLst/>
          </a:prstGeom>
          <a:solidFill>
            <a:schemeClr val="accent1"/>
          </a:solidFill>
          <a:ln/>
        </p:spPr>
      </p:sp>
      <p:pic>
        <p:nvPicPr>
          <p:cNvPr id="4" name="icon-347" descr="preencoded.png">    </p:cNvPr>
          <p:cNvPicPr>
            <a:picLocks noChangeAspect="1"/>
          </p:cNvPicPr>
          <p:nvPr/>
        </p:nvPicPr>
        <p:blipFill>
          <a:blip r:embed="rId1"/>
          <a:stretch>
            <a:fillRect/>
          </a:stretch>
        </p:blipFill>
        <p:spPr>
          <a:xfrm>
            <a:off x="720090" y="1543050"/>
            <a:ext cx="342900" cy="342900"/>
          </a:xfrm>
          <a:prstGeom prst="rect">
            <a:avLst/>
          </a:prstGeom>
        </p:spPr>
      </p:pic>
      <p:sp>
        <p:nvSpPr>
          <p:cNvPr id="5" name="text-348"/>
          <p:cNvSpPr txBox="1"/>
          <p:nvPr/>
        </p:nvSpPr>
        <p:spPr>
          <a:xfrm>
            <a:off x="1463040" y="1353312"/>
            <a:ext cx="4480560" cy="457200"/>
          </a:xfrm>
          <a:prstGeom prst="rect">
            <a:avLst/>
          </a:prstGeom>
          <a:noFill/>
          <a:ln/>
        </p:spPr>
        <p:txBody>
          <a:bodyPr wrap="square" lIns="0" tIns="0" rIns="0" bIns="0" rtlCol="0" anchor="ctr"/>
          <a:lstStyle/>
          <a:p>
            <a:pPr algn="l" indent="0" marL="0">
              <a:buNone/>
            </a:pPr>
            <a:r>
              <a:rPr lang="en-US" sz="1900" b="1" dirty="0">
                <a:solidFill>
                  <a:schemeClr val="bg1"/>
                </a:solidFill>
              </a:rPr>
              <a:t>Servicios independientes</a:t>
            </a:r>
            <a:endParaRPr lang="en-US" sz="1900" dirty="0"/>
          </a:p>
        </p:txBody>
      </p:sp>
      <p:sp>
        <p:nvSpPr>
          <p:cNvPr id="6" name="text-349"/>
          <p:cNvSpPr txBox="1"/>
          <p:nvPr/>
        </p:nvSpPr>
        <p:spPr>
          <a:xfrm>
            <a:off x="1463040" y="1828800"/>
            <a:ext cx="4480560" cy="777240"/>
          </a:xfrm>
          <a:prstGeom prst="rect">
            <a:avLst/>
          </a:prstGeom>
          <a:noFill/>
          <a:ln/>
        </p:spPr>
        <p:txBody>
          <a:bodyPr wrap="square" lIns="0" tIns="0" rIns="0" bIns="0" rtlCol="0" anchor="t"/>
          <a:lstStyle/>
          <a:p>
            <a:pPr algn="l" indent="0" marL="0">
              <a:buNone/>
            </a:pPr>
            <a:r>
              <a:rPr lang="en-US" sz="1500" dirty="0">
                <a:solidFill>
                  <a:schemeClr val="bg2"/>
                </a:solidFill>
              </a:rPr>
              <a:t>ms-reservas avisa lo que pasó y no necesita saber quién escucha.</a:t>
            </a:r>
            <a:endParaRPr lang="en-US" sz="1500" dirty="0"/>
          </a:p>
        </p:txBody>
      </p:sp>
      <p:sp>
        <p:nvSpPr>
          <p:cNvPr id="7" name="circle-350"/>
          <p:cNvSpPr/>
          <p:nvPr/>
        </p:nvSpPr>
        <p:spPr>
          <a:xfrm>
            <a:off x="6172200" y="1371600"/>
            <a:ext cx="685800" cy="685800"/>
          </a:xfrm>
          <a:prstGeom prst="ellipse">
            <a:avLst/>
          </a:prstGeom>
          <a:solidFill>
            <a:schemeClr val="accent1"/>
          </a:solidFill>
          <a:ln/>
        </p:spPr>
      </p:sp>
      <p:pic>
        <p:nvPicPr>
          <p:cNvPr id="8" name="icon-351" descr="preencoded.png">    </p:cNvPr>
          <p:cNvPicPr>
            <a:picLocks noChangeAspect="1"/>
          </p:cNvPicPr>
          <p:nvPr/>
        </p:nvPicPr>
        <p:blipFill>
          <a:blip r:embed="rId2"/>
          <a:stretch>
            <a:fillRect/>
          </a:stretch>
        </p:blipFill>
        <p:spPr>
          <a:xfrm>
            <a:off x="6343650" y="1543050"/>
            <a:ext cx="342900" cy="342900"/>
          </a:xfrm>
          <a:prstGeom prst="rect">
            <a:avLst/>
          </a:prstGeom>
        </p:spPr>
      </p:pic>
      <p:sp>
        <p:nvSpPr>
          <p:cNvPr id="9" name="text-352"/>
          <p:cNvSpPr txBox="1"/>
          <p:nvPr/>
        </p:nvSpPr>
        <p:spPr>
          <a:xfrm>
            <a:off x="7086600" y="1353312"/>
            <a:ext cx="4480560" cy="457200"/>
          </a:xfrm>
          <a:prstGeom prst="rect">
            <a:avLst/>
          </a:prstGeom>
          <a:noFill/>
          <a:ln/>
        </p:spPr>
        <p:txBody>
          <a:bodyPr wrap="square" lIns="0" tIns="0" rIns="0" bIns="0" rtlCol="0" anchor="ctr"/>
          <a:lstStyle/>
          <a:p>
            <a:pPr algn="l" indent="0" marL="0">
              <a:buNone/>
            </a:pPr>
            <a:r>
              <a:rPr lang="en-US" sz="1900" b="1" dirty="0">
                <a:solidFill>
                  <a:schemeClr val="bg1"/>
                </a:solidFill>
              </a:rPr>
              <a:t>Una cola por servicio</a:t>
            </a:r>
            <a:endParaRPr lang="en-US" sz="1900" dirty="0"/>
          </a:p>
        </p:txBody>
      </p:sp>
      <p:sp>
        <p:nvSpPr>
          <p:cNvPr id="10" name="text-353"/>
          <p:cNvSpPr txBox="1"/>
          <p:nvPr/>
        </p:nvSpPr>
        <p:spPr>
          <a:xfrm>
            <a:off x="7086600" y="1828800"/>
            <a:ext cx="4480560" cy="777240"/>
          </a:xfrm>
          <a:prstGeom prst="rect">
            <a:avLst/>
          </a:prstGeom>
          <a:noFill/>
          <a:ln/>
        </p:spPr>
        <p:txBody>
          <a:bodyPr wrap="square" lIns="0" tIns="0" rIns="0" bIns="0" rtlCol="0" anchor="t"/>
          <a:lstStyle/>
          <a:p>
            <a:pPr algn="l" indent="0" marL="0">
              <a:buNone/>
            </a:pPr>
            <a:r>
              <a:rPr lang="en-US" sz="1500" dirty="0">
                <a:solidFill>
                  <a:schemeClr val="bg2"/>
                </a:solidFill>
              </a:rPr>
              <a:t>Cada servicio que escucha recibe su propia copia del mensaje.</a:t>
            </a:r>
            <a:endParaRPr lang="en-US" sz="1500" dirty="0"/>
          </a:p>
        </p:txBody>
      </p:sp>
      <p:sp>
        <p:nvSpPr>
          <p:cNvPr id="11" name="circle-354"/>
          <p:cNvSpPr/>
          <p:nvPr/>
        </p:nvSpPr>
        <p:spPr>
          <a:xfrm>
            <a:off x="548640" y="2971800"/>
            <a:ext cx="685800" cy="685800"/>
          </a:xfrm>
          <a:prstGeom prst="ellipse">
            <a:avLst/>
          </a:prstGeom>
          <a:solidFill>
            <a:schemeClr val="accent1"/>
          </a:solidFill>
          <a:ln/>
        </p:spPr>
      </p:sp>
      <p:pic>
        <p:nvPicPr>
          <p:cNvPr id="12" name="icon-355" descr="preencoded.png">    </p:cNvPr>
          <p:cNvPicPr>
            <a:picLocks noChangeAspect="1"/>
          </p:cNvPicPr>
          <p:nvPr/>
        </p:nvPicPr>
        <p:blipFill>
          <a:blip r:embed="rId3"/>
          <a:stretch>
            <a:fillRect/>
          </a:stretch>
        </p:blipFill>
        <p:spPr>
          <a:xfrm>
            <a:off x="720090" y="3143250"/>
            <a:ext cx="342900" cy="342900"/>
          </a:xfrm>
          <a:prstGeom prst="rect">
            <a:avLst/>
          </a:prstGeom>
        </p:spPr>
      </p:pic>
      <p:sp>
        <p:nvSpPr>
          <p:cNvPr id="13" name="text-356"/>
          <p:cNvSpPr txBox="1"/>
          <p:nvPr/>
        </p:nvSpPr>
        <p:spPr>
          <a:xfrm>
            <a:off x="1463040" y="2953512"/>
            <a:ext cx="4480560" cy="457200"/>
          </a:xfrm>
          <a:prstGeom prst="rect">
            <a:avLst/>
          </a:prstGeom>
          <a:noFill/>
          <a:ln/>
        </p:spPr>
        <p:txBody>
          <a:bodyPr wrap="square" lIns="0" tIns="0" rIns="0" bIns="0" rtlCol="0" anchor="ctr"/>
          <a:lstStyle/>
          <a:p>
            <a:pPr algn="l" indent="0" marL="0">
              <a:buNone/>
            </a:pPr>
            <a:r>
              <a:rPr lang="en-US" sz="1900" b="1" dirty="0">
                <a:solidFill>
                  <a:schemeClr val="bg1"/>
                </a:solidFill>
              </a:rPr>
              <a:t>Sin avisos falsos</a:t>
            </a:r>
            <a:endParaRPr lang="en-US" sz="1900" dirty="0"/>
          </a:p>
        </p:txBody>
      </p:sp>
      <p:sp>
        <p:nvSpPr>
          <p:cNvPr id="14" name="text-357"/>
          <p:cNvSpPr txBox="1"/>
          <p:nvPr/>
        </p:nvSpPr>
        <p:spPr>
          <a:xfrm>
            <a:off x="1463040" y="3429000"/>
            <a:ext cx="4480560" cy="777240"/>
          </a:xfrm>
          <a:prstGeom prst="rect">
            <a:avLst/>
          </a:prstGeom>
          <a:noFill/>
          <a:ln/>
        </p:spPr>
        <p:txBody>
          <a:bodyPr wrap="square" lIns="0" tIns="0" rIns="0" bIns="0" rtlCol="0" anchor="t"/>
          <a:lstStyle/>
          <a:p>
            <a:pPr algn="l" indent="0" marL="0">
              <a:buNone/>
            </a:pPr>
            <a:r>
              <a:rPr lang="en-US" sz="1500" dirty="0">
                <a:solidFill>
                  <a:schemeClr val="bg2"/>
                </a:solidFill>
              </a:rPr>
              <a:t>El mensaje solo sale si la reserva quedó guardada.</a:t>
            </a:r>
            <a:endParaRPr lang="en-US" sz="1500" dirty="0"/>
          </a:p>
        </p:txBody>
      </p:sp>
      <p:sp>
        <p:nvSpPr>
          <p:cNvPr id="15" name="circle-358"/>
          <p:cNvSpPr/>
          <p:nvPr/>
        </p:nvSpPr>
        <p:spPr>
          <a:xfrm>
            <a:off x="6172200" y="2971800"/>
            <a:ext cx="685800" cy="685800"/>
          </a:xfrm>
          <a:prstGeom prst="ellipse">
            <a:avLst/>
          </a:prstGeom>
          <a:solidFill>
            <a:schemeClr val="accent1"/>
          </a:solidFill>
          <a:ln/>
        </p:spPr>
      </p:sp>
      <p:pic>
        <p:nvPicPr>
          <p:cNvPr id="16" name="icon-359" descr="preencoded.png">    </p:cNvPr>
          <p:cNvPicPr>
            <a:picLocks noChangeAspect="1"/>
          </p:cNvPicPr>
          <p:nvPr/>
        </p:nvPicPr>
        <p:blipFill>
          <a:blip r:embed="rId4"/>
          <a:stretch>
            <a:fillRect/>
          </a:stretch>
        </p:blipFill>
        <p:spPr>
          <a:xfrm>
            <a:off x="6343650" y="3143250"/>
            <a:ext cx="342900" cy="342900"/>
          </a:xfrm>
          <a:prstGeom prst="rect">
            <a:avLst/>
          </a:prstGeom>
        </p:spPr>
      </p:pic>
      <p:sp>
        <p:nvSpPr>
          <p:cNvPr id="17" name="text-360"/>
          <p:cNvSpPr txBox="1"/>
          <p:nvPr/>
        </p:nvSpPr>
        <p:spPr>
          <a:xfrm>
            <a:off x="7086600" y="2953512"/>
            <a:ext cx="4480560" cy="457200"/>
          </a:xfrm>
          <a:prstGeom prst="rect">
            <a:avLst/>
          </a:prstGeom>
          <a:noFill/>
          <a:ln/>
        </p:spPr>
        <p:txBody>
          <a:bodyPr wrap="square" lIns="0" tIns="0" rIns="0" bIns="0" rtlCol="0" anchor="ctr"/>
          <a:lstStyle/>
          <a:p>
            <a:pPr algn="l" indent="0" marL="0">
              <a:buNone/>
            </a:pPr>
            <a:r>
              <a:rPr lang="en-US" sz="1900" b="1" dirty="0">
                <a:solidFill>
                  <a:schemeClr val="bg1"/>
                </a:solidFill>
              </a:rPr>
              <a:t>Sin duplicados</a:t>
            </a:r>
            <a:endParaRPr lang="en-US" sz="1900" dirty="0"/>
          </a:p>
        </p:txBody>
      </p:sp>
      <p:sp>
        <p:nvSpPr>
          <p:cNvPr id="18" name="text-361"/>
          <p:cNvSpPr txBox="1"/>
          <p:nvPr/>
        </p:nvSpPr>
        <p:spPr>
          <a:xfrm>
            <a:off x="7086600" y="3429000"/>
            <a:ext cx="4480560" cy="777240"/>
          </a:xfrm>
          <a:prstGeom prst="rect">
            <a:avLst/>
          </a:prstGeom>
          <a:noFill/>
          <a:ln/>
        </p:spPr>
        <p:txBody>
          <a:bodyPr wrap="square" lIns="0" tIns="0" rIns="0" bIns="0" rtlCol="0" anchor="t"/>
          <a:lstStyle/>
          <a:p>
            <a:pPr algn="l" indent="0" marL="0">
              <a:buNone/>
            </a:pPr>
            <a:r>
              <a:rPr lang="en-US" sz="1500" dirty="0">
                <a:solidFill>
                  <a:schemeClr val="bg2"/>
                </a:solidFill>
              </a:rPr>
              <a:t>Un mensaje repetido no crea registros ni avisos dobles.</a:t>
            </a:r>
            <a:endParaRPr lang="en-US" sz="1500" dirty="0"/>
          </a:p>
        </p:txBody>
      </p:sp>
      <p:sp>
        <p:nvSpPr>
          <p:cNvPr id="19" name="circle-362"/>
          <p:cNvSpPr/>
          <p:nvPr/>
        </p:nvSpPr>
        <p:spPr>
          <a:xfrm>
            <a:off x="548640" y="4572000"/>
            <a:ext cx="685800" cy="685800"/>
          </a:xfrm>
          <a:prstGeom prst="ellipse">
            <a:avLst/>
          </a:prstGeom>
          <a:solidFill>
            <a:schemeClr val="accent1"/>
          </a:solidFill>
          <a:ln/>
        </p:spPr>
      </p:sp>
      <p:pic>
        <p:nvPicPr>
          <p:cNvPr id="20" name="icon-363" descr="preencoded.png">    </p:cNvPr>
          <p:cNvPicPr>
            <a:picLocks noChangeAspect="1"/>
          </p:cNvPicPr>
          <p:nvPr/>
        </p:nvPicPr>
        <p:blipFill>
          <a:blip r:embed="rId5"/>
          <a:stretch>
            <a:fillRect/>
          </a:stretch>
        </p:blipFill>
        <p:spPr>
          <a:xfrm>
            <a:off x="720090" y="4743450"/>
            <a:ext cx="342900" cy="342900"/>
          </a:xfrm>
          <a:prstGeom prst="rect">
            <a:avLst/>
          </a:prstGeom>
        </p:spPr>
      </p:pic>
      <p:sp>
        <p:nvSpPr>
          <p:cNvPr id="21" name="text-364"/>
          <p:cNvSpPr txBox="1"/>
          <p:nvPr/>
        </p:nvSpPr>
        <p:spPr>
          <a:xfrm>
            <a:off x="1463040" y="4553712"/>
            <a:ext cx="4480560" cy="457200"/>
          </a:xfrm>
          <a:prstGeom prst="rect">
            <a:avLst/>
          </a:prstGeom>
          <a:noFill/>
          <a:ln/>
        </p:spPr>
        <p:txBody>
          <a:bodyPr wrap="square" lIns="0" tIns="0" rIns="0" bIns="0" rtlCol="0" anchor="ctr"/>
          <a:lstStyle/>
          <a:p>
            <a:pPr algn="l" indent="0" marL="0">
              <a:buNone/>
            </a:pPr>
            <a:r>
              <a:rPr lang="en-US" sz="1900" b="1" dirty="0">
                <a:solidFill>
                  <a:schemeClr val="bg1"/>
                </a:solidFill>
              </a:rPr>
              <a:t>Errores controlados</a:t>
            </a:r>
            <a:endParaRPr lang="en-US" sz="1900" dirty="0"/>
          </a:p>
        </p:txBody>
      </p:sp>
      <p:sp>
        <p:nvSpPr>
          <p:cNvPr id="22" name="text-365"/>
          <p:cNvSpPr txBox="1"/>
          <p:nvPr/>
        </p:nvSpPr>
        <p:spPr>
          <a:xfrm>
            <a:off x="1463040" y="5029200"/>
            <a:ext cx="4480560" cy="777240"/>
          </a:xfrm>
          <a:prstGeom prst="rect">
            <a:avLst/>
          </a:prstGeom>
          <a:noFill/>
          <a:ln/>
        </p:spPr>
        <p:txBody>
          <a:bodyPr wrap="square" lIns="0" tIns="0" rIns="0" bIns="0" rtlCol="0" anchor="t"/>
          <a:lstStyle/>
          <a:p>
            <a:pPr algn="l" indent="0" marL="0">
              <a:buNone/>
            </a:pPr>
            <a:r>
              <a:rPr lang="en-US" sz="1500" dirty="0">
                <a:solidFill>
                  <a:schemeClr val="bg2"/>
                </a:solidFill>
              </a:rPr>
              <a:t>Se reintenta y, si sigue fallando, queda en la cola de errores.</a:t>
            </a:r>
            <a:endParaRPr lang="en-US" sz="1500" dirty="0"/>
          </a:p>
        </p:txBody>
      </p:sp>
      <p:sp>
        <p:nvSpPr>
          <p:cNvPr id="23" name="circle-366"/>
          <p:cNvSpPr/>
          <p:nvPr/>
        </p:nvSpPr>
        <p:spPr>
          <a:xfrm>
            <a:off x="6172200" y="4572000"/>
            <a:ext cx="685800" cy="685800"/>
          </a:xfrm>
          <a:prstGeom prst="ellipse">
            <a:avLst/>
          </a:prstGeom>
          <a:solidFill>
            <a:schemeClr val="accent1"/>
          </a:solidFill>
          <a:ln/>
        </p:spPr>
      </p:sp>
      <p:pic>
        <p:nvPicPr>
          <p:cNvPr id="24" name="icon-367" descr="preencoded.png">    </p:cNvPr>
          <p:cNvPicPr>
            <a:picLocks noChangeAspect="1"/>
          </p:cNvPicPr>
          <p:nvPr/>
        </p:nvPicPr>
        <p:blipFill>
          <a:blip r:embed="rId6"/>
          <a:stretch>
            <a:fillRect/>
          </a:stretch>
        </p:blipFill>
        <p:spPr>
          <a:xfrm>
            <a:off x="6343650" y="4743450"/>
            <a:ext cx="342900" cy="342900"/>
          </a:xfrm>
          <a:prstGeom prst="rect">
            <a:avLst/>
          </a:prstGeom>
        </p:spPr>
      </p:pic>
      <p:sp>
        <p:nvSpPr>
          <p:cNvPr id="25" name="text-368"/>
          <p:cNvSpPr txBox="1"/>
          <p:nvPr/>
        </p:nvSpPr>
        <p:spPr>
          <a:xfrm>
            <a:off x="7086600" y="4553712"/>
            <a:ext cx="4480560" cy="457200"/>
          </a:xfrm>
          <a:prstGeom prst="rect">
            <a:avLst/>
          </a:prstGeom>
          <a:noFill/>
          <a:ln/>
        </p:spPr>
        <p:txBody>
          <a:bodyPr wrap="square" lIns="0" tIns="0" rIns="0" bIns="0" rtlCol="0" anchor="ctr"/>
          <a:lstStyle/>
          <a:p>
            <a:pPr algn="l" indent="0" marL="0">
              <a:buNone/>
            </a:pPr>
            <a:r>
              <a:rPr lang="en-US" sz="1900" b="1" dirty="0">
                <a:solidFill>
                  <a:schemeClr val="bg1"/>
                </a:solidFill>
              </a:rPr>
              <a:t>El usuario lo ve</a:t>
            </a:r>
            <a:endParaRPr lang="en-US" sz="1900" dirty="0"/>
          </a:p>
        </p:txBody>
      </p:sp>
      <p:sp>
        <p:nvSpPr>
          <p:cNvPr id="26" name="text-369"/>
          <p:cNvSpPr txBox="1"/>
          <p:nvPr/>
        </p:nvSpPr>
        <p:spPr>
          <a:xfrm>
            <a:off x="7086600" y="5029200"/>
            <a:ext cx="4480560" cy="777240"/>
          </a:xfrm>
          <a:prstGeom prst="rect">
            <a:avLst/>
          </a:prstGeom>
          <a:noFill/>
          <a:ln/>
        </p:spPr>
        <p:txBody>
          <a:bodyPr wrap="square" lIns="0" tIns="0" rIns="0" bIns="0" rtlCol="0" anchor="t"/>
          <a:lstStyle/>
          <a:p>
            <a:pPr algn="l" indent="0" marL="0">
              <a:buNone/>
            </a:pPr>
            <a:r>
              <a:rPr lang="en-US" sz="1500" dirty="0">
                <a:solidFill>
                  <a:schemeClr val="bg2"/>
                </a:solidFill>
              </a:rPr>
              <a:t>La campana del frontend muestra el aviso un momento después.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ReservaFit RabbitMQ">
  <a:themeElements>
    <a:clrScheme name="ReservaFit RabbitMQ">
      <a:dk1>
        <a:srgbClr val="1A1D26"/>
      </a:dk1>
      <a:lt1>
        <a:srgbClr val="FFFFFF"/>
      </a:lt1>
      <a:dk2>
        <a:srgbClr val="1F2433"/>
      </a:dk2>
      <a:lt2>
        <a:srgbClr val="F2F3F6"/>
      </a:lt2>
      <a:accent1>
        <a:srgbClr val="FF6B2C"/>
      </a:accent1>
      <a:accent2>
        <a:srgbClr val="14A394"/>
      </a:accent2>
      <a:accent3>
        <a:srgbClr val="7457E8"/>
      </a:accent3>
      <a:accent4>
        <a:srgbClr val="D93F46"/>
      </a:accent4>
      <a:accent5>
        <a:srgbClr val="2F6FE0"/>
      </a:accent5>
      <a:accent6>
        <a:srgbClr val="6B7285"/>
      </a:accent6>
      <a:hlink>
        <a:srgbClr val="2F6FE0"/>
      </a:hlink>
      <a:folHlink>
        <a:srgbClr val="7457E8"/>
      </a:folHlink>
    </a:clrScheme>
    <a:fontScheme name="ReservaFit RabbitMQ">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ReservaFit: mensajería con RabbitMQ</dc:title>
  <dc:subject>PptxGenJS Presentation</dc:subject>
  <dc:creator>ReservaFit</dc:creator>
  <cp:lastModifiedBy>ReservaFit</cp:lastModifiedBy>
  <cp:revision>1</cp:revision>
  <dcterms:created xsi:type="dcterms:W3CDTF">2026-10-22T15:28:48Z</dcterms:created>
  <dcterms:modified xsi:type="dcterms:W3CDTF">2026-10-22T15:28:48Z</dcterms:modified>
</cp:coreProperties>
</file>