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903945d4-cdd9-87f1-f4d6-e79ea27099a3}">
          <p14:sldIdLst>
            <p14:sldId id="256"/>
            <p14:sldId id="257"/>
            <p14:sldId id="258"/>
          </p14:sldIdLst>
        </p14:section>
        <p14:section name="Conceptos de RabbitMQ" id="{11d65c03-a0ed-71f7-9c41-43ad0e38f7e5}">
          <p14:sldIdLst>
            <p14:sldId id="259"/>
            <p14:sldId id="260"/>
            <p14:sldId id="261"/>
          </p14:sldIdLst>
        </p14:section>
        <p14:section name="Topología y flujo" id="{3b8555a3-b4df-c64b-3601-f7928a53a9b6}">
          <p14:sldIdLst>
            <p14:sldId id="262"/>
            <p14:sldId id="263"/>
            <p14:sldId id="264"/>
            <p14:sldId id="265"/>
          </p14:sldIdLst>
        </p14:section>
        <p14:section name="Confiabilidad" id="{50345d57-3c80-e97e-d5d7-b556a91a4bc7}">
          <p14:sldIdLst>
            <p14:sldId id="266"/>
            <p14:sldId id="267"/>
            <p14:sldId id="268"/>
          </p14:sldIdLst>
        </p14:section>
        <p14:section name="Frontend y operación" id="{09340268-07b1-b9ae-0a1a-a744b5a990d4}">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el backend de ReservaFit, una app para reservar horarios en gimnasios de barrio. El foco es la mensajería con RabbitMQ: cómo una reserva creada en un microservicio llega a otros dos sin que se conozcan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frontend es una SPA en React que inicia sesión con Microsoft (MSAL) y manda el token JWT al gateway. El gateway enruta por path a cada microservicio. Hay cinco servicios Spring Boot: usuarios, gimnasios, reservas y notificaciones, más el gateway. Lo importante para hoy: ms-reservas publica eventos a RabbitMQ y ms-gimnasios y ms-notificaciones los consumen. La base es un MySQL compartido, pero cada servicio solo usa sus tablas, así que la comunicación entre ellos es por HTTP o por mensajes, nunca por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ms-reservas llamara por HTTP a cada servicio que quiere saber de una reserva, quedaría acoplado a todos ellos: si uno se cae, la reserva falla o el aviso se pierde. Con un evento, ms-reservas solo anuncia 'se creó una reserva' y cada interesado tiene su propia cola. De hecho, ms-notificaciones se agregó en esta rama y el productor casi no cambió: solo se le agregaron campos al mensaje. Ojo: ms-reservas igual usa HTTP para pedir horarios a ms-gimnasios, porque ahí necesita la respuesta al tiro. Mensajes para avisar, HTTP para preguntar.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conceptos. Uno: el productor nunca escribe directo en una cola, publica en un exchange. Dos: el exchange decide a qué colas va cada mensaje. Tres: la routing key viaja con el mensaje y el binding es la regla que une una cola con el exchange. Cuatro: la cola guarda los mensajes; las nuestras son durables. Cinco: el ack es la confirmación del consumidor; mientras no llegue, RabbitMQ no borra el mensaje. Seis: cuando un mensaje se rechaza sin reencolar, la cola lo manda a su dead letter exchange y termina en una DLQ.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RabbitMQ tiene tres tipos de exchange principales. Direct compara la routing key exacta; lo usamos para el exchange de dead letters, donde cada DLQ se enlaza con su nombre. Topic permite patrones: asterisco calza exactamente una palabra y gato calza cero o más. Nuestro exchange de eventos es topic y las colas se enlazan con booking.*, que acepta created y cancelled pero no booking solo ni una key con tres palabras. Fanout copiaría todo a todas las colas; topic nos deja filtrar si en el futuro publicamos otros tipos de eventos.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distinción clave. A la izquierda, lo que hacemos: dos colas distintas enlazadas al mismo exchange con el mismo patrón, entonces cada mensaje se copia a las dos y cada servicio procesa su copia por su cuenta. A la derecha, el otro patrón: si levantara dos instancias de ms-gimnasios leyendo de la misma cola, se repartirían los mensajes, y eso sirve para escalar. En ReservaFit cada servicio es dueño de su cola y la declara en su propio RabbitConfig.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topología completa. ms-reservas publica en el exchange topic reservafit.events con la routing key booking.created o booking.cancelled. Hay dos colas enlazadas con booking.*: gimnasios.bookings, que la declara y la lee ms-gimnasios, y notificaciones.bookings, de ms-notificaciones. Abajo, la parte de errores: cada cola se crea con dos argumentos que dicen a dónde mandar un mensaje rechazado. Va al exchange direct reservafit.dlx con la routing key igual al nombre de su DLQ, y así cada servicio tiene su propia cola de mensajes muertos. Todos los nombres están en una clase RabbitNames por servicio, nunca hardcodeados.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mensaje que viaja. Lo serializa JacksonJsonMessageConverter. Tres decisiones: primero, no hay una librería compartida entre servicios; cada uno tiene su copia de BookingEvent y el contrato real son los nombres de los campos JSON. Segundo, los consumidores configuran el converter para que siempre conviertan al tipo del parámetro del listener, ignorando la cabecera de tipo que pone el productor, porque esa clase no existe en su classpath. Tercero, en esta rama se agregaron gymName, startTime y endTime: así ms-notificaciones arma el texto 'Reservaste en Fuerza Barrio Gym…' sin hacer una llamada HTTP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Recorramos una reserva de punta a punta. Uno: en el frontend el usuario pulsa Reservar y se manda POST /api/reservas al gateway con el token. Dos: ms-reservas valida que la fecha esté dentro de 30 días, que el horario no haya empezado y que no esté tomado, y guarda. Tres: en vez de mandar a RabbitMQ ahí mismo, publica un evento interno de Spring. Cuatro: se hace commit y se responde 201. Cinco: recién ahí el publisher manda el mensaje a RabbitMQ. Seis: el exchange lo copia a las dos colas. Siete: cada consumidor hace lo suyo en paralelo. Ocho: la campana del frontend lo muestra. La cancelación sigue el mismo camino con booking.cancelled.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detalle importante: ¿cuándo mandar el mensaje? Si lo mando dentro de la transacción y después la base hace rollback, por ejemplo porque otro usuario tomó el cupo al mismo tiempo, los consumidores procesarían una reserva fantasma. Por eso BookingService solo publica un evento de Spring, y @TransactionalEventListener lo ejecuta después del commit. Si falla el envío a RabbitMQ se loguea y no se le cae la respuesta al usuario. El trade-off honesto: si RabbitMQ está caído en ese instante, ese mensaje se pierde. El patrón outbox lo resolvería guardando el evento en una tabla dentro de la misma transacción; para este MVP no lo implementamos.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lado del productor activamos dos mecanismos. Publisher confirms: el broker responde ack o nack por cada mensaje publicado, en modo correlated, y si hay nack lo logueamos como error. Returns con mandatory: por defecto, si un mensaje no calza con ninguna cola, RabbitMQ lo bota sin avisar; con mandatory en true lo devuelve y lo logueamos como warning. Esto nos pasó en desarrollo: si ms-reservas arranca antes que los consumidores, todavía no existen las colas y los mensajes se perdían. Por eso hay un orden de arranque.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RabbitMQ garantiza al menos una entrega, no exactamente una. Si un consumidor procesa un mensaje y se cae antes de mandar el ack, el mensaje vuelve a la cola y se procesa de nuevo. Por eso los dos consumidores son idempotentes. ms-gimnasios usa el id de la reserva original como clave primaria, así que guardar dos veces es un upsert. ms-notificaciones revisa si ya existe una notificación para esa reserva y tipo, y además la tabla tiene una restricción única. Y cuando el mensaje es inválido, lanzan una excepción a propósito para que termine en la DLQ.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manejan los errores en los consumidores. Si el listener lanza una excepción, Spring reintenta con backoff exponencial: espera 1, 2 y 4 segundos, cuatro intentos en total. Si sigue fallando, entra DeadLetterRecoverer, una clase nuestra que extiende RejectAndDontRequeueRecoverer: loguea el mensaje con la causa raíz y lo rechaza sin reencolar. Como la cola tiene configurado el dead letter exchange, RabbitMQ lo mueve solo a la DLQ. Nadie consume las DLQ: quedan para inspección manual desde el panel, donde se pueden ver y reenviar.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Aunque la presentación es del backend, el frontend es donde se ve el resultado. La campana de notificaciones consulta GET /api/notificaciones cada 30 segundos y no consulta si la pestaña está oculta. Como el mensaje viaja por RabbitMQ después de la respuesta HTTP, justo al reservar no está listo todavía: por eso, al reservar o cancelar, el panel dispara un evento del navegador y la campana recarga 1,5 segundos después. Esto es consistencia eventual en la práctica. Elegimos polling en vez de WebSocket o SSE por simplicidad: el gateway y la seguridad ya funcionan con HTTP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Docker Compose se levantan siete contenedores. El orden importa por RabbitMQ: ms-gimnasios y ms-notificaciones declaran sus colas al arrancar, así que ms-reservas espera a que estén healthy antes de partir. Otro detalle: una cola no se puede redeclarar con argumentos distintos, RabbitMQ responde PRECONDITION_FAILED, así que si cambiamos el DLX hay que borrar la cola. Los datos de RabbitMQ están en un volumen, entonces los mensajes pendientes sobreviven a un reinicio. Para la demo uso el panel de administración en el puerto 15672.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seis ideas. Uno, el productor no conoce a los consumidores. Dos, cada consumidor tiene su cola y recibe su copia. Tres, el mensaje sale solo si la reserva se guardó, y confirms y returns nos avisan si no llegó. Cuatro, los consumidores aguantan duplicados. Cinco, los errores se reintentan y si persisten quedan en una DLQ en vez de perderse. Seis, el frontend refleja todo esto con consistencia eventual. Como mejora futura: patrón outbox para no perder eventos si RabbitMQ está caído.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4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703320"/>
            <a:ext cx="10698480" cy="109728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ReservaFit · Backend y RabbitMQ</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F24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1"/>
          <p:cNvSpPr/>
          <p:nvPr/>
        </p:nvSpPr>
        <p:spPr>
          <a:xfrm>
            <a:off x="731520" y="1051560"/>
            <a:ext cx="868680" cy="868680"/>
          </a:xfrm>
          <a:prstGeom prst="ellipse">
            <a:avLst/>
          </a:prstGeom>
          <a:solidFill>
            <a:schemeClr val="accent1"/>
          </a:solidFill>
          <a:ln/>
        </p:spPr>
      </p:sp>
      <p:pic>
        <p:nvPicPr>
          <p:cNvPr id="3" name="icon-2" descr="preencoded.png">    </p:cNvPr>
          <p:cNvPicPr>
            <a:picLocks noChangeAspect="1"/>
          </p:cNvPicPr>
          <p:nvPr/>
        </p:nvPicPr>
        <p:blipFill>
          <a:blip r:embed="rId1"/>
          <a:stretch>
            <a:fillRect/>
          </a:stretch>
        </p:blipFill>
        <p:spPr>
          <a:xfrm>
            <a:off x="948690" y="1268730"/>
            <a:ext cx="434340" cy="434340"/>
          </a:xfrm>
          <a:prstGeom prst="rect">
            <a:avLst/>
          </a:prstGeom>
        </p:spPr>
      </p:pic>
      <p:sp>
        <p:nvSpPr>
          <p:cNvPr id="4" name="Text 0"/>
          <p:cNvSpPr/>
          <p:nvPr>
            <p:ph idx="100" type="title" hasCustomPrompt="1"/>
          </p:nvPr>
        </p:nvSpPr>
        <p:spPr>
          <a:xfrm>
            <a:off x="731520" y="2103120"/>
            <a:ext cx="10698480" cy="1463040"/>
          </a:xfrm>
          <a:prstGeom prst="rect">
            <a:avLst/>
          </a:prstGeom>
          <a:noFill/>
          <a:ln/>
        </p:spPr>
        <p:txBody>
          <a:bodyPr wrap="square" lIns="0" tIns="0" rIns="0" bIns="0" rtlCol="0" anchor="b"/>
          <a:lstStyle/>
          <a:p>
            <a:pPr algn="l" indent="0" marL="0">
              <a:buNone/>
            </a:pPr>
            <a:r>
              <a:rPr lang="en-US" sz="4800" b="1" dirty="0">
                <a:solidFill>
                  <a:schemeClr val="bg1"/>
                </a:solidFill>
              </a:rPr>
              <a:t>Mensajería asíncrona con RabbitMQ</a:t>
            </a:r>
            <a:endParaRPr lang="en-US" sz="4800" dirty="0"/>
          </a:p>
        </p:txBody>
      </p:sp>
      <p:sp>
        <p:nvSpPr>
          <p:cNvPr id="5" name="Text 0"/>
          <p:cNvSpPr/>
          <p:nvPr>
            <p:ph idx="101" type="body" hasCustomPrompt="1"/>
          </p:nvPr>
        </p:nvSpPr>
        <p:spPr>
          <a:xfrm>
            <a:off x="731520" y="3703320"/>
            <a:ext cx="10698480" cy="1097280"/>
          </a:xfrm>
          <a:prstGeom prst="rect">
            <a:avLst/>
          </a:prstGeom>
          <a:noFill/>
          <a:ln/>
        </p:spPr>
        <p:txBody>
          <a:bodyPr wrap="square" lIns="0" tIns="0" rIns="0" bIns="0" rtlCol="0" anchor="t"/>
          <a:lstStyle/>
          <a:p>
            <a:pPr algn="l" indent="0" marL="0">
              <a:buNone/>
            </a:pPr>
            <a:r>
              <a:rPr lang="en-US" sz="2200" dirty="0">
                <a:solidFill>
                  <a:schemeClr val="bg2"/>
                </a:solidFill>
              </a:rPr>
              <a:t>Backend de ReservaFit: cómo viaja una reserva entre microservicios</a:t>
            </a:r>
            <a:endParaRPr lang="en-US" sz="2200" dirty="0"/>
          </a:p>
        </p:txBody>
      </p:sp>
      <p:sp>
        <p:nvSpPr>
          <p:cNvPr id="6" name="text-3"/>
          <p:cNvSpPr txBox="1"/>
          <p:nvPr/>
        </p:nvSpPr>
        <p:spPr>
          <a:xfrm>
            <a:off x="731520" y="5760720"/>
            <a:ext cx="10698480" cy="365760"/>
          </a:xfrm>
          <a:prstGeom prst="rect">
            <a:avLst/>
          </a:prstGeom>
          <a:noFill/>
          <a:ln/>
        </p:spPr>
        <p:txBody>
          <a:bodyPr wrap="square" lIns="0" tIns="0" rIns="0" bIns="0" rtlCol="0" anchor="ctr"/>
          <a:lstStyle/>
          <a:p>
            <a:pPr algn="l" indent="0" marL="0">
              <a:buNone/>
            </a:pPr>
            <a:r>
              <a:rPr lang="en-US" sz="1400" dirty="0">
                <a:solidFill>
                  <a:schemeClr val="accent6"/>
                </a:solidFill>
              </a:rPr>
              <a:t>Spring Boot 4 · Spring AMQP · RabbitMQ · MySQL · Docker Compose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Arquitectura: cinco servicios detrás de un gateway</a:t>
            </a:r>
            <a:endParaRPr lang="en-US" sz="3200" dirty="0"/>
          </a:p>
        </p:txBody>
      </p:sp>
      <p:sp>
        <p:nvSpPr>
          <p:cNvPr id="3" name="box-4"/>
          <p:cNvSpPr/>
          <p:nvPr/>
        </p:nvSpPr>
        <p:spPr>
          <a:xfrm>
            <a:off x="548640" y="2514600"/>
            <a:ext cx="1737360" cy="1188720"/>
          </a:xfrm>
          <a:prstGeom prst="roundRect">
            <a:avLst>
              <a:gd name="adj" fmla="val 9231"/>
            </a:avLst>
          </a:prstGeom>
          <a:solidFill>
            <a:schemeClr val="accent5"/>
          </a:solidFill>
          <a:ln/>
        </p:spPr>
      </p:sp>
      <p:sp>
        <p:nvSpPr>
          <p:cNvPr id="4" name="label-5"/>
          <p:cNvSpPr txBox="1"/>
          <p:nvPr/>
        </p:nvSpPr>
        <p:spPr>
          <a:xfrm>
            <a:off x="548640" y="2514600"/>
            <a:ext cx="1737360" cy="1188720"/>
          </a:xfrm>
          <a:prstGeom prst="rect">
            <a:avLst/>
          </a:prstGeom>
          <a:noFill/>
          <a:ln/>
        </p:spPr>
        <p:txBody>
          <a:bodyPr wrap="square" lIns="762" tIns="762" rIns="762" bIns="762" rtlCol="0" anchor="ctr"/>
          <a:lstStyle/>
          <a:p>
            <a:pPr algn="ctr" indent="0" marL="0">
              <a:buNone/>
            </a:pPr>
            <a:r>
              <a:rPr lang="en-US" sz="1500" b="1" dirty="0">
                <a:solidFill>
                  <a:schemeClr val="bg1"/>
                </a:solidFill>
              </a:rPr>
              <a:t>Frontend SPA</a:t>
            </a:r>
            <a:endParaRPr lang="en-US" sz="1500" dirty="0"/>
          </a:p>
          <a:p>
            <a:pPr algn="ctr" indent="0" marL="0">
              <a:buNone/>
            </a:pPr>
            <a:r>
              <a:rPr lang="en-US" sz="1500" dirty="0">
                <a:solidFill>
                  <a:schemeClr val="bg1"/>
                </a:solidFill>
              </a:rPr>
              <a:t>React + MSAL</a:t>
            </a:r>
            <a:endParaRPr lang="en-US" sz="1500" dirty="0"/>
          </a:p>
        </p:txBody>
      </p:sp>
      <p:sp>
        <p:nvSpPr>
          <p:cNvPr id="5" name="arrow-6"/>
          <p:cNvSpPr/>
          <p:nvPr/>
        </p:nvSpPr>
        <p:spPr>
          <a:xfrm>
            <a:off x="2286000" y="3108960"/>
            <a:ext cx="822960" cy="914"/>
          </a:xfrm>
          <a:prstGeom prst="line">
            <a:avLst/>
          </a:prstGeom>
          <a:noFill/>
          <a:ln w="25400">
            <a:solidFill>
              <a:schemeClr val="accent6"/>
            </a:solidFill>
            <a:prstDash val="solid"/>
            <a:tailEnd type="triangle"/>
          </a:ln>
        </p:spPr>
      </p:sp>
      <p:sp>
        <p:nvSpPr>
          <p:cNvPr id="6" name="text-7"/>
          <p:cNvSpPr txBox="1"/>
          <p:nvPr/>
        </p:nvSpPr>
        <p:spPr>
          <a:xfrm>
            <a:off x="2240280" y="2651760"/>
            <a:ext cx="914400" cy="365760"/>
          </a:xfrm>
          <a:prstGeom prst="rect">
            <a:avLst/>
          </a:prstGeom>
          <a:noFill/>
          <a:ln/>
        </p:spPr>
        <p:txBody>
          <a:bodyPr wrap="square" lIns="0" tIns="0" rIns="0" bIns="0" rtlCol="0" anchor="ctr"/>
          <a:lstStyle/>
          <a:p>
            <a:pPr algn="ctr" indent="0" marL="0">
              <a:buNone/>
            </a:pPr>
            <a:r>
              <a:rPr lang="en-US" sz="1100" dirty="0">
                <a:solidFill>
                  <a:schemeClr val="accent6"/>
                </a:solidFill>
              </a:rPr>
              <a:t>HTTP + JWT</a:t>
            </a:r>
            <a:endParaRPr lang="en-US" sz="1100" dirty="0"/>
          </a:p>
        </p:txBody>
      </p:sp>
      <p:sp>
        <p:nvSpPr>
          <p:cNvPr id="7" name="box-8"/>
          <p:cNvSpPr/>
          <p:nvPr/>
        </p:nvSpPr>
        <p:spPr>
          <a:xfrm>
            <a:off x="3108960" y="2514600"/>
            <a:ext cx="1737360" cy="1188720"/>
          </a:xfrm>
          <a:prstGeom prst="roundRect">
            <a:avLst>
              <a:gd name="adj" fmla="val 9231"/>
            </a:avLst>
          </a:prstGeom>
          <a:solidFill>
            <a:schemeClr val="tx2"/>
          </a:solidFill>
          <a:ln/>
        </p:spPr>
      </p:sp>
      <p:sp>
        <p:nvSpPr>
          <p:cNvPr id="8" name="label-9"/>
          <p:cNvSpPr txBox="1"/>
          <p:nvPr/>
        </p:nvSpPr>
        <p:spPr>
          <a:xfrm>
            <a:off x="3108960" y="2514600"/>
            <a:ext cx="1737360" cy="1188720"/>
          </a:xfrm>
          <a:prstGeom prst="rect">
            <a:avLst/>
          </a:prstGeom>
          <a:noFill/>
          <a:ln/>
        </p:spPr>
        <p:txBody>
          <a:bodyPr wrap="square" lIns="762" tIns="762" rIns="762" bIns="762" rtlCol="0" anchor="ctr"/>
          <a:lstStyle/>
          <a:p>
            <a:pPr algn="ctr" indent="0" marL="0">
              <a:buNone/>
            </a:pPr>
            <a:r>
              <a:rPr lang="en-US" sz="1500" b="1" dirty="0">
                <a:solidFill>
                  <a:schemeClr val="bg1"/>
                </a:solidFill>
              </a:rPr>
              <a:t>API Gateway</a:t>
            </a:r>
            <a:endParaRPr lang="en-US" sz="1500" dirty="0"/>
          </a:p>
          <a:p>
            <a:pPr algn="ctr" indent="0" marL="0">
              <a:buNone/>
            </a:pPr>
            <a:r>
              <a:rPr lang="en-US" sz="1500" dirty="0">
                <a:solidFill>
                  <a:schemeClr val="bg1"/>
                </a:solidFill>
              </a:rPr>
              <a:t>:8080</a:t>
            </a:r>
            <a:endParaRPr lang="en-US" sz="1500" dirty="0"/>
          </a:p>
        </p:txBody>
      </p:sp>
      <p:sp>
        <p:nvSpPr>
          <p:cNvPr id="9" name="box-10"/>
          <p:cNvSpPr/>
          <p:nvPr/>
        </p:nvSpPr>
        <p:spPr>
          <a:xfrm>
            <a:off x="5486400" y="1325880"/>
            <a:ext cx="2377440" cy="777240"/>
          </a:xfrm>
          <a:prstGeom prst="roundRect">
            <a:avLst>
              <a:gd name="adj" fmla="val 14118"/>
            </a:avLst>
          </a:prstGeom>
          <a:solidFill>
            <a:schemeClr val="bg2"/>
          </a:solidFill>
          <a:ln/>
        </p:spPr>
      </p:sp>
      <p:sp>
        <p:nvSpPr>
          <p:cNvPr id="10" name="label-11"/>
          <p:cNvSpPr txBox="1"/>
          <p:nvPr/>
        </p:nvSpPr>
        <p:spPr>
          <a:xfrm>
            <a:off x="5486400" y="1325880"/>
            <a:ext cx="2377440" cy="777240"/>
          </a:xfrm>
          <a:prstGeom prst="rect">
            <a:avLst/>
          </a:prstGeom>
          <a:noFill/>
          <a:ln/>
        </p:spPr>
        <p:txBody>
          <a:bodyPr wrap="square" lIns="762" tIns="762" rIns="762" bIns="762" rtlCol="0" anchor="ctr"/>
          <a:lstStyle/>
          <a:p>
            <a:pPr algn="ctr" indent="0" marL="0">
              <a:buNone/>
            </a:pPr>
            <a:r>
              <a:rPr lang="en-US" sz="1400" b="1" dirty="0">
                <a:solidFill>
                  <a:schemeClr val="tx1"/>
                </a:solidFill>
              </a:rPr>
              <a:t>ms-usuarios</a:t>
            </a:r>
            <a:endParaRPr lang="en-US" sz="1400" dirty="0"/>
          </a:p>
          <a:p>
            <a:pPr algn="ctr" indent="0" marL="0">
              <a:buNone/>
            </a:pPr>
            <a:r>
              <a:rPr lang="en-US" sz="1400" dirty="0">
                <a:solidFill>
                  <a:schemeClr val="tx1"/>
                </a:solidFill>
              </a:rPr>
              <a:t>:8081</a:t>
            </a:r>
            <a:endParaRPr lang="en-US" sz="1400" dirty="0"/>
          </a:p>
        </p:txBody>
      </p:sp>
      <p:sp>
        <p:nvSpPr>
          <p:cNvPr id="11" name="arrow-12"/>
          <p:cNvSpPr/>
          <p:nvPr/>
        </p:nvSpPr>
        <p:spPr>
          <a:xfrm flipV="1">
            <a:off x="4846320" y="1714500"/>
            <a:ext cx="640080" cy="1394460"/>
          </a:xfrm>
          <a:prstGeom prst="line">
            <a:avLst/>
          </a:prstGeom>
          <a:noFill/>
          <a:ln w="19050">
            <a:solidFill>
              <a:schemeClr val="accent6"/>
            </a:solidFill>
            <a:prstDash val="solid"/>
            <a:tailEnd type="triangle"/>
          </a:ln>
        </p:spPr>
      </p:sp>
      <p:sp>
        <p:nvSpPr>
          <p:cNvPr id="12" name="box-13"/>
          <p:cNvSpPr/>
          <p:nvPr/>
        </p:nvSpPr>
        <p:spPr>
          <a:xfrm>
            <a:off x="5486400" y="2286000"/>
            <a:ext cx="2377440" cy="777240"/>
          </a:xfrm>
          <a:prstGeom prst="roundRect">
            <a:avLst>
              <a:gd name="adj" fmla="val 14118"/>
            </a:avLst>
          </a:prstGeom>
          <a:solidFill>
            <a:schemeClr val="accent2"/>
          </a:solidFill>
          <a:ln/>
        </p:spPr>
      </p:sp>
      <p:sp>
        <p:nvSpPr>
          <p:cNvPr id="13" name="label-14"/>
          <p:cNvSpPr txBox="1"/>
          <p:nvPr/>
        </p:nvSpPr>
        <p:spPr>
          <a:xfrm>
            <a:off x="5486400" y="2286000"/>
            <a:ext cx="2377440" cy="777240"/>
          </a:xfrm>
          <a:prstGeom prst="rect">
            <a:avLst/>
          </a:prstGeom>
          <a:noFill/>
          <a:ln/>
        </p:spPr>
        <p:txBody>
          <a:bodyPr wrap="square" lIns="762" tIns="762" rIns="762" bIns="762" rtlCol="0" anchor="ctr"/>
          <a:lstStyle/>
          <a:p>
            <a:pPr algn="ctr" indent="0" marL="0">
              <a:buNone/>
            </a:pPr>
            <a:r>
              <a:rPr lang="en-US" sz="1400" b="1" dirty="0">
                <a:solidFill>
                  <a:schemeClr val="bg1"/>
                </a:solidFill>
              </a:rPr>
              <a:t>ms-gimnasios</a:t>
            </a:r>
            <a:endParaRPr lang="en-US" sz="1400" dirty="0"/>
          </a:p>
          <a:p>
            <a:pPr algn="ctr" indent="0" marL="0">
              <a:buNone/>
            </a:pPr>
            <a:r>
              <a:rPr lang="en-US" sz="1400" dirty="0">
                <a:solidFill>
                  <a:schemeClr val="bg1"/>
                </a:solidFill>
              </a:rPr>
              <a:t>:8082  consume</a:t>
            </a:r>
            <a:endParaRPr lang="en-US" sz="1400" dirty="0"/>
          </a:p>
        </p:txBody>
      </p:sp>
      <p:sp>
        <p:nvSpPr>
          <p:cNvPr id="14" name="arrow-15"/>
          <p:cNvSpPr/>
          <p:nvPr/>
        </p:nvSpPr>
        <p:spPr>
          <a:xfrm flipV="1">
            <a:off x="4846320" y="2674620"/>
            <a:ext cx="640080" cy="434340"/>
          </a:xfrm>
          <a:prstGeom prst="line">
            <a:avLst/>
          </a:prstGeom>
          <a:noFill/>
          <a:ln w="19050">
            <a:solidFill>
              <a:schemeClr val="accent6"/>
            </a:solidFill>
            <a:prstDash val="solid"/>
            <a:tailEnd type="triangle"/>
          </a:ln>
        </p:spPr>
      </p:sp>
      <p:sp>
        <p:nvSpPr>
          <p:cNvPr id="15" name="box-16"/>
          <p:cNvSpPr/>
          <p:nvPr/>
        </p:nvSpPr>
        <p:spPr>
          <a:xfrm>
            <a:off x="5486400" y="3246120"/>
            <a:ext cx="2377440" cy="777240"/>
          </a:xfrm>
          <a:prstGeom prst="roundRect">
            <a:avLst>
              <a:gd name="adj" fmla="val 14118"/>
            </a:avLst>
          </a:prstGeom>
          <a:solidFill>
            <a:schemeClr val="accent1"/>
          </a:solidFill>
          <a:ln/>
        </p:spPr>
      </p:sp>
      <p:sp>
        <p:nvSpPr>
          <p:cNvPr id="16" name="label-17"/>
          <p:cNvSpPr txBox="1"/>
          <p:nvPr/>
        </p:nvSpPr>
        <p:spPr>
          <a:xfrm>
            <a:off x="5486400" y="3246120"/>
            <a:ext cx="2377440" cy="777240"/>
          </a:xfrm>
          <a:prstGeom prst="rect">
            <a:avLst/>
          </a:prstGeom>
          <a:noFill/>
          <a:ln/>
        </p:spPr>
        <p:txBody>
          <a:bodyPr wrap="square" lIns="762" tIns="762" rIns="762" bIns="762" rtlCol="0" anchor="ctr"/>
          <a:lstStyle/>
          <a:p>
            <a:pPr algn="ctr" indent="0" marL="0">
              <a:buNone/>
            </a:pPr>
            <a:r>
              <a:rPr lang="en-US" sz="1400" b="1" dirty="0">
                <a:solidFill>
                  <a:schemeClr val="bg1"/>
                </a:solidFill>
              </a:rPr>
              <a:t>ms-reservas</a:t>
            </a:r>
            <a:endParaRPr lang="en-US" sz="1400" dirty="0"/>
          </a:p>
          <a:p>
            <a:pPr algn="ctr" indent="0" marL="0">
              <a:buNone/>
            </a:pPr>
            <a:r>
              <a:rPr lang="en-US" sz="1400" dirty="0">
                <a:solidFill>
                  <a:schemeClr val="bg1"/>
                </a:solidFill>
              </a:rPr>
              <a:t>:8083  publica</a:t>
            </a:r>
            <a:endParaRPr lang="en-US" sz="1400" dirty="0"/>
          </a:p>
        </p:txBody>
      </p:sp>
      <p:sp>
        <p:nvSpPr>
          <p:cNvPr id="17" name="arrow-18"/>
          <p:cNvSpPr/>
          <p:nvPr/>
        </p:nvSpPr>
        <p:spPr>
          <a:xfrm>
            <a:off x="4846320" y="3108960"/>
            <a:ext cx="640080" cy="525780"/>
          </a:xfrm>
          <a:prstGeom prst="line">
            <a:avLst/>
          </a:prstGeom>
          <a:noFill/>
          <a:ln w="19050">
            <a:solidFill>
              <a:schemeClr val="accent6"/>
            </a:solidFill>
            <a:prstDash val="solid"/>
            <a:tailEnd type="triangle"/>
          </a:ln>
        </p:spPr>
      </p:sp>
      <p:sp>
        <p:nvSpPr>
          <p:cNvPr id="18" name="box-19"/>
          <p:cNvSpPr/>
          <p:nvPr/>
        </p:nvSpPr>
        <p:spPr>
          <a:xfrm>
            <a:off x="5486400" y="4206240"/>
            <a:ext cx="2377440" cy="777240"/>
          </a:xfrm>
          <a:prstGeom prst="roundRect">
            <a:avLst>
              <a:gd name="adj" fmla="val 14118"/>
            </a:avLst>
          </a:prstGeom>
          <a:solidFill>
            <a:schemeClr val="accent3"/>
          </a:solidFill>
          <a:ln/>
        </p:spPr>
      </p:sp>
      <p:sp>
        <p:nvSpPr>
          <p:cNvPr id="19" name="label-20"/>
          <p:cNvSpPr txBox="1"/>
          <p:nvPr/>
        </p:nvSpPr>
        <p:spPr>
          <a:xfrm>
            <a:off x="5486400" y="4206240"/>
            <a:ext cx="2377440" cy="777240"/>
          </a:xfrm>
          <a:prstGeom prst="rect">
            <a:avLst/>
          </a:prstGeom>
          <a:noFill/>
          <a:ln/>
        </p:spPr>
        <p:txBody>
          <a:bodyPr wrap="square" lIns="762" tIns="762" rIns="762" bIns="762" rtlCol="0" anchor="ctr"/>
          <a:lstStyle/>
          <a:p>
            <a:pPr algn="ctr" indent="0" marL="0">
              <a:buNone/>
            </a:pPr>
            <a:r>
              <a:rPr lang="en-US" sz="1400" b="1" dirty="0">
                <a:solidFill>
                  <a:schemeClr val="bg1"/>
                </a:solidFill>
              </a:rPr>
              <a:t>ms-notificaciones</a:t>
            </a:r>
            <a:endParaRPr lang="en-US" sz="1400" dirty="0"/>
          </a:p>
          <a:p>
            <a:pPr algn="ctr" indent="0" marL="0">
              <a:buNone/>
            </a:pPr>
            <a:r>
              <a:rPr lang="en-US" sz="1400" dirty="0">
                <a:solidFill>
                  <a:schemeClr val="bg1"/>
                </a:solidFill>
              </a:rPr>
              <a:t>:8084  consume</a:t>
            </a:r>
            <a:endParaRPr lang="en-US" sz="1400" dirty="0"/>
          </a:p>
        </p:txBody>
      </p:sp>
      <p:sp>
        <p:nvSpPr>
          <p:cNvPr id="20" name="arrow-21"/>
          <p:cNvSpPr/>
          <p:nvPr/>
        </p:nvSpPr>
        <p:spPr>
          <a:xfrm>
            <a:off x="4846320" y="3108960"/>
            <a:ext cx="640080" cy="1485900"/>
          </a:xfrm>
          <a:prstGeom prst="line">
            <a:avLst/>
          </a:prstGeom>
          <a:noFill/>
          <a:ln w="19050">
            <a:solidFill>
              <a:schemeClr val="accent6"/>
            </a:solidFill>
            <a:prstDash val="solid"/>
            <a:tailEnd type="triangle"/>
          </a:ln>
        </p:spPr>
      </p:sp>
      <p:sp>
        <p:nvSpPr>
          <p:cNvPr id="21" name="box-22"/>
          <p:cNvSpPr/>
          <p:nvPr/>
        </p:nvSpPr>
        <p:spPr>
          <a:xfrm>
            <a:off x="8778240" y="2057400"/>
            <a:ext cx="2834640" cy="2103120"/>
          </a:xfrm>
          <a:prstGeom prst="roundRect">
            <a:avLst>
              <a:gd name="adj" fmla="val 6522"/>
            </a:avLst>
          </a:prstGeom>
          <a:solidFill>
            <a:schemeClr val="bg2"/>
          </a:solidFill>
          <a:ln w="15875">
            <a:solidFill>
              <a:schemeClr val="accent1"/>
            </a:solidFill>
            <a:prstDash val="solid"/>
          </a:ln>
        </p:spPr>
      </p:sp>
      <p:pic>
        <p:nvPicPr>
          <p:cNvPr id="22" name="icon-23" descr="preencoded.png">    </p:cNvPr>
          <p:cNvPicPr>
            <a:picLocks noChangeAspect="1"/>
          </p:cNvPicPr>
          <p:nvPr/>
        </p:nvPicPr>
        <p:blipFill>
          <a:blip r:embed="rId1"/>
          <a:stretch>
            <a:fillRect/>
          </a:stretch>
        </p:blipFill>
        <p:spPr>
          <a:xfrm>
            <a:off x="9921240" y="2240280"/>
            <a:ext cx="548640" cy="548640"/>
          </a:xfrm>
          <a:prstGeom prst="rect">
            <a:avLst/>
          </a:prstGeom>
        </p:spPr>
      </p:pic>
      <p:sp>
        <p:nvSpPr>
          <p:cNvPr id="23" name="text-24"/>
          <p:cNvSpPr txBox="1"/>
          <p:nvPr/>
        </p:nvSpPr>
        <p:spPr>
          <a:xfrm>
            <a:off x="8778240" y="2834640"/>
            <a:ext cx="2834640" cy="822960"/>
          </a:xfrm>
          <a:prstGeom prst="rect">
            <a:avLst/>
          </a:prstGeom>
          <a:noFill/>
          <a:ln/>
        </p:spPr>
        <p:txBody>
          <a:bodyPr wrap="square" lIns="0" tIns="0" rIns="0" bIns="0" rtlCol="0" anchor="ctr"/>
          <a:lstStyle/>
          <a:p>
            <a:pPr algn="ctr" indent="0" marL="0">
              <a:buNone/>
            </a:pPr>
            <a:r>
              <a:rPr lang="en-US" sz="1800" b="1" dirty="0">
                <a:solidFill>
                  <a:schemeClr val="tx1"/>
                </a:solidFill>
              </a:rPr>
              <a:t>RabbitMQ</a:t>
            </a:r>
            <a:endParaRPr lang="en-US" sz="1300" dirty="0"/>
          </a:p>
          <a:p>
            <a:pPr algn="ctr" indent="0" marL="0">
              <a:buNone/>
            </a:pPr>
            <a:r>
              <a:rPr lang="en-US" sz="1300" dirty="0">
                <a:solidFill>
                  <a:schemeClr val="accent6"/>
                </a:solidFill>
              </a:rPr>
              <a:t>exchange reservafit.events</a:t>
            </a:r>
            <a:endParaRPr lang="en-US" sz="1300" dirty="0"/>
          </a:p>
        </p:txBody>
      </p:sp>
      <p:sp>
        <p:nvSpPr>
          <p:cNvPr id="24" name="arrow-25"/>
          <p:cNvSpPr/>
          <p:nvPr/>
        </p:nvSpPr>
        <p:spPr>
          <a:xfrm flipV="1">
            <a:off x="7863840" y="3429000"/>
            <a:ext cx="914400" cy="210312"/>
          </a:xfrm>
          <a:prstGeom prst="line">
            <a:avLst/>
          </a:prstGeom>
          <a:noFill/>
          <a:ln w="28575">
            <a:solidFill>
              <a:schemeClr val="accent1"/>
            </a:solidFill>
            <a:prstDash val="solid"/>
            <a:tailEnd type="triangle"/>
          </a:ln>
        </p:spPr>
      </p:sp>
      <p:sp>
        <p:nvSpPr>
          <p:cNvPr id="25" name="arrow-26"/>
          <p:cNvSpPr/>
          <p:nvPr/>
        </p:nvSpPr>
        <p:spPr>
          <a:xfrm flipH="1">
            <a:off x="7863840" y="2468880"/>
            <a:ext cx="914400" cy="205740"/>
          </a:xfrm>
          <a:prstGeom prst="line">
            <a:avLst/>
          </a:prstGeom>
          <a:noFill/>
          <a:ln w="28575">
            <a:solidFill>
              <a:schemeClr val="accent2"/>
            </a:solidFill>
            <a:prstDash val="solid"/>
            <a:tailEnd type="triangle"/>
          </a:ln>
        </p:spPr>
      </p:sp>
      <p:sp>
        <p:nvSpPr>
          <p:cNvPr id="26" name="arrow-27"/>
          <p:cNvSpPr/>
          <p:nvPr/>
        </p:nvSpPr>
        <p:spPr>
          <a:xfrm flipH="1">
            <a:off x="7863840" y="3977640"/>
            <a:ext cx="914400" cy="548640"/>
          </a:xfrm>
          <a:prstGeom prst="line">
            <a:avLst/>
          </a:prstGeom>
          <a:noFill/>
          <a:ln w="28575">
            <a:solidFill>
              <a:schemeClr val="accent3"/>
            </a:solidFill>
            <a:prstDash val="solid"/>
            <a:tailEnd type="triangle"/>
          </a:ln>
        </p:spPr>
      </p:sp>
      <p:sp>
        <p:nvSpPr>
          <p:cNvPr id="27" name="box-28"/>
          <p:cNvSpPr/>
          <p:nvPr/>
        </p:nvSpPr>
        <p:spPr>
          <a:xfrm>
            <a:off x="548640" y="5349240"/>
            <a:ext cx="11064240" cy="685800"/>
          </a:xfrm>
          <a:prstGeom prst="roundRect">
            <a:avLst>
              <a:gd name="adj" fmla="val 16000"/>
            </a:avLst>
          </a:prstGeom>
          <a:solidFill>
            <a:schemeClr val="bg2"/>
          </a:solidFill>
          <a:ln/>
        </p:spPr>
      </p:sp>
      <p:sp>
        <p:nvSpPr>
          <p:cNvPr id="28" name="label-29"/>
          <p:cNvSpPr txBox="1"/>
          <p:nvPr/>
        </p:nvSpPr>
        <p:spPr>
          <a:xfrm>
            <a:off x="548640" y="5349240"/>
            <a:ext cx="11064240" cy="685800"/>
          </a:xfrm>
          <a:prstGeom prst="rect">
            <a:avLst/>
          </a:prstGeom>
          <a:noFill/>
          <a:ln/>
        </p:spPr>
        <p:txBody>
          <a:bodyPr wrap="square" lIns="762" tIns="762" rIns="762" bIns="762" rtlCol="0" anchor="ctr"/>
          <a:lstStyle/>
          <a:p>
            <a:pPr algn="ctr" indent="0" marL="0">
              <a:buNone/>
            </a:pPr>
            <a:r>
              <a:rPr lang="en-US" sz="1300" dirty="0">
                <a:solidFill>
                  <a:schemeClr val="tx1"/>
                </a:solidFill>
              </a:rPr>
              <a:t>MySQL compartido, pero cada servicio solo toca sus propias tablas (sin FK entre servicios)</a:t>
            </a:r>
            <a:endParaRPr lang="en-US" sz="1300" dirty="0"/>
          </a:p>
        </p:txBody>
      </p:sp>
      <p:sp>
        <p:nvSpPr>
          <p:cNvPr id="29" name="text-30"/>
          <p:cNvSpPr txBox="1"/>
          <p:nvPr/>
        </p:nvSpPr>
        <p:spPr>
          <a:xfrm>
            <a:off x="548640" y="4114800"/>
            <a:ext cx="4297680" cy="822960"/>
          </a:xfrm>
          <a:prstGeom prst="rect">
            <a:avLst/>
          </a:prstGeom>
          <a:noFill/>
          <a:ln/>
        </p:spPr>
        <p:txBody>
          <a:bodyPr wrap="square" lIns="0" tIns="0" rIns="0" bIns="0" rtlCol="0" anchor="ctr"/>
          <a:lstStyle/>
          <a:p>
            <a:pPr algn="l" indent="0" marL="0">
              <a:buNone/>
            </a:pPr>
            <a:r>
              <a:rPr lang="en-US" sz="1400" dirty="0">
                <a:solidFill>
                  <a:schemeClr val="tx1"/>
                </a:solidFill>
              </a:rPr>
              <a:t>Todo pasa por el gateway: el navegador nunca habla directo con un microservicio</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¿Por qué mensajes y no solo llamadas HTTP?</a:t>
            </a:r>
            <a:endParaRPr lang="en-US" sz="3200" dirty="0"/>
          </a:p>
        </p:txBody>
      </p:sp>
      <p:sp>
        <p:nvSpPr>
          <p:cNvPr id="3" name="box-31"/>
          <p:cNvSpPr/>
          <p:nvPr/>
        </p:nvSpPr>
        <p:spPr>
          <a:xfrm>
            <a:off x="548640" y="1371600"/>
            <a:ext cx="5349240" cy="3931920"/>
          </a:xfrm>
          <a:prstGeom prst="roundRect">
            <a:avLst>
              <a:gd name="adj" fmla="val 3488"/>
            </a:avLst>
          </a:prstGeom>
          <a:solidFill>
            <a:schemeClr val="bg2"/>
          </a:solidFill>
          <a:ln/>
        </p:spPr>
      </p:sp>
      <p:sp>
        <p:nvSpPr>
          <p:cNvPr id="4" name="dot-32"/>
          <p:cNvSpPr/>
          <p:nvPr/>
        </p:nvSpPr>
        <p:spPr>
          <a:xfrm>
            <a:off x="868680" y="1645920"/>
            <a:ext cx="457200" cy="457200"/>
          </a:xfrm>
          <a:prstGeom prst="ellipse">
            <a:avLst/>
          </a:prstGeom>
          <a:solidFill>
            <a:schemeClr val="accent6"/>
          </a:solidFill>
          <a:ln/>
        </p:spPr>
      </p:sp>
      <p:sp>
        <p:nvSpPr>
          <p:cNvPr id="5" name="text-33"/>
          <p:cNvSpPr txBox="1"/>
          <p:nvPr/>
        </p:nvSpPr>
        <p:spPr>
          <a:xfrm>
            <a:off x="1463040" y="1600200"/>
            <a:ext cx="4160520" cy="548640"/>
          </a:xfrm>
          <a:prstGeom prst="rect">
            <a:avLst/>
          </a:prstGeom>
          <a:noFill/>
          <a:ln/>
        </p:spPr>
        <p:txBody>
          <a:bodyPr wrap="square" lIns="0" tIns="0" rIns="0" bIns="0" rtlCol="0" anchor="ctr"/>
          <a:lstStyle/>
          <a:p>
            <a:pPr algn="l" indent="0" marL="0">
              <a:buNone/>
            </a:pPr>
            <a:r>
              <a:rPr lang="en-US" sz="2000" b="1" dirty="0">
                <a:solidFill>
                  <a:schemeClr val="tx1"/>
                </a:solidFill>
              </a:rPr>
              <a:t>Llamada HTTP síncrona</a:t>
            </a:r>
            <a:endParaRPr lang="en-US" sz="2000" dirty="0"/>
          </a:p>
        </p:txBody>
      </p:sp>
      <p:sp>
        <p:nvSpPr>
          <p:cNvPr id="6" name="list-34"/>
          <p:cNvSpPr txBox="1"/>
          <p:nvPr/>
        </p:nvSpPr>
        <p:spPr>
          <a:xfrm>
            <a:off x="914400" y="2377440"/>
            <a:ext cx="4617720" cy="3291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ms-reservas tendría que conocer y llamar a cada servicio interesado</a:t>
            </a:r>
            <a:endParaRPr lang="en-US" sz="1600" dirty="0"/>
          </a:p>
          <a:p>
            <a:pPr marL="228600" indent="-228600">
              <a:spcAft>
                <a:spcPts val="800"/>
              </a:spcAft>
              <a:buSzPct val="100000"/>
              <a:buChar char="•"/>
            </a:pPr>
            <a:r>
              <a:rPr lang="en-US" sz="1600" dirty="0">
                <a:solidFill>
                  <a:schemeClr val="tx1"/>
                </a:solidFill>
              </a:rPr>
              <a:t>Si ms-notificaciones está caído, la reserva falla o se pierde el aviso</a:t>
            </a:r>
            <a:endParaRPr lang="en-US" sz="1600" dirty="0"/>
          </a:p>
          <a:p>
            <a:pPr marL="228600" indent="-228600">
              <a:spcAft>
                <a:spcPts val="800"/>
              </a:spcAft>
              <a:buSzPct val="100000"/>
              <a:buChar char="•"/>
            </a:pPr>
            <a:r>
              <a:rPr lang="en-US" sz="1600" dirty="0">
                <a:solidFill>
                  <a:schemeClr val="tx1"/>
                </a:solidFill>
              </a:rPr>
              <a:t>El usuario espera a que respondan todos</a:t>
            </a:r>
            <a:endParaRPr lang="en-US" sz="1600" dirty="0"/>
          </a:p>
          <a:p>
            <a:pPr marL="228600" indent="-228600">
              <a:spcAft>
                <a:spcPts val="800"/>
              </a:spcAft>
              <a:buSzPct val="100000"/>
              <a:buChar char="•"/>
            </a:pPr>
            <a:r>
              <a:rPr lang="en-US" sz="1600" dirty="0">
                <a:solidFill>
                  <a:schemeClr val="tx1"/>
                </a:solidFill>
              </a:rPr>
              <a:t>Agregar un consumidor nuevo obliga a tocar ms-reservas</a:t>
            </a:r>
            <a:endParaRPr lang="en-US" sz="1600" dirty="0"/>
          </a:p>
        </p:txBody>
      </p:sp>
      <p:sp>
        <p:nvSpPr>
          <p:cNvPr id="7" name="box-35"/>
          <p:cNvSpPr/>
          <p:nvPr/>
        </p:nvSpPr>
        <p:spPr>
          <a:xfrm>
            <a:off x="6263640" y="1371600"/>
            <a:ext cx="5349240" cy="3931920"/>
          </a:xfrm>
          <a:prstGeom prst="roundRect">
            <a:avLst>
              <a:gd name="adj" fmla="val 3488"/>
            </a:avLst>
          </a:prstGeom>
          <a:solidFill>
            <a:schemeClr val="bg2"/>
          </a:solidFill>
          <a:ln/>
        </p:spPr>
      </p:sp>
      <p:sp>
        <p:nvSpPr>
          <p:cNvPr id="8" name="dot-36"/>
          <p:cNvSpPr/>
          <p:nvPr/>
        </p:nvSpPr>
        <p:spPr>
          <a:xfrm>
            <a:off x="6583680" y="1645920"/>
            <a:ext cx="457200" cy="457200"/>
          </a:xfrm>
          <a:prstGeom prst="ellipse">
            <a:avLst/>
          </a:prstGeom>
          <a:solidFill>
            <a:schemeClr val="accent1"/>
          </a:solidFill>
          <a:ln/>
        </p:spPr>
      </p:sp>
      <p:sp>
        <p:nvSpPr>
          <p:cNvPr id="9" name="text-37"/>
          <p:cNvSpPr txBox="1"/>
          <p:nvPr/>
        </p:nvSpPr>
        <p:spPr>
          <a:xfrm>
            <a:off x="7178040" y="1600200"/>
            <a:ext cx="4160520" cy="548640"/>
          </a:xfrm>
          <a:prstGeom prst="rect">
            <a:avLst/>
          </a:prstGeom>
          <a:noFill/>
          <a:ln/>
        </p:spPr>
        <p:txBody>
          <a:bodyPr wrap="square" lIns="0" tIns="0" rIns="0" bIns="0" rtlCol="0" anchor="ctr"/>
          <a:lstStyle/>
          <a:p>
            <a:pPr algn="l" indent="0" marL="0">
              <a:buNone/>
            </a:pPr>
            <a:r>
              <a:rPr lang="en-US" sz="2000" b="1" dirty="0">
                <a:solidFill>
                  <a:schemeClr val="tx1"/>
                </a:solidFill>
              </a:rPr>
              <a:t>Evento por RabbitMQ (lo que usamos)</a:t>
            </a:r>
            <a:endParaRPr lang="en-US" sz="2000" dirty="0"/>
          </a:p>
        </p:txBody>
      </p:sp>
      <p:sp>
        <p:nvSpPr>
          <p:cNvPr id="10" name="list-38"/>
          <p:cNvSpPr txBox="1"/>
          <p:nvPr/>
        </p:nvSpPr>
        <p:spPr>
          <a:xfrm>
            <a:off x="6629400" y="2377440"/>
            <a:ext cx="4617720" cy="3291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ms-reservas publica un evento y no sabe quién lo lee</a:t>
            </a:r>
            <a:endParaRPr lang="en-US" sz="1600" dirty="0"/>
          </a:p>
          <a:p>
            <a:pPr marL="228600" indent="-228600">
              <a:spcAft>
                <a:spcPts val="800"/>
              </a:spcAft>
              <a:buSzPct val="100000"/>
              <a:buChar char="•"/>
            </a:pPr>
            <a:r>
              <a:rPr lang="en-US" sz="1600" dirty="0">
                <a:solidFill>
                  <a:schemeClr val="tx1"/>
                </a:solidFill>
              </a:rPr>
              <a:t>Si un consumidor está caído, el mensaje espera en su cola</a:t>
            </a:r>
            <a:endParaRPr lang="en-US" sz="1600" dirty="0"/>
          </a:p>
          <a:p>
            <a:pPr marL="228600" indent="-228600">
              <a:spcAft>
                <a:spcPts val="800"/>
              </a:spcAft>
              <a:buSzPct val="100000"/>
              <a:buChar char="•"/>
            </a:pPr>
            <a:r>
              <a:rPr lang="en-US" sz="1600" dirty="0">
                <a:solidFill>
                  <a:schemeClr val="tx1"/>
                </a:solidFill>
              </a:rPr>
              <a:t>El usuario recibe su 201 apenas se guarda la reserva</a:t>
            </a:r>
            <a:endParaRPr lang="en-US" sz="1600" dirty="0"/>
          </a:p>
          <a:p>
            <a:pPr marL="228600" indent="-228600">
              <a:spcAft>
                <a:spcPts val="800"/>
              </a:spcAft>
              <a:buSzPct val="100000"/>
              <a:buChar char="•"/>
            </a:pPr>
            <a:r>
              <a:rPr lang="en-US" sz="1600" dirty="0">
                <a:solidFill>
                  <a:schemeClr val="tx1"/>
                </a:solidFill>
              </a:rPr>
              <a:t>ms-notificaciones se agregó sin cambiar la lógica del productor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Conceptos clave de RabbitMQ</a:t>
            </a:r>
            <a:endParaRPr lang="en-US" sz="3200" dirty="0"/>
          </a:p>
        </p:txBody>
      </p:sp>
      <p:sp>
        <p:nvSpPr>
          <p:cNvPr id="3" name="box-39"/>
          <p:cNvSpPr/>
          <p:nvPr/>
        </p:nvSpPr>
        <p:spPr>
          <a:xfrm>
            <a:off x="548640" y="1325880"/>
            <a:ext cx="3520440" cy="2331720"/>
          </a:xfrm>
          <a:prstGeom prst="roundRect">
            <a:avLst>
              <a:gd name="adj" fmla="val 4706"/>
            </a:avLst>
          </a:prstGeom>
          <a:solidFill>
            <a:schemeClr val="bg2"/>
          </a:solidFill>
          <a:ln/>
        </p:spPr>
      </p:sp>
      <p:sp>
        <p:nvSpPr>
          <p:cNvPr id="4" name="circle-40"/>
          <p:cNvSpPr/>
          <p:nvPr/>
        </p:nvSpPr>
        <p:spPr>
          <a:xfrm>
            <a:off x="777240" y="1554480"/>
            <a:ext cx="548640" cy="548640"/>
          </a:xfrm>
          <a:prstGeom prst="ellipse">
            <a:avLst/>
          </a:prstGeom>
          <a:solidFill>
            <a:schemeClr val="accent1"/>
          </a:solidFill>
          <a:ln/>
        </p:spPr>
      </p:sp>
      <p:pic>
        <p:nvPicPr>
          <p:cNvPr id="5" name="icon-41"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42"/>
          <p:cNvSpPr txBox="1"/>
          <p:nvPr/>
        </p:nvSpPr>
        <p:spPr>
          <a:xfrm>
            <a:off x="1463040" y="1554480"/>
            <a:ext cx="2423160" cy="548640"/>
          </a:xfrm>
          <a:prstGeom prst="rect">
            <a:avLst/>
          </a:prstGeom>
          <a:noFill/>
          <a:ln/>
        </p:spPr>
        <p:txBody>
          <a:bodyPr wrap="square" lIns="0" tIns="0" rIns="0" bIns="0" rtlCol="0" anchor="ctr"/>
          <a:lstStyle/>
          <a:p>
            <a:pPr algn="l" indent="0" marL="0">
              <a:buNone/>
            </a:pPr>
            <a:r>
              <a:rPr lang="en-US" sz="1700" b="1" dirty="0">
                <a:solidFill>
                  <a:schemeClr val="tx1"/>
                </a:solidFill>
              </a:rPr>
              <a:t>Productor y consumidor</a:t>
            </a:r>
            <a:endParaRPr lang="en-US" sz="1700" dirty="0"/>
          </a:p>
        </p:txBody>
      </p:sp>
      <p:sp>
        <p:nvSpPr>
          <p:cNvPr id="7" name="text-43"/>
          <p:cNvSpPr txBox="1"/>
          <p:nvPr/>
        </p:nvSpPr>
        <p:spPr>
          <a:xfrm>
            <a:off x="777240" y="2194560"/>
            <a:ext cx="3063240" cy="914400"/>
          </a:xfrm>
          <a:prstGeom prst="rect">
            <a:avLst/>
          </a:prstGeom>
          <a:noFill/>
          <a:ln/>
        </p:spPr>
        <p:txBody>
          <a:bodyPr wrap="square" lIns="0" tIns="0" rIns="0" bIns="0" rtlCol="0" anchor="t"/>
          <a:lstStyle/>
          <a:p>
            <a:pPr algn="l" indent="0" marL="0">
              <a:buNone/>
            </a:pPr>
            <a:r>
              <a:rPr lang="en-US" sz="1400" dirty="0">
                <a:solidFill>
                  <a:schemeClr val="tx1"/>
                </a:solidFill>
              </a:rPr>
              <a:t>El productor publica en un exchange, nunca directo a una cola. El consumidor lee de una cola.</a:t>
            </a:r>
            <a:endParaRPr lang="en-US" sz="1400" dirty="0"/>
          </a:p>
        </p:txBody>
      </p:sp>
      <p:sp>
        <p:nvSpPr>
          <p:cNvPr id="8" name="text-44"/>
          <p:cNvSpPr txBox="1"/>
          <p:nvPr/>
        </p:nvSpPr>
        <p:spPr>
          <a:xfrm>
            <a:off x="777240" y="3108960"/>
            <a:ext cx="3063240" cy="411480"/>
          </a:xfrm>
          <a:prstGeom prst="rect">
            <a:avLst/>
          </a:prstGeom>
          <a:noFill/>
          <a:ln/>
        </p:spPr>
        <p:txBody>
          <a:bodyPr wrap="square" lIns="0" tIns="0" rIns="0" bIns="0" rtlCol="0" anchor="t"/>
          <a:lstStyle/>
          <a:p>
            <a:pPr algn="l" indent="0" marL="0">
              <a:buNone/>
            </a:pPr>
            <a:r>
              <a:rPr lang="en-US" sz="1200" i="1" dirty="0">
                <a:solidFill>
                  <a:schemeClr val="accent6"/>
                </a:solidFill>
              </a:rPr>
              <a:t>ms-reservas publica; ms-gimnasios y ms-notificaciones consumen</a:t>
            </a:r>
            <a:endParaRPr lang="en-US" sz="1200" dirty="0"/>
          </a:p>
        </p:txBody>
      </p:sp>
      <p:sp>
        <p:nvSpPr>
          <p:cNvPr id="9" name="box-45"/>
          <p:cNvSpPr/>
          <p:nvPr/>
        </p:nvSpPr>
        <p:spPr>
          <a:xfrm>
            <a:off x="4320540" y="1325880"/>
            <a:ext cx="3520440" cy="2331720"/>
          </a:xfrm>
          <a:prstGeom prst="roundRect">
            <a:avLst>
              <a:gd name="adj" fmla="val 4706"/>
            </a:avLst>
          </a:prstGeom>
          <a:solidFill>
            <a:schemeClr val="bg2"/>
          </a:solidFill>
          <a:ln/>
        </p:spPr>
      </p:sp>
      <p:sp>
        <p:nvSpPr>
          <p:cNvPr id="10" name="circle-46"/>
          <p:cNvSpPr/>
          <p:nvPr/>
        </p:nvSpPr>
        <p:spPr>
          <a:xfrm>
            <a:off x="4549140" y="1554480"/>
            <a:ext cx="548640" cy="548640"/>
          </a:xfrm>
          <a:prstGeom prst="ellipse">
            <a:avLst/>
          </a:prstGeom>
          <a:solidFill>
            <a:schemeClr val="accent1"/>
          </a:solidFill>
          <a:ln/>
        </p:spPr>
      </p:sp>
      <p:pic>
        <p:nvPicPr>
          <p:cNvPr id="11" name="icon-47" descr="preencoded.png">    </p:cNvPr>
          <p:cNvPicPr>
            <a:picLocks noChangeAspect="1"/>
          </p:cNvPicPr>
          <p:nvPr/>
        </p:nvPicPr>
        <p:blipFill>
          <a:blip r:embed="rId2"/>
          <a:stretch>
            <a:fillRect/>
          </a:stretch>
        </p:blipFill>
        <p:spPr>
          <a:xfrm>
            <a:off x="4686300" y="1691640"/>
            <a:ext cx="274320" cy="274320"/>
          </a:xfrm>
          <a:prstGeom prst="rect">
            <a:avLst/>
          </a:prstGeom>
        </p:spPr>
      </p:pic>
      <p:sp>
        <p:nvSpPr>
          <p:cNvPr id="12" name="text-48"/>
          <p:cNvSpPr txBox="1"/>
          <p:nvPr/>
        </p:nvSpPr>
        <p:spPr>
          <a:xfrm>
            <a:off x="5234940" y="1554480"/>
            <a:ext cx="2423160" cy="548640"/>
          </a:xfrm>
          <a:prstGeom prst="rect">
            <a:avLst/>
          </a:prstGeom>
          <a:noFill/>
          <a:ln/>
        </p:spPr>
        <p:txBody>
          <a:bodyPr wrap="square" lIns="0" tIns="0" rIns="0" bIns="0" rtlCol="0" anchor="ctr"/>
          <a:lstStyle/>
          <a:p>
            <a:pPr algn="l" indent="0" marL="0">
              <a:buNone/>
            </a:pPr>
            <a:r>
              <a:rPr lang="en-US" sz="1700" b="1" dirty="0">
                <a:solidFill>
                  <a:schemeClr val="tx1"/>
                </a:solidFill>
              </a:rPr>
              <a:t>Exchange</a:t>
            </a:r>
            <a:endParaRPr lang="en-US" sz="1700" dirty="0"/>
          </a:p>
        </p:txBody>
      </p:sp>
      <p:sp>
        <p:nvSpPr>
          <p:cNvPr id="13" name="text-49"/>
          <p:cNvSpPr txBox="1"/>
          <p:nvPr/>
        </p:nvSpPr>
        <p:spPr>
          <a:xfrm>
            <a:off x="4549140" y="2194560"/>
            <a:ext cx="3063240" cy="914400"/>
          </a:xfrm>
          <a:prstGeom prst="rect">
            <a:avLst/>
          </a:prstGeom>
          <a:noFill/>
          <a:ln/>
        </p:spPr>
        <p:txBody>
          <a:bodyPr wrap="square" lIns="0" tIns="0" rIns="0" bIns="0" rtlCol="0" anchor="t"/>
          <a:lstStyle/>
          <a:p>
            <a:pPr algn="l" indent="0" marL="0">
              <a:buNone/>
            </a:pPr>
            <a:r>
              <a:rPr lang="en-US" sz="1400" dirty="0">
                <a:solidFill>
                  <a:schemeClr val="tx1"/>
                </a:solidFill>
              </a:rPr>
              <a:t>Recibe los mensajes y decide a qué colas copiarlos según su tipo y los bindings.</a:t>
            </a:r>
            <a:endParaRPr lang="en-US" sz="1400" dirty="0"/>
          </a:p>
        </p:txBody>
      </p:sp>
      <p:sp>
        <p:nvSpPr>
          <p:cNvPr id="14" name="text-50"/>
          <p:cNvSpPr txBox="1"/>
          <p:nvPr/>
        </p:nvSpPr>
        <p:spPr>
          <a:xfrm>
            <a:off x="4549140" y="3108960"/>
            <a:ext cx="3063240" cy="411480"/>
          </a:xfrm>
          <a:prstGeom prst="rect">
            <a:avLst/>
          </a:prstGeom>
          <a:noFill/>
          <a:ln/>
        </p:spPr>
        <p:txBody>
          <a:bodyPr wrap="square" lIns="0" tIns="0" rIns="0" bIns="0" rtlCol="0" anchor="t"/>
          <a:lstStyle/>
          <a:p>
            <a:pPr algn="l" indent="0" marL="0">
              <a:buNone/>
            </a:pPr>
            <a:r>
              <a:rPr lang="en-US" sz="1200" i="1" dirty="0">
                <a:solidFill>
                  <a:schemeClr val="accent6"/>
                </a:solidFill>
              </a:rPr>
              <a:t>reservafit.events (topic)</a:t>
            </a:r>
            <a:endParaRPr lang="en-US" sz="1200" dirty="0"/>
          </a:p>
        </p:txBody>
      </p:sp>
      <p:sp>
        <p:nvSpPr>
          <p:cNvPr id="15" name="box-51"/>
          <p:cNvSpPr/>
          <p:nvPr/>
        </p:nvSpPr>
        <p:spPr>
          <a:xfrm>
            <a:off x="8092440" y="1325880"/>
            <a:ext cx="3520440" cy="2331720"/>
          </a:xfrm>
          <a:prstGeom prst="roundRect">
            <a:avLst>
              <a:gd name="adj" fmla="val 4706"/>
            </a:avLst>
          </a:prstGeom>
          <a:solidFill>
            <a:schemeClr val="bg2"/>
          </a:solidFill>
          <a:ln/>
        </p:spPr>
      </p:sp>
      <p:sp>
        <p:nvSpPr>
          <p:cNvPr id="16" name="circle-52"/>
          <p:cNvSpPr/>
          <p:nvPr/>
        </p:nvSpPr>
        <p:spPr>
          <a:xfrm>
            <a:off x="8321040" y="1554480"/>
            <a:ext cx="548640" cy="548640"/>
          </a:xfrm>
          <a:prstGeom prst="ellipse">
            <a:avLst/>
          </a:prstGeom>
          <a:solidFill>
            <a:schemeClr val="accent1"/>
          </a:solidFill>
          <a:ln/>
        </p:spPr>
      </p:sp>
      <p:pic>
        <p:nvPicPr>
          <p:cNvPr id="17" name="icon-53" descr="preencoded.png">    </p:cNvPr>
          <p:cNvPicPr>
            <a:picLocks noChangeAspect="1"/>
          </p:cNvPicPr>
          <p:nvPr/>
        </p:nvPicPr>
        <p:blipFill>
          <a:blip r:embed="rId3"/>
          <a:stretch>
            <a:fillRect/>
          </a:stretch>
        </p:blipFill>
        <p:spPr>
          <a:xfrm>
            <a:off x="8458200" y="1691640"/>
            <a:ext cx="274320" cy="274320"/>
          </a:xfrm>
          <a:prstGeom prst="rect">
            <a:avLst/>
          </a:prstGeom>
        </p:spPr>
      </p:pic>
      <p:sp>
        <p:nvSpPr>
          <p:cNvPr id="18" name="text-54"/>
          <p:cNvSpPr txBox="1"/>
          <p:nvPr/>
        </p:nvSpPr>
        <p:spPr>
          <a:xfrm>
            <a:off x="9006840" y="1554480"/>
            <a:ext cx="2423160" cy="548640"/>
          </a:xfrm>
          <a:prstGeom prst="rect">
            <a:avLst/>
          </a:prstGeom>
          <a:noFill/>
          <a:ln/>
        </p:spPr>
        <p:txBody>
          <a:bodyPr wrap="square" lIns="0" tIns="0" rIns="0" bIns="0" rtlCol="0" anchor="ctr"/>
          <a:lstStyle/>
          <a:p>
            <a:pPr algn="l" indent="0" marL="0">
              <a:buNone/>
            </a:pPr>
            <a:r>
              <a:rPr lang="en-US" sz="1700" b="1" dirty="0">
                <a:solidFill>
                  <a:schemeClr val="tx1"/>
                </a:solidFill>
              </a:rPr>
              <a:t>Routing key y binding</a:t>
            </a:r>
            <a:endParaRPr lang="en-US" sz="1700" dirty="0"/>
          </a:p>
        </p:txBody>
      </p:sp>
      <p:sp>
        <p:nvSpPr>
          <p:cNvPr id="19" name="text-55"/>
          <p:cNvSpPr txBox="1"/>
          <p:nvPr/>
        </p:nvSpPr>
        <p:spPr>
          <a:xfrm>
            <a:off x="8321040" y="2194560"/>
            <a:ext cx="3063240" cy="914400"/>
          </a:xfrm>
          <a:prstGeom prst="rect">
            <a:avLst/>
          </a:prstGeom>
          <a:noFill/>
          <a:ln/>
        </p:spPr>
        <p:txBody>
          <a:bodyPr wrap="square" lIns="0" tIns="0" rIns="0" bIns="0" rtlCol="0" anchor="t"/>
          <a:lstStyle/>
          <a:p>
            <a:pPr algn="l" indent="0" marL="0">
              <a:buNone/>
            </a:pPr>
            <a:r>
              <a:rPr lang="en-US" sz="1400" dirty="0">
                <a:solidFill>
                  <a:schemeClr val="tx1"/>
                </a:solidFill>
              </a:rPr>
              <a:t>El mensaje trae una routing key; el binding une una cola a un exchange con un patrón.</a:t>
            </a:r>
            <a:endParaRPr lang="en-US" sz="1400" dirty="0"/>
          </a:p>
        </p:txBody>
      </p:sp>
      <p:sp>
        <p:nvSpPr>
          <p:cNvPr id="20" name="text-56"/>
          <p:cNvSpPr txBox="1"/>
          <p:nvPr/>
        </p:nvSpPr>
        <p:spPr>
          <a:xfrm>
            <a:off x="8321040" y="3108960"/>
            <a:ext cx="3063240" cy="411480"/>
          </a:xfrm>
          <a:prstGeom prst="rect">
            <a:avLst/>
          </a:prstGeom>
          <a:noFill/>
          <a:ln/>
        </p:spPr>
        <p:txBody>
          <a:bodyPr wrap="square" lIns="0" tIns="0" rIns="0" bIns="0" rtlCol="0" anchor="t"/>
          <a:lstStyle/>
          <a:p>
            <a:pPr algn="l" indent="0" marL="0">
              <a:buNone/>
            </a:pPr>
            <a:r>
              <a:rPr lang="en-US" sz="1200" i="1" dirty="0">
                <a:solidFill>
                  <a:schemeClr val="accent6"/>
                </a:solidFill>
              </a:rPr>
              <a:t>key booking.created, binding booking.*</a:t>
            </a:r>
            <a:endParaRPr lang="en-US" sz="1200" dirty="0"/>
          </a:p>
        </p:txBody>
      </p:sp>
      <p:sp>
        <p:nvSpPr>
          <p:cNvPr id="21" name="box-57"/>
          <p:cNvSpPr/>
          <p:nvPr/>
        </p:nvSpPr>
        <p:spPr>
          <a:xfrm>
            <a:off x="548640" y="3931920"/>
            <a:ext cx="3520440" cy="2331720"/>
          </a:xfrm>
          <a:prstGeom prst="roundRect">
            <a:avLst>
              <a:gd name="adj" fmla="val 4706"/>
            </a:avLst>
          </a:prstGeom>
          <a:solidFill>
            <a:schemeClr val="bg2"/>
          </a:solidFill>
          <a:ln/>
        </p:spPr>
      </p:sp>
      <p:sp>
        <p:nvSpPr>
          <p:cNvPr id="22" name="circle-58"/>
          <p:cNvSpPr/>
          <p:nvPr/>
        </p:nvSpPr>
        <p:spPr>
          <a:xfrm>
            <a:off x="777240" y="4160520"/>
            <a:ext cx="548640" cy="548640"/>
          </a:xfrm>
          <a:prstGeom prst="ellipse">
            <a:avLst/>
          </a:prstGeom>
          <a:solidFill>
            <a:schemeClr val="accent2"/>
          </a:solidFill>
          <a:ln/>
        </p:spPr>
      </p:sp>
      <p:pic>
        <p:nvPicPr>
          <p:cNvPr id="23" name="icon-59" descr="preencoded.png">    </p:cNvPr>
          <p:cNvPicPr>
            <a:picLocks noChangeAspect="1"/>
          </p:cNvPicPr>
          <p:nvPr/>
        </p:nvPicPr>
        <p:blipFill>
          <a:blip r:embed="rId4"/>
          <a:stretch>
            <a:fillRect/>
          </a:stretch>
        </p:blipFill>
        <p:spPr>
          <a:xfrm>
            <a:off x="914400" y="4297680"/>
            <a:ext cx="274320" cy="274320"/>
          </a:xfrm>
          <a:prstGeom prst="rect">
            <a:avLst/>
          </a:prstGeom>
        </p:spPr>
      </p:pic>
      <p:sp>
        <p:nvSpPr>
          <p:cNvPr id="24" name="text-60"/>
          <p:cNvSpPr txBox="1"/>
          <p:nvPr/>
        </p:nvSpPr>
        <p:spPr>
          <a:xfrm>
            <a:off x="1463040" y="4160520"/>
            <a:ext cx="2423160" cy="548640"/>
          </a:xfrm>
          <a:prstGeom prst="rect">
            <a:avLst/>
          </a:prstGeom>
          <a:noFill/>
          <a:ln/>
        </p:spPr>
        <p:txBody>
          <a:bodyPr wrap="square" lIns="0" tIns="0" rIns="0" bIns="0" rtlCol="0" anchor="ctr"/>
          <a:lstStyle/>
          <a:p>
            <a:pPr algn="l" indent="0" marL="0">
              <a:buNone/>
            </a:pPr>
            <a:r>
              <a:rPr lang="en-US" sz="1700" b="1" dirty="0">
                <a:solidFill>
                  <a:schemeClr val="tx1"/>
                </a:solidFill>
              </a:rPr>
              <a:t>Cola durable</a:t>
            </a:r>
            <a:endParaRPr lang="en-US" sz="1700" dirty="0"/>
          </a:p>
        </p:txBody>
      </p:sp>
      <p:sp>
        <p:nvSpPr>
          <p:cNvPr id="25" name="text-61"/>
          <p:cNvSpPr txBox="1"/>
          <p:nvPr/>
        </p:nvSpPr>
        <p:spPr>
          <a:xfrm>
            <a:off x="777240" y="4800600"/>
            <a:ext cx="3063240" cy="914400"/>
          </a:xfrm>
          <a:prstGeom prst="rect">
            <a:avLst/>
          </a:prstGeom>
          <a:noFill/>
          <a:ln/>
        </p:spPr>
        <p:txBody>
          <a:bodyPr wrap="square" lIns="0" tIns="0" rIns="0" bIns="0" rtlCol="0" anchor="t"/>
          <a:lstStyle/>
          <a:p>
            <a:pPr algn="l" indent="0" marL="0">
              <a:buNone/>
            </a:pPr>
            <a:r>
              <a:rPr lang="en-US" sz="1400" dirty="0">
                <a:solidFill>
                  <a:schemeClr val="tx1"/>
                </a:solidFill>
              </a:rPr>
              <a:t>Guarda los mensajes hasta que alguien los procesa. Durable: sobrevive a un reinicio del broker.</a:t>
            </a:r>
            <a:endParaRPr lang="en-US" sz="1400" dirty="0"/>
          </a:p>
        </p:txBody>
      </p:sp>
      <p:sp>
        <p:nvSpPr>
          <p:cNvPr id="26" name="text-62"/>
          <p:cNvSpPr txBox="1"/>
          <p:nvPr/>
        </p:nvSpPr>
        <p:spPr>
          <a:xfrm>
            <a:off x="777240" y="5715000"/>
            <a:ext cx="3063240" cy="411480"/>
          </a:xfrm>
          <a:prstGeom prst="rect">
            <a:avLst/>
          </a:prstGeom>
          <a:noFill/>
          <a:ln/>
        </p:spPr>
        <p:txBody>
          <a:bodyPr wrap="square" lIns="0" tIns="0" rIns="0" bIns="0" rtlCol="0" anchor="t"/>
          <a:lstStyle/>
          <a:p>
            <a:pPr algn="l" indent="0" marL="0">
              <a:buNone/>
            </a:pPr>
            <a:r>
              <a:rPr lang="en-US" sz="1200" i="1" dirty="0">
                <a:solidFill>
                  <a:schemeClr val="accent6"/>
                </a:solidFill>
              </a:rPr>
              <a:t>gimnasios.bookings, notificaciones.bookings</a:t>
            </a:r>
            <a:endParaRPr lang="en-US" sz="1200" dirty="0"/>
          </a:p>
        </p:txBody>
      </p:sp>
      <p:sp>
        <p:nvSpPr>
          <p:cNvPr id="27" name="box-63"/>
          <p:cNvSpPr/>
          <p:nvPr/>
        </p:nvSpPr>
        <p:spPr>
          <a:xfrm>
            <a:off x="4320540" y="3931920"/>
            <a:ext cx="3520440" cy="2331720"/>
          </a:xfrm>
          <a:prstGeom prst="roundRect">
            <a:avLst>
              <a:gd name="adj" fmla="val 4706"/>
            </a:avLst>
          </a:prstGeom>
          <a:solidFill>
            <a:schemeClr val="bg2"/>
          </a:solidFill>
          <a:ln/>
        </p:spPr>
      </p:sp>
      <p:sp>
        <p:nvSpPr>
          <p:cNvPr id="28" name="circle-64"/>
          <p:cNvSpPr/>
          <p:nvPr/>
        </p:nvSpPr>
        <p:spPr>
          <a:xfrm>
            <a:off x="4549140" y="4160520"/>
            <a:ext cx="548640" cy="548640"/>
          </a:xfrm>
          <a:prstGeom prst="ellipse">
            <a:avLst/>
          </a:prstGeom>
          <a:solidFill>
            <a:schemeClr val="accent2"/>
          </a:solidFill>
          <a:ln/>
        </p:spPr>
      </p:sp>
      <p:pic>
        <p:nvPicPr>
          <p:cNvPr id="29" name="icon-65" descr="preencoded.png">    </p:cNvPr>
          <p:cNvPicPr>
            <a:picLocks noChangeAspect="1"/>
          </p:cNvPicPr>
          <p:nvPr/>
        </p:nvPicPr>
        <p:blipFill>
          <a:blip r:embed="rId5"/>
          <a:stretch>
            <a:fillRect/>
          </a:stretch>
        </p:blipFill>
        <p:spPr>
          <a:xfrm>
            <a:off x="4686300" y="4297680"/>
            <a:ext cx="274320" cy="274320"/>
          </a:xfrm>
          <a:prstGeom prst="rect">
            <a:avLst/>
          </a:prstGeom>
        </p:spPr>
      </p:pic>
      <p:sp>
        <p:nvSpPr>
          <p:cNvPr id="30" name="text-66"/>
          <p:cNvSpPr txBox="1"/>
          <p:nvPr/>
        </p:nvSpPr>
        <p:spPr>
          <a:xfrm>
            <a:off x="5234940" y="4160520"/>
            <a:ext cx="2423160" cy="548640"/>
          </a:xfrm>
          <a:prstGeom prst="rect">
            <a:avLst/>
          </a:prstGeom>
          <a:noFill/>
          <a:ln/>
        </p:spPr>
        <p:txBody>
          <a:bodyPr wrap="square" lIns="0" tIns="0" rIns="0" bIns="0" rtlCol="0" anchor="ctr"/>
          <a:lstStyle/>
          <a:p>
            <a:pPr algn="l" indent="0" marL="0">
              <a:buNone/>
            </a:pPr>
            <a:r>
              <a:rPr lang="en-US" sz="1700" b="1" dirty="0">
                <a:solidFill>
                  <a:schemeClr val="tx1"/>
                </a:solidFill>
              </a:rPr>
              <a:t>Ack / Nack</a:t>
            </a:r>
            <a:endParaRPr lang="en-US" sz="1700" dirty="0"/>
          </a:p>
        </p:txBody>
      </p:sp>
      <p:sp>
        <p:nvSpPr>
          <p:cNvPr id="31" name="text-67"/>
          <p:cNvSpPr txBox="1"/>
          <p:nvPr/>
        </p:nvSpPr>
        <p:spPr>
          <a:xfrm>
            <a:off x="4549140" y="4800600"/>
            <a:ext cx="3063240" cy="914400"/>
          </a:xfrm>
          <a:prstGeom prst="rect">
            <a:avLst/>
          </a:prstGeom>
          <a:noFill/>
          <a:ln/>
        </p:spPr>
        <p:txBody>
          <a:bodyPr wrap="square" lIns="0" tIns="0" rIns="0" bIns="0" rtlCol="0" anchor="t"/>
          <a:lstStyle/>
          <a:p>
            <a:pPr algn="l" indent="0" marL="0">
              <a:buNone/>
            </a:pPr>
            <a:r>
              <a:rPr lang="en-US" sz="1400" dirty="0">
                <a:solidFill>
                  <a:schemeClr val="tx1"/>
                </a:solidFill>
              </a:rPr>
              <a:t>El consumidor confirma (ack) o rechaza (nack). Sin ack, RabbitMQ no borra el mensaje.</a:t>
            </a:r>
            <a:endParaRPr lang="en-US" sz="1400" dirty="0"/>
          </a:p>
        </p:txBody>
      </p:sp>
      <p:sp>
        <p:nvSpPr>
          <p:cNvPr id="32" name="text-68"/>
          <p:cNvSpPr txBox="1"/>
          <p:nvPr/>
        </p:nvSpPr>
        <p:spPr>
          <a:xfrm>
            <a:off x="4549140" y="5715000"/>
            <a:ext cx="3063240" cy="411480"/>
          </a:xfrm>
          <a:prstGeom prst="rect">
            <a:avLst/>
          </a:prstGeom>
          <a:noFill/>
          <a:ln/>
        </p:spPr>
        <p:txBody>
          <a:bodyPr wrap="square" lIns="0" tIns="0" rIns="0" bIns="0" rtlCol="0" anchor="t"/>
          <a:lstStyle/>
          <a:p>
            <a:pPr algn="l" indent="0" marL="0">
              <a:buNone/>
            </a:pPr>
            <a:r>
              <a:rPr lang="en-US" sz="1200" i="1" dirty="0">
                <a:solidFill>
                  <a:schemeClr val="accent6"/>
                </a:solidFill>
              </a:rPr>
              <a:t>Spring hace ack si el listener termina sin excepción</a:t>
            </a:r>
            <a:endParaRPr lang="en-US" sz="1200" dirty="0"/>
          </a:p>
        </p:txBody>
      </p:sp>
      <p:sp>
        <p:nvSpPr>
          <p:cNvPr id="33" name="box-69"/>
          <p:cNvSpPr/>
          <p:nvPr/>
        </p:nvSpPr>
        <p:spPr>
          <a:xfrm>
            <a:off x="8092440" y="3931920"/>
            <a:ext cx="3520440" cy="2331720"/>
          </a:xfrm>
          <a:prstGeom prst="roundRect">
            <a:avLst>
              <a:gd name="adj" fmla="val 4706"/>
            </a:avLst>
          </a:prstGeom>
          <a:solidFill>
            <a:schemeClr val="bg2"/>
          </a:solidFill>
          <a:ln/>
        </p:spPr>
      </p:sp>
      <p:sp>
        <p:nvSpPr>
          <p:cNvPr id="34" name="circle-70"/>
          <p:cNvSpPr/>
          <p:nvPr/>
        </p:nvSpPr>
        <p:spPr>
          <a:xfrm>
            <a:off x="8321040" y="4160520"/>
            <a:ext cx="548640" cy="548640"/>
          </a:xfrm>
          <a:prstGeom prst="ellipse">
            <a:avLst/>
          </a:prstGeom>
          <a:solidFill>
            <a:schemeClr val="accent4"/>
          </a:solidFill>
          <a:ln/>
        </p:spPr>
      </p:sp>
      <p:pic>
        <p:nvPicPr>
          <p:cNvPr id="35" name="icon-71" descr="preencoded.png">    </p:cNvPr>
          <p:cNvPicPr>
            <a:picLocks noChangeAspect="1"/>
          </p:cNvPicPr>
          <p:nvPr/>
        </p:nvPicPr>
        <p:blipFill>
          <a:blip r:embed="rId6"/>
          <a:stretch>
            <a:fillRect/>
          </a:stretch>
        </p:blipFill>
        <p:spPr>
          <a:xfrm>
            <a:off x="8458200" y="4297680"/>
            <a:ext cx="274320" cy="274320"/>
          </a:xfrm>
          <a:prstGeom prst="rect">
            <a:avLst/>
          </a:prstGeom>
        </p:spPr>
      </p:pic>
      <p:sp>
        <p:nvSpPr>
          <p:cNvPr id="36" name="text-72"/>
          <p:cNvSpPr txBox="1"/>
          <p:nvPr/>
        </p:nvSpPr>
        <p:spPr>
          <a:xfrm>
            <a:off x="9006840" y="4160520"/>
            <a:ext cx="2423160" cy="548640"/>
          </a:xfrm>
          <a:prstGeom prst="rect">
            <a:avLst/>
          </a:prstGeom>
          <a:noFill/>
          <a:ln/>
        </p:spPr>
        <p:txBody>
          <a:bodyPr wrap="square" lIns="0" tIns="0" rIns="0" bIns="0" rtlCol="0" anchor="ctr"/>
          <a:lstStyle/>
          <a:p>
            <a:pPr algn="l" indent="0" marL="0">
              <a:buNone/>
            </a:pPr>
            <a:r>
              <a:rPr lang="en-US" sz="1700" b="1" dirty="0">
                <a:solidFill>
                  <a:schemeClr val="tx1"/>
                </a:solidFill>
              </a:rPr>
              <a:t>DLX y DLQ</a:t>
            </a:r>
            <a:endParaRPr lang="en-US" sz="1700" dirty="0"/>
          </a:p>
        </p:txBody>
      </p:sp>
      <p:sp>
        <p:nvSpPr>
          <p:cNvPr id="37" name="text-73"/>
          <p:cNvSpPr txBox="1"/>
          <p:nvPr/>
        </p:nvSpPr>
        <p:spPr>
          <a:xfrm>
            <a:off x="8321040" y="4800600"/>
            <a:ext cx="3063240" cy="914400"/>
          </a:xfrm>
          <a:prstGeom prst="rect">
            <a:avLst/>
          </a:prstGeom>
          <a:noFill/>
          <a:ln/>
        </p:spPr>
        <p:txBody>
          <a:bodyPr wrap="square" lIns="0" tIns="0" rIns="0" bIns="0" rtlCol="0" anchor="t"/>
          <a:lstStyle/>
          <a:p>
            <a:pPr algn="l" indent="0" marL="0">
              <a:buNone/>
            </a:pPr>
            <a:r>
              <a:rPr lang="en-US" sz="1400" dirty="0">
                <a:solidFill>
                  <a:schemeClr val="tx1"/>
                </a:solidFill>
              </a:rPr>
              <a:t>Un mensaje rechazado sin reencolar va al dead letter exchange, que lo deja en una DLQ.</a:t>
            </a:r>
            <a:endParaRPr lang="en-US" sz="1400" dirty="0"/>
          </a:p>
        </p:txBody>
      </p:sp>
      <p:sp>
        <p:nvSpPr>
          <p:cNvPr id="38" name="text-74"/>
          <p:cNvSpPr txBox="1"/>
          <p:nvPr/>
        </p:nvSpPr>
        <p:spPr>
          <a:xfrm>
            <a:off x="8321040" y="5715000"/>
            <a:ext cx="3063240" cy="411480"/>
          </a:xfrm>
          <a:prstGeom prst="rect">
            <a:avLst/>
          </a:prstGeom>
          <a:noFill/>
          <a:ln/>
        </p:spPr>
        <p:txBody>
          <a:bodyPr wrap="square" lIns="0" tIns="0" rIns="0" bIns="0" rtlCol="0" anchor="t"/>
          <a:lstStyle/>
          <a:p>
            <a:pPr algn="l" indent="0" marL="0">
              <a:buNone/>
            </a:pPr>
            <a:r>
              <a:rPr lang="en-US" sz="1200" i="1" dirty="0">
                <a:solidFill>
                  <a:schemeClr val="accent6"/>
                </a:solidFill>
              </a:rPr>
              <a:t>reservafit.dlx y *.bookings.dlq</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Tipos de exchange y por qué usamos topic</a:t>
            </a:r>
            <a:endParaRPr lang="en-US" sz="3200" dirty="0"/>
          </a:p>
        </p:txBody>
      </p:sp>
      <p:sp>
        <p:nvSpPr>
          <p:cNvPr id="3" name="box-75"/>
          <p:cNvSpPr/>
          <p:nvPr/>
        </p:nvSpPr>
        <p:spPr>
          <a:xfrm>
            <a:off x="548640" y="1371600"/>
            <a:ext cx="3520440" cy="3017520"/>
          </a:xfrm>
          <a:prstGeom prst="roundRect">
            <a:avLst>
              <a:gd name="adj" fmla="val 4545"/>
            </a:avLst>
          </a:prstGeom>
          <a:solidFill>
            <a:schemeClr val="bg2"/>
          </a:solidFill>
          <a:ln/>
        </p:spPr>
      </p:sp>
      <p:sp>
        <p:nvSpPr>
          <p:cNvPr id="4" name="text-76"/>
          <p:cNvSpPr txBox="1"/>
          <p:nvPr/>
        </p:nvSpPr>
        <p:spPr>
          <a:xfrm>
            <a:off x="822960" y="1554480"/>
            <a:ext cx="2971800" cy="548640"/>
          </a:xfrm>
          <a:prstGeom prst="rect">
            <a:avLst/>
          </a:prstGeom>
          <a:noFill/>
          <a:ln/>
        </p:spPr>
        <p:txBody>
          <a:bodyPr wrap="square" lIns="0" tIns="0" rIns="0" bIns="0" rtlCol="0" anchor="ctr"/>
          <a:lstStyle/>
          <a:p>
            <a:pPr algn="l" indent="0" marL="0">
              <a:buNone/>
            </a:pPr>
            <a:r>
              <a:rPr lang="en-US" sz="2400" b="1" dirty="0">
                <a:solidFill>
                  <a:schemeClr val="tx1"/>
                </a:solidFill>
              </a:rPr>
              <a:t>Direct</a:t>
            </a:r>
            <a:endParaRPr lang="en-US" sz="2400" dirty="0"/>
          </a:p>
        </p:txBody>
      </p:sp>
      <p:sp>
        <p:nvSpPr>
          <p:cNvPr id="5" name="text-77"/>
          <p:cNvSpPr txBox="1"/>
          <p:nvPr/>
        </p:nvSpPr>
        <p:spPr>
          <a:xfrm>
            <a:off x="822960" y="2148840"/>
            <a:ext cx="2971800" cy="914400"/>
          </a:xfrm>
          <a:prstGeom prst="rect">
            <a:avLst/>
          </a:prstGeom>
          <a:noFill/>
          <a:ln/>
        </p:spPr>
        <p:txBody>
          <a:bodyPr wrap="square" lIns="0" tIns="0" rIns="0" bIns="0" rtlCol="0" anchor="t"/>
          <a:lstStyle/>
          <a:p>
            <a:pPr algn="l" indent="0" marL="0">
              <a:buNone/>
            </a:pPr>
            <a:r>
              <a:rPr lang="en-US" sz="1500" dirty="0">
                <a:solidFill>
                  <a:schemeClr val="tx1"/>
                </a:solidFill>
              </a:rPr>
              <a:t>La routing key debe ser igual al binding.</a:t>
            </a:r>
            <a:endParaRPr lang="en-US" sz="1500" dirty="0"/>
          </a:p>
        </p:txBody>
      </p:sp>
      <p:sp>
        <p:nvSpPr>
          <p:cNvPr id="6" name="text-78"/>
          <p:cNvSpPr txBox="1"/>
          <p:nvPr/>
        </p:nvSpPr>
        <p:spPr>
          <a:xfrm>
            <a:off x="822960" y="3200400"/>
            <a:ext cx="2971800" cy="1005840"/>
          </a:xfrm>
          <a:prstGeom prst="rect">
            <a:avLst/>
          </a:prstGeom>
          <a:noFill/>
          <a:ln/>
        </p:spPr>
        <p:txBody>
          <a:bodyPr wrap="square" lIns="0" tIns="0" rIns="0" bIns="0" rtlCol="0" anchor="t"/>
          <a:lstStyle/>
          <a:p>
            <a:pPr algn="l" indent="0" marL="0">
              <a:buNone/>
            </a:pPr>
            <a:r>
              <a:rPr lang="en-US" sz="1400" i="1" dirty="0">
                <a:solidFill>
                  <a:schemeClr val="tx1"/>
                </a:solidFill>
              </a:rPr>
              <a:t>Lo usamos en reservafit.dlx: cada DLQ se enlaza con su propio nombre.</a:t>
            </a:r>
            <a:endParaRPr lang="en-US" sz="1400" dirty="0"/>
          </a:p>
        </p:txBody>
      </p:sp>
      <p:sp>
        <p:nvSpPr>
          <p:cNvPr id="7" name="box-79"/>
          <p:cNvSpPr/>
          <p:nvPr/>
        </p:nvSpPr>
        <p:spPr>
          <a:xfrm>
            <a:off x="4320540" y="1371600"/>
            <a:ext cx="3520440" cy="3017520"/>
          </a:xfrm>
          <a:prstGeom prst="roundRect">
            <a:avLst>
              <a:gd name="adj" fmla="val 4545"/>
            </a:avLst>
          </a:prstGeom>
          <a:solidFill>
            <a:schemeClr val="accent1"/>
          </a:solidFill>
          <a:ln/>
        </p:spPr>
      </p:sp>
      <p:sp>
        <p:nvSpPr>
          <p:cNvPr id="8" name="text-80"/>
          <p:cNvSpPr txBox="1"/>
          <p:nvPr/>
        </p:nvSpPr>
        <p:spPr>
          <a:xfrm>
            <a:off x="4594860" y="1554480"/>
            <a:ext cx="2971800" cy="548640"/>
          </a:xfrm>
          <a:prstGeom prst="rect">
            <a:avLst/>
          </a:prstGeom>
          <a:noFill/>
          <a:ln/>
        </p:spPr>
        <p:txBody>
          <a:bodyPr wrap="square" lIns="0" tIns="0" rIns="0" bIns="0" rtlCol="0" anchor="ctr"/>
          <a:lstStyle/>
          <a:p>
            <a:pPr algn="l" indent="0" marL="0">
              <a:buNone/>
            </a:pPr>
            <a:r>
              <a:rPr lang="en-US" sz="2400" b="1" dirty="0">
                <a:solidFill>
                  <a:schemeClr val="bg1"/>
                </a:solidFill>
              </a:rPr>
              <a:t>Topic</a:t>
            </a:r>
            <a:endParaRPr lang="en-US" sz="2400" dirty="0"/>
          </a:p>
        </p:txBody>
      </p:sp>
      <p:sp>
        <p:nvSpPr>
          <p:cNvPr id="9" name="text-81"/>
          <p:cNvSpPr txBox="1"/>
          <p:nvPr/>
        </p:nvSpPr>
        <p:spPr>
          <a:xfrm>
            <a:off x="4594860" y="2148840"/>
            <a:ext cx="2971800" cy="914400"/>
          </a:xfrm>
          <a:prstGeom prst="rect">
            <a:avLst/>
          </a:prstGeom>
          <a:noFill/>
          <a:ln/>
        </p:spPr>
        <p:txBody>
          <a:bodyPr wrap="square" lIns="0" tIns="0" rIns="0" bIns="0" rtlCol="0" anchor="t"/>
          <a:lstStyle/>
          <a:p>
            <a:pPr algn="l" indent="0" marL="0">
              <a:buNone/>
            </a:pPr>
            <a:r>
              <a:rPr lang="en-US" sz="1500" dirty="0">
                <a:solidFill>
                  <a:schemeClr val="bg1"/>
                </a:solidFill>
              </a:rPr>
              <a:t>El binding es un patrón con comodines: * (una palabra) y # (cero o más).</a:t>
            </a:r>
            <a:endParaRPr lang="en-US" sz="1500" dirty="0"/>
          </a:p>
        </p:txBody>
      </p:sp>
      <p:sp>
        <p:nvSpPr>
          <p:cNvPr id="10" name="text-82"/>
          <p:cNvSpPr txBox="1"/>
          <p:nvPr/>
        </p:nvSpPr>
        <p:spPr>
          <a:xfrm>
            <a:off x="4594860" y="3200400"/>
            <a:ext cx="2971800" cy="1005840"/>
          </a:xfrm>
          <a:prstGeom prst="rect">
            <a:avLst/>
          </a:prstGeom>
          <a:noFill/>
          <a:ln/>
        </p:spPr>
        <p:txBody>
          <a:bodyPr wrap="square" lIns="0" tIns="0" rIns="0" bIns="0" rtlCol="0" anchor="t"/>
          <a:lstStyle/>
          <a:p>
            <a:pPr algn="l" indent="0" marL="0">
              <a:buNone/>
            </a:pPr>
            <a:r>
              <a:rPr lang="en-US" sz="1400" i="1" dirty="0">
                <a:solidFill>
                  <a:schemeClr val="bg1"/>
                </a:solidFill>
              </a:rPr>
              <a:t>reservafit.events: booking.* recibe booking.created y booking.cancelled.</a:t>
            </a:r>
            <a:endParaRPr lang="en-US" sz="1400" dirty="0"/>
          </a:p>
        </p:txBody>
      </p:sp>
      <p:sp>
        <p:nvSpPr>
          <p:cNvPr id="11" name="box-83"/>
          <p:cNvSpPr/>
          <p:nvPr/>
        </p:nvSpPr>
        <p:spPr>
          <a:xfrm>
            <a:off x="8092440" y="1371600"/>
            <a:ext cx="3520440" cy="3017520"/>
          </a:xfrm>
          <a:prstGeom prst="roundRect">
            <a:avLst>
              <a:gd name="adj" fmla="val 4545"/>
            </a:avLst>
          </a:prstGeom>
          <a:solidFill>
            <a:schemeClr val="bg2"/>
          </a:solidFill>
          <a:ln/>
        </p:spPr>
      </p:sp>
      <p:sp>
        <p:nvSpPr>
          <p:cNvPr id="12" name="text-84"/>
          <p:cNvSpPr txBox="1"/>
          <p:nvPr/>
        </p:nvSpPr>
        <p:spPr>
          <a:xfrm>
            <a:off x="8366760" y="1554480"/>
            <a:ext cx="2971800" cy="548640"/>
          </a:xfrm>
          <a:prstGeom prst="rect">
            <a:avLst/>
          </a:prstGeom>
          <a:noFill/>
          <a:ln/>
        </p:spPr>
        <p:txBody>
          <a:bodyPr wrap="square" lIns="0" tIns="0" rIns="0" bIns="0" rtlCol="0" anchor="ctr"/>
          <a:lstStyle/>
          <a:p>
            <a:pPr algn="l" indent="0" marL="0">
              <a:buNone/>
            </a:pPr>
            <a:r>
              <a:rPr lang="en-US" sz="2400" b="1" dirty="0">
                <a:solidFill>
                  <a:schemeClr val="tx1"/>
                </a:solidFill>
              </a:rPr>
              <a:t>Fanout</a:t>
            </a:r>
            <a:endParaRPr lang="en-US" sz="2400" dirty="0"/>
          </a:p>
        </p:txBody>
      </p:sp>
      <p:sp>
        <p:nvSpPr>
          <p:cNvPr id="13" name="text-85"/>
          <p:cNvSpPr txBox="1"/>
          <p:nvPr/>
        </p:nvSpPr>
        <p:spPr>
          <a:xfrm>
            <a:off x="8366760" y="2148840"/>
            <a:ext cx="2971800" cy="914400"/>
          </a:xfrm>
          <a:prstGeom prst="rect">
            <a:avLst/>
          </a:prstGeom>
          <a:noFill/>
          <a:ln/>
        </p:spPr>
        <p:txBody>
          <a:bodyPr wrap="square" lIns="0" tIns="0" rIns="0" bIns="0" rtlCol="0" anchor="t"/>
          <a:lstStyle/>
          <a:p>
            <a:pPr algn="l" indent="0" marL="0">
              <a:buNone/>
            </a:pPr>
            <a:r>
              <a:rPr lang="en-US" sz="1500" dirty="0">
                <a:solidFill>
                  <a:schemeClr val="tx1"/>
                </a:solidFill>
              </a:rPr>
              <a:t>Ignora la routing key y copia a todas las colas enlazadas.</a:t>
            </a:r>
            <a:endParaRPr lang="en-US" sz="1500" dirty="0"/>
          </a:p>
        </p:txBody>
      </p:sp>
      <p:sp>
        <p:nvSpPr>
          <p:cNvPr id="14" name="text-86"/>
          <p:cNvSpPr txBox="1"/>
          <p:nvPr/>
        </p:nvSpPr>
        <p:spPr>
          <a:xfrm>
            <a:off x="8366760" y="3200400"/>
            <a:ext cx="2971800" cy="1005840"/>
          </a:xfrm>
          <a:prstGeom prst="rect">
            <a:avLst/>
          </a:prstGeom>
          <a:noFill/>
          <a:ln/>
        </p:spPr>
        <p:txBody>
          <a:bodyPr wrap="square" lIns="0" tIns="0" rIns="0" bIns="0" rtlCol="0" anchor="t"/>
          <a:lstStyle/>
          <a:p>
            <a:pPr algn="l" indent="0" marL="0">
              <a:buNone/>
            </a:pPr>
            <a:r>
              <a:rPr lang="en-US" sz="1400" i="1" dirty="0">
                <a:solidFill>
                  <a:schemeClr val="tx1"/>
                </a:solidFill>
              </a:rPr>
              <a:t>No lo usamos: topic permite filtrar si mañana hay eventos que no sean de reservas.</a:t>
            </a:r>
            <a:endParaRPr lang="en-US" sz="1400" dirty="0"/>
          </a:p>
        </p:txBody>
      </p:sp>
      <p:sp>
        <p:nvSpPr>
          <p:cNvPr id="15" name="box-87"/>
          <p:cNvSpPr/>
          <p:nvPr/>
        </p:nvSpPr>
        <p:spPr>
          <a:xfrm>
            <a:off x="548640" y="4663440"/>
            <a:ext cx="11064240" cy="1417320"/>
          </a:xfrm>
          <a:prstGeom prst="roundRect">
            <a:avLst>
              <a:gd name="adj" fmla="val 7742"/>
            </a:avLst>
          </a:prstGeom>
          <a:solidFill>
            <a:schemeClr val="bg2"/>
          </a:solidFill>
          <a:ln/>
        </p:spPr>
      </p:sp>
      <p:sp>
        <p:nvSpPr>
          <p:cNvPr id="16" name="text-88"/>
          <p:cNvSpPr txBox="1"/>
          <p:nvPr/>
        </p:nvSpPr>
        <p:spPr>
          <a:xfrm>
            <a:off x="822960" y="4754880"/>
            <a:ext cx="3657600" cy="411480"/>
          </a:xfrm>
          <a:prstGeom prst="rect">
            <a:avLst/>
          </a:prstGeom>
          <a:noFill/>
          <a:ln/>
        </p:spPr>
        <p:txBody>
          <a:bodyPr wrap="square" lIns="0" tIns="0" rIns="0" bIns="0" rtlCol="0" anchor="ctr"/>
          <a:lstStyle/>
          <a:p>
            <a:pPr algn="l" indent="0" marL="0">
              <a:buNone/>
            </a:pPr>
            <a:r>
              <a:rPr lang="en-US" sz="1500" b="1" dirty="0">
                <a:solidFill>
                  <a:schemeClr val="tx1"/>
                </a:solidFill>
              </a:rPr>
              <a:t>Cómo calza el patrón booking.*</a:t>
            </a:r>
            <a:endParaRPr lang="en-US" sz="1500" dirty="0"/>
          </a:p>
        </p:txBody>
      </p:sp>
      <p:sp>
        <p:nvSpPr>
          <p:cNvPr id="17" name="box-89"/>
          <p:cNvSpPr/>
          <p:nvPr/>
        </p:nvSpPr>
        <p:spPr>
          <a:xfrm>
            <a:off x="822960" y="5257800"/>
            <a:ext cx="2514600" cy="548640"/>
          </a:xfrm>
          <a:prstGeom prst="roundRect">
            <a:avLst>
              <a:gd name="adj" fmla="val 20000"/>
            </a:avLst>
          </a:prstGeom>
          <a:solidFill>
            <a:schemeClr val="accent2"/>
          </a:solidFill>
          <a:ln/>
        </p:spPr>
      </p:sp>
      <p:sp>
        <p:nvSpPr>
          <p:cNvPr id="18" name="label-90"/>
          <p:cNvSpPr txBox="1"/>
          <p:nvPr/>
        </p:nvSpPr>
        <p:spPr>
          <a:xfrm>
            <a:off x="822960" y="5257800"/>
            <a:ext cx="2514600" cy="548640"/>
          </a:xfrm>
          <a:prstGeom prst="rect">
            <a:avLst/>
          </a:prstGeom>
          <a:noFill/>
          <a:ln/>
        </p:spPr>
        <p:txBody>
          <a:bodyPr wrap="square" lIns="762" tIns="762" rIns="762" bIns="762" rtlCol="0" anchor="ctr"/>
          <a:lstStyle/>
          <a:p>
            <a:pPr algn="ctr" indent="0" marL="0">
              <a:buNone/>
            </a:pPr>
            <a:r>
              <a:rPr lang="en-US" sz="1300" dirty="0">
                <a:solidFill>
                  <a:schemeClr val="bg1"/>
                </a:solidFill>
                <a:latin typeface="Courier New" pitchFamily="34" charset="0"/>
                <a:ea typeface="Courier New" pitchFamily="34" charset="-122"/>
                <a:cs typeface="Courier New" pitchFamily="34" charset="-120"/>
              </a:rPr>
              <a:t>booking.created  ✔</a:t>
            </a:r>
            <a:endParaRPr lang="en-US" sz="1300" dirty="0"/>
          </a:p>
        </p:txBody>
      </p:sp>
      <p:sp>
        <p:nvSpPr>
          <p:cNvPr id="19" name="box-91"/>
          <p:cNvSpPr/>
          <p:nvPr/>
        </p:nvSpPr>
        <p:spPr>
          <a:xfrm>
            <a:off x="3520440" y="5257800"/>
            <a:ext cx="2514600" cy="548640"/>
          </a:xfrm>
          <a:prstGeom prst="roundRect">
            <a:avLst>
              <a:gd name="adj" fmla="val 20000"/>
            </a:avLst>
          </a:prstGeom>
          <a:solidFill>
            <a:schemeClr val="accent2"/>
          </a:solidFill>
          <a:ln/>
        </p:spPr>
      </p:sp>
      <p:sp>
        <p:nvSpPr>
          <p:cNvPr id="20" name="label-92"/>
          <p:cNvSpPr txBox="1"/>
          <p:nvPr/>
        </p:nvSpPr>
        <p:spPr>
          <a:xfrm>
            <a:off x="3520440" y="5257800"/>
            <a:ext cx="2514600" cy="548640"/>
          </a:xfrm>
          <a:prstGeom prst="rect">
            <a:avLst/>
          </a:prstGeom>
          <a:noFill/>
          <a:ln/>
        </p:spPr>
        <p:txBody>
          <a:bodyPr wrap="square" lIns="762" tIns="762" rIns="762" bIns="762" rtlCol="0" anchor="ctr"/>
          <a:lstStyle/>
          <a:p>
            <a:pPr algn="ctr" indent="0" marL="0">
              <a:buNone/>
            </a:pPr>
            <a:r>
              <a:rPr lang="en-US" sz="1300" dirty="0">
                <a:solidFill>
                  <a:schemeClr val="bg1"/>
                </a:solidFill>
                <a:latin typeface="Courier New" pitchFamily="34" charset="0"/>
                <a:ea typeface="Courier New" pitchFamily="34" charset="-122"/>
                <a:cs typeface="Courier New" pitchFamily="34" charset="-120"/>
              </a:rPr>
              <a:t>booking.cancelled  ✔</a:t>
            </a:r>
            <a:endParaRPr lang="en-US" sz="1300" dirty="0"/>
          </a:p>
        </p:txBody>
      </p:sp>
      <p:sp>
        <p:nvSpPr>
          <p:cNvPr id="21" name="box-93"/>
          <p:cNvSpPr/>
          <p:nvPr/>
        </p:nvSpPr>
        <p:spPr>
          <a:xfrm>
            <a:off x="6217920" y="5257800"/>
            <a:ext cx="2514600" cy="548640"/>
          </a:xfrm>
          <a:prstGeom prst="roundRect">
            <a:avLst>
              <a:gd name="adj" fmla="val 20000"/>
            </a:avLst>
          </a:prstGeom>
          <a:solidFill>
            <a:schemeClr val="accent6"/>
          </a:solidFill>
          <a:ln/>
        </p:spPr>
      </p:sp>
      <p:sp>
        <p:nvSpPr>
          <p:cNvPr id="22" name="label-94"/>
          <p:cNvSpPr txBox="1"/>
          <p:nvPr/>
        </p:nvSpPr>
        <p:spPr>
          <a:xfrm>
            <a:off x="6217920" y="5257800"/>
            <a:ext cx="2514600" cy="548640"/>
          </a:xfrm>
          <a:prstGeom prst="rect">
            <a:avLst/>
          </a:prstGeom>
          <a:noFill/>
          <a:ln/>
        </p:spPr>
        <p:txBody>
          <a:bodyPr wrap="square" lIns="762" tIns="762" rIns="762" bIns="762" rtlCol="0" anchor="ctr"/>
          <a:lstStyle/>
          <a:p>
            <a:pPr algn="ctr" indent="0" marL="0">
              <a:buNone/>
            </a:pPr>
            <a:r>
              <a:rPr lang="en-US" sz="1300" dirty="0">
                <a:solidFill>
                  <a:schemeClr val="bg1"/>
                </a:solidFill>
                <a:latin typeface="Courier New" pitchFamily="34" charset="0"/>
                <a:ea typeface="Courier New" pitchFamily="34" charset="-122"/>
                <a:cs typeface="Courier New" pitchFamily="34" charset="-120"/>
              </a:rPr>
              <a:t>booking  ✘</a:t>
            </a:r>
            <a:endParaRPr lang="en-US" sz="1300" dirty="0"/>
          </a:p>
        </p:txBody>
      </p:sp>
      <p:sp>
        <p:nvSpPr>
          <p:cNvPr id="23" name="box-95"/>
          <p:cNvSpPr/>
          <p:nvPr/>
        </p:nvSpPr>
        <p:spPr>
          <a:xfrm>
            <a:off x="8915400" y="5257800"/>
            <a:ext cx="2514600" cy="548640"/>
          </a:xfrm>
          <a:prstGeom prst="roundRect">
            <a:avLst>
              <a:gd name="adj" fmla="val 20000"/>
            </a:avLst>
          </a:prstGeom>
          <a:solidFill>
            <a:schemeClr val="accent6"/>
          </a:solidFill>
          <a:ln/>
        </p:spPr>
      </p:sp>
      <p:sp>
        <p:nvSpPr>
          <p:cNvPr id="24" name="label-96"/>
          <p:cNvSpPr txBox="1"/>
          <p:nvPr/>
        </p:nvSpPr>
        <p:spPr>
          <a:xfrm>
            <a:off x="8915400" y="5257800"/>
            <a:ext cx="2514600" cy="548640"/>
          </a:xfrm>
          <a:prstGeom prst="rect">
            <a:avLst/>
          </a:prstGeom>
          <a:noFill/>
          <a:ln/>
        </p:spPr>
        <p:txBody>
          <a:bodyPr wrap="square" lIns="762" tIns="762" rIns="762" bIns="762" rtlCol="0" anchor="ctr"/>
          <a:lstStyle/>
          <a:p>
            <a:pPr algn="ctr" indent="0" marL="0">
              <a:buNone/>
            </a:pPr>
            <a:r>
              <a:rPr lang="en-US" sz="1300" dirty="0">
                <a:solidFill>
                  <a:schemeClr val="bg1"/>
                </a:solidFill>
                <a:latin typeface="Courier New" pitchFamily="34" charset="0"/>
                <a:ea typeface="Courier New" pitchFamily="34" charset="-122"/>
                <a:cs typeface="Courier New" pitchFamily="34" charset="-120"/>
              </a:rPr>
              <a:t>booking.created.v2  ✘</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Una cola por servicio: cada uno recibe su copia</a:t>
            </a:r>
            <a:endParaRPr lang="en-US" sz="3200" dirty="0"/>
          </a:p>
        </p:txBody>
      </p:sp>
      <p:sp>
        <p:nvSpPr>
          <p:cNvPr id="3" name="box-97"/>
          <p:cNvSpPr/>
          <p:nvPr/>
        </p:nvSpPr>
        <p:spPr>
          <a:xfrm>
            <a:off x="548640" y="1325880"/>
            <a:ext cx="5394960" cy="4023360"/>
          </a:xfrm>
          <a:prstGeom prst="roundRect">
            <a:avLst>
              <a:gd name="adj" fmla="val 3409"/>
            </a:avLst>
          </a:prstGeom>
          <a:solidFill>
            <a:schemeClr val="bg2"/>
          </a:solidFill>
          <a:ln/>
        </p:spPr>
      </p:sp>
      <p:sp>
        <p:nvSpPr>
          <p:cNvPr id="4" name="text-98"/>
          <p:cNvSpPr txBox="1"/>
          <p:nvPr/>
        </p:nvSpPr>
        <p:spPr>
          <a:xfrm>
            <a:off x="822960" y="1463040"/>
            <a:ext cx="4846320" cy="457200"/>
          </a:xfrm>
          <a:prstGeom prst="rect">
            <a:avLst/>
          </a:prstGeom>
          <a:noFill/>
          <a:ln/>
        </p:spPr>
        <p:txBody>
          <a:bodyPr wrap="square" lIns="0" tIns="0" rIns="0" bIns="0" rtlCol="0" anchor="ctr"/>
          <a:lstStyle/>
          <a:p>
            <a:pPr algn="l" indent="0" marL="0">
              <a:buNone/>
            </a:pPr>
            <a:r>
              <a:rPr lang="en-US" sz="1800" b="1" dirty="0">
                <a:solidFill>
                  <a:schemeClr val="tx1"/>
                </a:solidFill>
              </a:rPr>
              <a:t>Publicar / suscribir (lo que usamos)</a:t>
            </a:r>
            <a:endParaRPr lang="en-US" sz="1800" dirty="0"/>
          </a:p>
        </p:txBody>
      </p:sp>
      <p:sp>
        <p:nvSpPr>
          <p:cNvPr id="5" name="box-99"/>
          <p:cNvSpPr/>
          <p:nvPr/>
        </p:nvSpPr>
        <p:spPr>
          <a:xfrm>
            <a:off x="868680" y="2834640"/>
            <a:ext cx="1463040" cy="822960"/>
          </a:xfrm>
          <a:prstGeom prst="roundRect">
            <a:avLst>
              <a:gd name="adj" fmla="val 13333"/>
            </a:avLst>
          </a:prstGeom>
          <a:solidFill>
            <a:schemeClr val="accent1"/>
          </a:solidFill>
          <a:ln/>
        </p:spPr>
      </p:sp>
      <p:sp>
        <p:nvSpPr>
          <p:cNvPr id="6" name="label-100"/>
          <p:cNvSpPr txBox="1"/>
          <p:nvPr/>
        </p:nvSpPr>
        <p:spPr>
          <a:xfrm>
            <a:off x="868680" y="2834640"/>
            <a:ext cx="1463040" cy="822960"/>
          </a:xfrm>
          <a:prstGeom prst="rect">
            <a:avLst/>
          </a:prstGeom>
          <a:noFill/>
          <a:ln/>
        </p:spPr>
        <p:txBody>
          <a:bodyPr wrap="square" lIns="762" tIns="762" rIns="762" bIns="762" rtlCol="0" anchor="ctr"/>
          <a:lstStyle/>
          <a:p>
            <a:pPr algn="ctr" indent="0" marL="0">
              <a:buNone/>
            </a:pPr>
            <a:r>
              <a:rPr lang="en-US" sz="1400" b="1" dirty="0">
                <a:solidFill>
                  <a:schemeClr val="bg1"/>
                </a:solidFill>
              </a:rPr>
              <a:t>exchange</a:t>
            </a:r>
            <a:endParaRPr lang="en-US" sz="1400" dirty="0"/>
          </a:p>
        </p:txBody>
      </p:sp>
      <p:sp>
        <p:nvSpPr>
          <p:cNvPr id="7" name="box-101"/>
          <p:cNvSpPr/>
          <p:nvPr/>
        </p:nvSpPr>
        <p:spPr>
          <a:xfrm>
            <a:off x="2880360" y="2148840"/>
            <a:ext cx="1463040" cy="640080"/>
          </a:xfrm>
          <a:prstGeom prst="roundRect">
            <a:avLst>
              <a:gd name="adj" fmla="val 17143"/>
            </a:avLst>
          </a:prstGeom>
          <a:solidFill>
            <a:schemeClr val="bg1"/>
          </a:solidFill>
          <a:ln w="15875">
            <a:solidFill>
              <a:schemeClr val="accent2"/>
            </a:solidFill>
            <a:prstDash val="solid"/>
          </a:ln>
        </p:spPr>
      </p:sp>
      <p:sp>
        <p:nvSpPr>
          <p:cNvPr id="8" name="label-102"/>
          <p:cNvSpPr txBox="1"/>
          <p:nvPr/>
        </p:nvSpPr>
        <p:spPr>
          <a:xfrm>
            <a:off x="2880360" y="2148840"/>
            <a:ext cx="1463040" cy="640080"/>
          </a:xfrm>
          <a:prstGeom prst="rect">
            <a:avLst/>
          </a:prstGeom>
          <a:noFill/>
          <a:ln/>
        </p:spPr>
        <p:txBody>
          <a:bodyPr wrap="square" lIns="762" tIns="762" rIns="762" bIns="762" rtlCol="0" anchor="ctr"/>
          <a:lstStyle/>
          <a:p>
            <a:pPr algn="ctr" indent="0" marL="0">
              <a:buNone/>
            </a:pPr>
            <a:r>
              <a:rPr lang="en-US" sz="1200" dirty="0">
                <a:solidFill>
                  <a:schemeClr val="tx1"/>
                </a:solidFill>
              </a:rPr>
              <a:t>cola gimnasios</a:t>
            </a:r>
            <a:endParaRPr lang="en-US" sz="1200" dirty="0"/>
          </a:p>
        </p:txBody>
      </p:sp>
      <p:sp>
        <p:nvSpPr>
          <p:cNvPr id="9" name="box-103"/>
          <p:cNvSpPr/>
          <p:nvPr/>
        </p:nvSpPr>
        <p:spPr>
          <a:xfrm>
            <a:off x="2880360" y="3703320"/>
            <a:ext cx="1463040" cy="640080"/>
          </a:xfrm>
          <a:prstGeom prst="roundRect">
            <a:avLst>
              <a:gd name="adj" fmla="val 17143"/>
            </a:avLst>
          </a:prstGeom>
          <a:solidFill>
            <a:schemeClr val="bg1"/>
          </a:solidFill>
          <a:ln w="15875">
            <a:solidFill>
              <a:schemeClr val="accent3"/>
            </a:solidFill>
            <a:prstDash val="solid"/>
          </a:ln>
        </p:spPr>
      </p:sp>
      <p:sp>
        <p:nvSpPr>
          <p:cNvPr id="10" name="label-104"/>
          <p:cNvSpPr txBox="1"/>
          <p:nvPr/>
        </p:nvSpPr>
        <p:spPr>
          <a:xfrm>
            <a:off x="2880360" y="3703320"/>
            <a:ext cx="1463040" cy="640080"/>
          </a:xfrm>
          <a:prstGeom prst="rect">
            <a:avLst/>
          </a:prstGeom>
          <a:noFill/>
          <a:ln/>
        </p:spPr>
        <p:txBody>
          <a:bodyPr wrap="square" lIns="762" tIns="762" rIns="762" bIns="762" rtlCol="0" anchor="ctr"/>
          <a:lstStyle/>
          <a:p>
            <a:pPr algn="ctr" indent="0" marL="0">
              <a:buNone/>
            </a:pPr>
            <a:r>
              <a:rPr lang="en-US" sz="1200" dirty="0">
                <a:solidFill>
                  <a:schemeClr val="tx1"/>
                </a:solidFill>
              </a:rPr>
              <a:t>cola notificaciones</a:t>
            </a:r>
            <a:endParaRPr lang="en-US" sz="1200" dirty="0"/>
          </a:p>
        </p:txBody>
      </p:sp>
      <p:sp>
        <p:nvSpPr>
          <p:cNvPr id="11" name="arrow-105"/>
          <p:cNvSpPr/>
          <p:nvPr/>
        </p:nvSpPr>
        <p:spPr>
          <a:xfrm flipV="1">
            <a:off x="2331720" y="2468880"/>
            <a:ext cx="548640" cy="594360"/>
          </a:xfrm>
          <a:prstGeom prst="line">
            <a:avLst/>
          </a:prstGeom>
          <a:noFill/>
          <a:ln w="25400">
            <a:solidFill>
              <a:schemeClr val="accent6"/>
            </a:solidFill>
            <a:prstDash val="solid"/>
            <a:tailEnd type="triangle"/>
          </a:ln>
        </p:spPr>
      </p:sp>
      <p:sp>
        <p:nvSpPr>
          <p:cNvPr id="12" name="arrow-106"/>
          <p:cNvSpPr/>
          <p:nvPr/>
        </p:nvSpPr>
        <p:spPr>
          <a:xfrm>
            <a:off x="2331720" y="3429000"/>
            <a:ext cx="548640" cy="594360"/>
          </a:xfrm>
          <a:prstGeom prst="line">
            <a:avLst/>
          </a:prstGeom>
          <a:noFill/>
          <a:ln w="25400">
            <a:solidFill>
              <a:schemeClr val="accent6"/>
            </a:solidFill>
            <a:prstDash val="solid"/>
            <a:tailEnd type="triangle"/>
          </a:ln>
        </p:spPr>
      </p:sp>
      <p:sp>
        <p:nvSpPr>
          <p:cNvPr id="13" name="box-107"/>
          <p:cNvSpPr/>
          <p:nvPr/>
        </p:nvSpPr>
        <p:spPr>
          <a:xfrm>
            <a:off x="4572000" y="2148840"/>
            <a:ext cx="1143000" cy="640080"/>
          </a:xfrm>
          <a:prstGeom prst="roundRect">
            <a:avLst>
              <a:gd name="adj" fmla="val 17143"/>
            </a:avLst>
          </a:prstGeom>
          <a:solidFill>
            <a:schemeClr val="accent2"/>
          </a:solidFill>
          <a:ln/>
        </p:spPr>
      </p:sp>
      <p:sp>
        <p:nvSpPr>
          <p:cNvPr id="14" name="label-108"/>
          <p:cNvSpPr txBox="1"/>
          <p:nvPr/>
        </p:nvSpPr>
        <p:spPr>
          <a:xfrm>
            <a:off x="4572000" y="2148840"/>
            <a:ext cx="1143000" cy="640080"/>
          </a:xfrm>
          <a:prstGeom prst="rect">
            <a:avLst/>
          </a:prstGeom>
          <a:noFill/>
          <a:ln/>
        </p:spPr>
        <p:txBody>
          <a:bodyPr wrap="square" lIns="762" tIns="762" rIns="762" bIns="762" rtlCol="0" anchor="ctr"/>
          <a:lstStyle/>
          <a:p>
            <a:pPr algn="ctr" indent="0" marL="0">
              <a:buNone/>
            </a:pPr>
            <a:r>
              <a:rPr lang="en-US" sz="1300" dirty="0">
                <a:solidFill>
                  <a:schemeClr val="bg1"/>
                </a:solidFill>
              </a:rPr>
              <a:t>msg 1</a:t>
            </a:r>
            <a:endParaRPr lang="en-US" sz="1300" dirty="0"/>
          </a:p>
        </p:txBody>
      </p:sp>
      <p:sp>
        <p:nvSpPr>
          <p:cNvPr id="15" name="box-109"/>
          <p:cNvSpPr/>
          <p:nvPr/>
        </p:nvSpPr>
        <p:spPr>
          <a:xfrm>
            <a:off x="4572000" y="3703320"/>
            <a:ext cx="1143000" cy="640080"/>
          </a:xfrm>
          <a:prstGeom prst="roundRect">
            <a:avLst>
              <a:gd name="adj" fmla="val 17143"/>
            </a:avLst>
          </a:prstGeom>
          <a:solidFill>
            <a:schemeClr val="accent3"/>
          </a:solidFill>
          <a:ln/>
        </p:spPr>
      </p:sp>
      <p:sp>
        <p:nvSpPr>
          <p:cNvPr id="16" name="label-110"/>
          <p:cNvSpPr txBox="1"/>
          <p:nvPr/>
        </p:nvSpPr>
        <p:spPr>
          <a:xfrm>
            <a:off x="4572000" y="3703320"/>
            <a:ext cx="1143000" cy="640080"/>
          </a:xfrm>
          <a:prstGeom prst="rect">
            <a:avLst/>
          </a:prstGeom>
          <a:noFill/>
          <a:ln/>
        </p:spPr>
        <p:txBody>
          <a:bodyPr wrap="square" lIns="762" tIns="762" rIns="762" bIns="762" rtlCol="0" anchor="ctr"/>
          <a:lstStyle/>
          <a:p>
            <a:pPr algn="ctr" indent="0" marL="0">
              <a:buNone/>
            </a:pPr>
            <a:r>
              <a:rPr lang="en-US" sz="1300" dirty="0">
                <a:solidFill>
                  <a:schemeClr val="bg1"/>
                </a:solidFill>
              </a:rPr>
              <a:t>msg 1</a:t>
            </a:r>
            <a:endParaRPr lang="en-US" sz="1300" dirty="0"/>
          </a:p>
        </p:txBody>
      </p:sp>
      <p:sp>
        <p:nvSpPr>
          <p:cNvPr id="17" name="arrow-111"/>
          <p:cNvSpPr/>
          <p:nvPr/>
        </p:nvSpPr>
        <p:spPr>
          <a:xfrm>
            <a:off x="4343400" y="2468880"/>
            <a:ext cx="228600" cy="914"/>
          </a:xfrm>
          <a:prstGeom prst="line">
            <a:avLst/>
          </a:prstGeom>
          <a:noFill/>
          <a:ln w="25400">
            <a:solidFill>
              <a:schemeClr val="accent6"/>
            </a:solidFill>
            <a:prstDash val="solid"/>
            <a:tailEnd type="triangle"/>
          </a:ln>
        </p:spPr>
      </p:sp>
      <p:sp>
        <p:nvSpPr>
          <p:cNvPr id="18" name="arrow-112"/>
          <p:cNvSpPr/>
          <p:nvPr/>
        </p:nvSpPr>
        <p:spPr>
          <a:xfrm>
            <a:off x="4343400" y="4023360"/>
            <a:ext cx="228600" cy="914"/>
          </a:xfrm>
          <a:prstGeom prst="line">
            <a:avLst/>
          </a:prstGeom>
          <a:noFill/>
          <a:ln w="25400">
            <a:solidFill>
              <a:schemeClr val="accent6"/>
            </a:solidFill>
            <a:prstDash val="solid"/>
            <a:tailEnd type="triangle"/>
          </a:ln>
        </p:spPr>
      </p:sp>
      <p:sp>
        <p:nvSpPr>
          <p:cNvPr id="19" name="text-113"/>
          <p:cNvSpPr txBox="1"/>
          <p:nvPr/>
        </p:nvSpPr>
        <p:spPr>
          <a:xfrm>
            <a:off x="822960" y="4572000"/>
            <a:ext cx="4846320" cy="640080"/>
          </a:xfrm>
          <a:prstGeom prst="rect">
            <a:avLst/>
          </a:prstGeom>
          <a:noFill/>
          <a:ln/>
        </p:spPr>
        <p:txBody>
          <a:bodyPr wrap="square" lIns="0" tIns="0" rIns="0" bIns="0" rtlCol="0" anchor="ctr"/>
          <a:lstStyle/>
          <a:p>
            <a:pPr algn="l" indent="0" marL="0">
              <a:buNone/>
            </a:pPr>
            <a:r>
              <a:rPr lang="en-US" sz="1400" dirty="0">
                <a:solidFill>
                  <a:schemeClr val="tx1"/>
                </a:solidFill>
              </a:rPr>
              <a:t>Mismo binding booking.*, dos colas: el mensaje se copia a ambas</a:t>
            </a:r>
            <a:endParaRPr lang="en-US" sz="1400" dirty="0"/>
          </a:p>
        </p:txBody>
      </p:sp>
      <p:sp>
        <p:nvSpPr>
          <p:cNvPr id="20" name="box-114"/>
          <p:cNvSpPr/>
          <p:nvPr/>
        </p:nvSpPr>
        <p:spPr>
          <a:xfrm>
            <a:off x="6263640" y="1325880"/>
            <a:ext cx="5349240" cy="4023360"/>
          </a:xfrm>
          <a:prstGeom prst="roundRect">
            <a:avLst>
              <a:gd name="adj" fmla="val 3409"/>
            </a:avLst>
          </a:prstGeom>
          <a:solidFill>
            <a:schemeClr val="bg2"/>
          </a:solidFill>
          <a:ln/>
        </p:spPr>
      </p:sp>
      <p:sp>
        <p:nvSpPr>
          <p:cNvPr id="21" name="text-115"/>
          <p:cNvSpPr txBox="1"/>
          <p:nvPr/>
        </p:nvSpPr>
        <p:spPr>
          <a:xfrm>
            <a:off x="6537960" y="1463040"/>
            <a:ext cx="4846320" cy="457200"/>
          </a:xfrm>
          <a:prstGeom prst="rect">
            <a:avLst/>
          </a:prstGeom>
          <a:noFill/>
          <a:ln/>
        </p:spPr>
        <p:txBody>
          <a:bodyPr wrap="square" lIns="0" tIns="0" rIns="0" bIns="0" rtlCol="0" anchor="ctr"/>
          <a:lstStyle/>
          <a:p>
            <a:pPr algn="l" indent="0" marL="0">
              <a:buNone/>
            </a:pPr>
            <a:r>
              <a:rPr lang="en-US" sz="1800" b="1" dirty="0">
                <a:solidFill>
                  <a:schemeClr val="tx1"/>
                </a:solidFill>
              </a:rPr>
              <a:t>Consumidores que compiten (otro caso)</a:t>
            </a:r>
            <a:endParaRPr lang="en-US" sz="1800" dirty="0"/>
          </a:p>
        </p:txBody>
      </p:sp>
      <p:sp>
        <p:nvSpPr>
          <p:cNvPr id="22" name="box-116"/>
          <p:cNvSpPr/>
          <p:nvPr/>
        </p:nvSpPr>
        <p:spPr>
          <a:xfrm>
            <a:off x="6583680" y="2834640"/>
            <a:ext cx="1463040" cy="822960"/>
          </a:xfrm>
          <a:prstGeom prst="roundRect">
            <a:avLst>
              <a:gd name="adj" fmla="val 13333"/>
            </a:avLst>
          </a:prstGeom>
          <a:solidFill>
            <a:schemeClr val="accent6"/>
          </a:solidFill>
          <a:ln/>
        </p:spPr>
      </p:sp>
      <p:sp>
        <p:nvSpPr>
          <p:cNvPr id="23" name="label-117"/>
          <p:cNvSpPr txBox="1"/>
          <p:nvPr/>
        </p:nvSpPr>
        <p:spPr>
          <a:xfrm>
            <a:off x="6583680" y="2834640"/>
            <a:ext cx="1463040" cy="822960"/>
          </a:xfrm>
          <a:prstGeom prst="rect">
            <a:avLst/>
          </a:prstGeom>
          <a:noFill/>
          <a:ln/>
        </p:spPr>
        <p:txBody>
          <a:bodyPr wrap="square" lIns="762" tIns="762" rIns="762" bIns="762" rtlCol="0" anchor="ctr"/>
          <a:lstStyle/>
          <a:p>
            <a:pPr algn="ctr" indent="0" marL="0">
              <a:buNone/>
            </a:pPr>
            <a:r>
              <a:rPr lang="en-US" sz="1400" b="1" dirty="0">
                <a:solidFill>
                  <a:schemeClr val="bg1"/>
                </a:solidFill>
              </a:rPr>
              <a:t>una cola</a:t>
            </a:r>
            <a:endParaRPr lang="en-US" sz="1400" dirty="0"/>
          </a:p>
        </p:txBody>
      </p:sp>
      <p:sp>
        <p:nvSpPr>
          <p:cNvPr id="24" name="box-118"/>
          <p:cNvSpPr/>
          <p:nvPr/>
        </p:nvSpPr>
        <p:spPr>
          <a:xfrm>
            <a:off x="8595360" y="2148840"/>
            <a:ext cx="1463040" cy="640080"/>
          </a:xfrm>
          <a:prstGeom prst="roundRect">
            <a:avLst>
              <a:gd name="adj" fmla="val 17143"/>
            </a:avLst>
          </a:prstGeom>
          <a:solidFill>
            <a:schemeClr val="bg1"/>
          </a:solidFill>
          <a:ln w="15875">
            <a:solidFill>
              <a:schemeClr val="accent6"/>
            </a:solidFill>
            <a:prstDash val="solid"/>
          </a:ln>
        </p:spPr>
      </p:sp>
      <p:sp>
        <p:nvSpPr>
          <p:cNvPr id="25" name="label-119"/>
          <p:cNvSpPr txBox="1"/>
          <p:nvPr/>
        </p:nvSpPr>
        <p:spPr>
          <a:xfrm>
            <a:off x="8595360" y="2148840"/>
            <a:ext cx="1463040" cy="640080"/>
          </a:xfrm>
          <a:prstGeom prst="rect">
            <a:avLst/>
          </a:prstGeom>
          <a:noFill/>
          <a:ln/>
        </p:spPr>
        <p:txBody>
          <a:bodyPr wrap="square" lIns="762" tIns="762" rIns="762" bIns="762" rtlCol="0" anchor="ctr"/>
          <a:lstStyle/>
          <a:p>
            <a:pPr algn="ctr" indent="0" marL="0">
              <a:buNone/>
            </a:pPr>
            <a:r>
              <a:rPr lang="en-US" sz="1200" dirty="0">
                <a:solidFill>
                  <a:schemeClr val="tx1"/>
                </a:solidFill>
              </a:rPr>
              <a:t>instancia A</a:t>
            </a:r>
            <a:endParaRPr lang="en-US" sz="1200" dirty="0"/>
          </a:p>
        </p:txBody>
      </p:sp>
      <p:sp>
        <p:nvSpPr>
          <p:cNvPr id="26" name="box-120"/>
          <p:cNvSpPr/>
          <p:nvPr/>
        </p:nvSpPr>
        <p:spPr>
          <a:xfrm>
            <a:off x="8595360" y="3703320"/>
            <a:ext cx="1463040" cy="640080"/>
          </a:xfrm>
          <a:prstGeom prst="roundRect">
            <a:avLst>
              <a:gd name="adj" fmla="val 17143"/>
            </a:avLst>
          </a:prstGeom>
          <a:solidFill>
            <a:schemeClr val="bg1"/>
          </a:solidFill>
          <a:ln w="15875">
            <a:solidFill>
              <a:schemeClr val="accent6"/>
            </a:solidFill>
            <a:prstDash val="solid"/>
          </a:ln>
        </p:spPr>
      </p:sp>
      <p:sp>
        <p:nvSpPr>
          <p:cNvPr id="27" name="label-121"/>
          <p:cNvSpPr txBox="1"/>
          <p:nvPr/>
        </p:nvSpPr>
        <p:spPr>
          <a:xfrm>
            <a:off x="8595360" y="3703320"/>
            <a:ext cx="1463040" cy="640080"/>
          </a:xfrm>
          <a:prstGeom prst="rect">
            <a:avLst/>
          </a:prstGeom>
          <a:noFill/>
          <a:ln/>
        </p:spPr>
        <p:txBody>
          <a:bodyPr wrap="square" lIns="762" tIns="762" rIns="762" bIns="762" rtlCol="0" anchor="ctr"/>
          <a:lstStyle/>
          <a:p>
            <a:pPr algn="ctr" indent="0" marL="0">
              <a:buNone/>
            </a:pPr>
            <a:r>
              <a:rPr lang="en-US" sz="1200" dirty="0">
                <a:solidFill>
                  <a:schemeClr val="tx1"/>
                </a:solidFill>
              </a:rPr>
              <a:t>instancia B</a:t>
            </a:r>
            <a:endParaRPr lang="en-US" sz="1200" dirty="0"/>
          </a:p>
        </p:txBody>
      </p:sp>
      <p:sp>
        <p:nvSpPr>
          <p:cNvPr id="28" name="arrow-122"/>
          <p:cNvSpPr/>
          <p:nvPr/>
        </p:nvSpPr>
        <p:spPr>
          <a:xfrm flipV="1">
            <a:off x="8046720" y="2468880"/>
            <a:ext cx="548640" cy="594360"/>
          </a:xfrm>
          <a:prstGeom prst="line">
            <a:avLst/>
          </a:prstGeom>
          <a:noFill/>
          <a:ln w="25400">
            <a:solidFill>
              <a:schemeClr val="accent6"/>
            </a:solidFill>
            <a:prstDash val="solid"/>
            <a:tailEnd type="triangle"/>
          </a:ln>
        </p:spPr>
      </p:sp>
      <p:sp>
        <p:nvSpPr>
          <p:cNvPr id="29" name="arrow-123"/>
          <p:cNvSpPr/>
          <p:nvPr/>
        </p:nvSpPr>
        <p:spPr>
          <a:xfrm>
            <a:off x="8046720" y="3429000"/>
            <a:ext cx="548640" cy="594360"/>
          </a:xfrm>
          <a:prstGeom prst="line">
            <a:avLst/>
          </a:prstGeom>
          <a:noFill/>
          <a:ln w="25400">
            <a:solidFill>
              <a:schemeClr val="accent6"/>
            </a:solidFill>
            <a:prstDash val="solid"/>
            <a:tailEnd type="triangle"/>
          </a:ln>
        </p:spPr>
      </p:sp>
      <p:sp>
        <p:nvSpPr>
          <p:cNvPr id="30" name="box-124"/>
          <p:cNvSpPr/>
          <p:nvPr/>
        </p:nvSpPr>
        <p:spPr>
          <a:xfrm>
            <a:off x="10287000" y="2148840"/>
            <a:ext cx="1097280" cy="640080"/>
          </a:xfrm>
          <a:prstGeom prst="roundRect">
            <a:avLst>
              <a:gd name="adj" fmla="val 17143"/>
            </a:avLst>
          </a:prstGeom>
          <a:solidFill>
            <a:schemeClr val="accent6"/>
          </a:solidFill>
          <a:ln/>
        </p:spPr>
      </p:sp>
      <p:sp>
        <p:nvSpPr>
          <p:cNvPr id="31" name="label-125"/>
          <p:cNvSpPr txBox="1"/>
          <p:nvPr/>
        </p:nvSpPr>
        <p:spPr>
          <a:xfrm>
            <a:off x="10287000" y="2148840"/>
            <a:ext cx="1097280" cy="640080"/>
          </a:xfrm>
          <a:prstGeom prst="rect">
            <a:avLst/>
          </a:prstGeom>
          <a:noFill/>
          <a:ln/>
        </p:spPr>
        <p:txBody>
          <a:bodyPr wrap="square" lIns="762" tIns="762" rIns="762" bIns="762" rtlCol="0" anchor="ctr"/>
          <a:lstStyle/>
          <a:p>
            <a:pPr algn="ctr" indent="0" marL="0">
              <a:buNone/>
            </a:pPr>
            <a:r>
              <a:rPr lang="en-US" sz="1300" dirty="0">
                <a:solidFill>
                  <a:schemeClr val="bg1"/>
                </a:solidFill>
              </a:rPr>
              <a:t>msg 1</a:t>
            </a:r>
            <a:endParaRPr lang="en-US" sz="1300" dirty="0"/>
          </a:p>
        </p:txBody>
      </p:sp>
      <p:sp>
        <p:nvSpPr>
          <p:cNvPr id="32" name="box-126"/>
          <p:cNvSpPr/>
          <p:nvPr/>
        </p:nvSpPr>
        <p:spPr>
          <a:xfrm>
            <a:off x="10287000" y="3703320"/>
            <a:ext cx="1097280" cy="640080"/>
          </a:xfrm>
          <a:prstGeom prst="roundRect">
            <a:avLst>
              <a:gd name="adj" fmla="val 17143"/>
            </a:avLst>
          </a:prstGeom>
          <a:solidFill>
            <a:schemeClr val="accent6"/>
          </a:solidFill>
          <a:ln/>
        </p:spPr>
      </p:sp>
      <p:sp>
        <p:nvSpPr>
          <p:cNvPr id="33" name="label-127"/>
          <p:cNvSpPr txBox="1"/>
          <p:nvPr/>
        </p:nvSpPr>
        <p:spPr>
          <a:xfrm>
            <a:off x="10287000" y="3703320"/>
            <a:ext cx="1097280" cy="640080"/>
          </a:xfrm>
          <a:prstGeom prst="rect">
            <a:avLst/>
          </a:prstGeom>
          <a:noFill/>
          <a:ln/>
        </p:spPr>
        <p:txBody>
          <a:bodyPr wrap="square" lIns="762" tIns="762" rIns="762" bIns="762" rtlCol="0" anchor="ctr"/>
          <a:lstStyle/>
          <a:p>
            <a:pPr algn="ctr" indent="0" marL="0">
              <a:buNone/>
            </a:pPr>
            <a:r>
              <a:rPr lang="en-US" sz="1300" dirty="0">
                <a:solidFill>
                  <a:schemeClr val="bg1"/>
                </a:solidFill>
              </a:rPr>
              <a:t>msg 2</a:t>
            </a:r>
            <a:endParaRPr lang="en-US" sz="1300" dirty="0"/>
          </a:p>
        </p:txBody>
      </p:sp>
      <p:sp>
        <p:nvSpPr>
          <p:cNvPr id="34" name="arrow-128"/>
          <p:cNvSpPr/>
          <p:nvPr/>
        </p:nvSpPr>
        <p:spPr>
          <a:xfrm>
            <a:off x="10058400" y="2468880"/>
            <a:ext cx="228600" cy="914"/>
          </a:xfrm>
          <a:prstGeom prst="line">
            <a:avLst/>
          </a:prstGeom>
          <a:noFill/>
          <a:ln w="25400">
            <a:solidFill>
              <a:schemeClr val="accent6"/>
            </a:solidFill>
            <a:prstDash val="solid"/>
            <a:tailEnd type="triangle"/>
          </a:ln>
        </p:spPr>
      </p:sp>
      <p:sp>
        <p:nvSpPr>
          <p:cNvPr id="35" name="arrow-129"/>
          <p:cNvSpPr/>
          <p:nvPr/>
        </p:nvSpPr>
        <p:spPr>
          <a:xfrm>
            <a:off x="10058400" y="4023360"/>
            <a:ext cx="228600" cy="914"/>
          </a:xfrm>
          <a:prstGeom prst="line">
            <a:avLst/>
          </a:prstGeom>
          <a:noFill/>
          <a:ln w="25400">
            <a:solidFill>
              <a:schemeClr val="accent6"/>
            </a:solidFill>
            <a:prstDash val="solid"/>
            <a:tailEnd type="triangle"/>
          </a:ln>
        </p:spPr>
      </p:sp>
      <p:sp>
        <p:nvSpPr>
          <p:cNvPr id="36" name="text-130"/>
          <p:cNvSpPr txBox="1"/>
          <p:nvPr/>
        </p:nvSpPr>
        <p:spPr>
          <a:xfrm>
            <a:off x="6537960" y="4572000"/>
            <a:ext cx="4846320" cy="640080"/>
          </a:xfrm>
          <a:prstGeom prst="rect">
            <a:avLst/>
          </a:prstGeom>
          <a:noFill/>
          <a:ln/>
        </p:spPr>
        <p:txBody>
          <a:bodyPr wrap="square" lIns="0" tIns="0" rIns="0" bIns="0" rtlCol="0" anchor="ctr"/>
          <a:lstStyle/>
          <a:p>
            <a:pPr algn="l" indent="0" marL="0">
              <a:buNone/>
            </a:pPr>
            <a:r>
              <a:rPr lang="en-US" sz="1400" dirty="0">
                <a:solidFill>
                  <a:schemeClr val="tx1"/>
                </a:solidFill>
              </a:rPr>
              <a:t>Varias instancias de un mismo servicio se reparten los mensajes de su cola</a:t>
            </a:r>
            <a:endParaRPr lang="en-US" sz="1400" dirty="0"/>
          </a:p>
        </p:txBody>
      </p:sp>
      <p:sp>
        <p:nvSpPr>
          <p:cNvPr id="37" name="text-131"/>
          <p:cNvSpPr txBox="1"/>
          <p:nvPr/>
        </p:nvSpPr>
        <p:spPr>
          <a:xfrm>
            <a:off x="548640" y="5532120"/>
            <a:ext cx="11064240" cy="640080"/>
          </a:xfrm>
          <a:prstGeom prst="rect">
            <a:avLst/>
          </a:prstGeom>
          <a:noFill/>
          <a:ln/>
        </p:spPr>
        <p:txBody>
          <a:bodyPr wrap="square" lIns="0" tIns="0" rIns="0" bIns="0" rtlCol="0" anchor="ctr"/>
          <a:lstStyle/>
          <a:p>
            <a:pPr algn="l" indent="0" marL="0">
              <a:buNone/>
            </a:pPr>
            <a:r>
              <a:rPr lang="en-US" sz="1500" b="1" dirty="0">
                <a:solidFill>
                  <a:schemeClr val="accent1"/>
                </a:solidFill>
              </a:rPr>
              <a:t>Por eso la cola la declara el servicio que la consume: cada consumidor nuevo trae su cola y su binding, sin tocar al productor.</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Topología de colas en ReservaFit</a:t>
            </a:r>
            <a:endParaRPr lang="en-US" sz="3200" dirty="0"/>
          </a:p>
        </p:txBody>
      </p:sp>
      <p:sp>
        <p:nvSpPr>
          <p:cNvPr id="3" name="box-132"/>
          <p:cNvSpPr/>
          <p:nvPr/>
        </p:nvSpPr>
        <p:spPr>
          <a:xfrm>
            <a:off x="548640" y="1874520"/>
            <a:ext cx="2011680" cy="1097280"/>
          </a:xfrm>
          <a:prstGeom prst="roundRect">
            <a:avLst>
              <a:gd name="adj" fmla="val 10000"/>
            </a:avLst>
          </a:prstGeom>
          <a:solidFill>
            <a:schemeClr val="accent1"/>
          </a:solidFill>
          <a:ln/>
        </p:spPr>
      </p:sp>
      <p:sp>
        <p:nvSpPr>
          <p:cNvPr id="4" name="label-133"/>
          <p:cNvSpPr txBox="1"/>
          <p:nvPr/>
        </p:nvSpPr>
        <p:spPr>
          <a:xfrm>
            <a:off x="548640" y="1874520"/>
            <a:ext cx="2011680" cy="1097280"/>
          </a:xfrm>
          <a:prstGeom prst="rect">
            <a:avLst/>
          </a:prstGeom>
          <a:noFill/>
          <a:ln/>
        </p:spPr>
        <p:txBody>
          <a:bodyPr wrap="square" lIns="762" tIns="762" rIns="762" bIns="762" rtlCol="0" anchor="ctr"/>
          <a:lstStyle/>
          <a:p>
            <a:pPr algn="ctr" indent="0" marL="0">
              <a:buNone/>
            </a:pPr>
            <a:r>
              <a:rPr lang="en-US" sz="1500" b="1" dirty="0">
                <a:solidFill>
                  <a:schemeClr val="bg1"/>
                </a:solidFill>
              </a:rPr>
              <a:t>ms-reservas</a:t>
            </a:r>
            <a:endParaRPr lang="en-US" sz="1500" dirty="0"/>
          </a:p>
          <a:p>
            <a:pPr algn="ctr" indent="0" marL="0">
              <a:buNone/>
            </a:pPr>
            <a:r>
              <a:rPr lang="en-US" sz="1500" dirty="0">
                <a:solidFill>
                  <a:schemeClr val="bg1"/>
                </a:solidFill>
              </a:rPr>
              <a:t>productor</a:t>
            </a:r>
            <a:endParaRPr lang="en-US" sz="1500" dirty="0"/>
          </a:p>
        </p:txBody>
      </p:sp>
      <p:sp>
        <p:nvSpPr>
          <p:cNvPr id="5" name="arrow-134"/>
          <p:cNvSpPr/>
          <p:nvPr/>
        </p:nvSpPr>
        <p:spPr>
          <a:xfrm>
            <a:off x="2560320" y="2423160"/>
            <a:ext cx="868680" cy="914"/>
          </a:xfrm>
          <a:prstGeom prst="line">
            <a:avLst/>
          </a:prstGeom>
          <a:noFill/>
          <a:ln w="31750">
            <a:solidFill>
              <a:schemeClr val="accent1"/>
            </a:solidFill>
            <a:prstDash val="solid"/>
            <a:tailEnd type="triangle"/>
          </a:ln>
        </p:spPr>
      </p:sp>
      <p:sp>
        <p:nvSpPr>
          <p:cNvPr id="6" name="text-135"/>
          <p:cNvSpPr txBox="1"/>
          <p:nvPr/>
        </p:nvSpPr>
        <p:spPr>
          <a:xfrm>
            <a:off x="548640" y="3108960"/>
            <a:ext cx="3108960" cy="365760"/>
          </a:xfrm>
          <a:prstGeom prst="rect">
            <a:avLst/>
          </a:prstGeom>
          <a:noFill/>
          <a:ln/>
        </p:spPr>
        <p:txBody>
          <a:bodyPr wrap="square" lIns="0" tIns="0" rIns="0" bIns="0" rtlCol="0" anchor="ctr"/>
          <a:lstStyle/>
          <a:p>
            <a:pPr algn="l" indent="0" marL="0">
              <a:buNone/>
            </a:pPr>
            <a:r>
              <a:rPr lang="en-US" sz="1100" dirty="0">
                <a:solidFill>
                  <a:schemeClr val="tx1"/>
                </a:solidFill>
                <a:latin typeface="Courier New" pitchFamily="34" charset="0"/>
                <a:ea typeface="Courier New" pitchFamily="34" charset="-122"/>
                <a:cs typeface="Courier New" pitchFamily="34" charset="-120"/>
              </a:rPr>
              <a:t>publica booking.created o booking.cancelled</a:t>
            </a:r>
            <a:endParaRPr lang="en-US" sz="1100" dirty="0"/>
          </a:p>
        </p:txBody>
      </p:sp>
      <p:sp>
        <p:nvSpPr>
          <p:cNvPr id="7" name="box-136"/>
          <p:cNvSpPr/>
          <p:nvPr/>
        </p:nvSpPr>
        <p:spPr>
          <a:xfrm>
            <a:off x="3429000" y="1783080"/>
            <a:ext cx="2468880" cy="1280160"/>
          </a:xfrm>
          <a:prstGeom prst="roundRect">
            <a:avLst>
              <a:gd name="adj" fmla="val 8571"/>
            </a:avLst>
          </a:prstGeom>
          <a:solidFill>
            <a:schemeClr val="tx2"/>
          </a:solidFill>
          <a:ln/>
        </p:spPr>
      </p:sp>
      <p:sp>
        <p:nvSpPr>
          <p:cNvPr id="8" name="label-137"/>
          <p:cNvSpPr txBox="1"/>
          <p:nvPr/>
        </p:nvSpPr>
        <p:spPr>
          <a:xfrm>
            <a:off x="3429000" y="1783080"/>
            <a:ext cx="2468880" cy="1280160"/>
          </a:xfrm>
          <a:prstGeom prst="rect">
            <a:avLst/>
          </a:prstGeom>
          <a:noFill/>
          <a:ln/>
        </p:spPr>
        <p:txBody>
          <a:bodyPr wrap="square" lIns="762" tIns="762" rIns="762" bIns="762"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reservafit.events</a:t>
            </a:r>
            <a:endParaRPr lang="en-US" sz="1400" dirty="0"/>
          </a:p>
          <a:p>
            <a:pPr algn="ctr" indent="0" marL="0">
              <a:buNone/>
            </a:pPr>
            <a:r>
              <a:rPr lang="en-US" sz="1400" dirty="0">
                <a:solidFill>
                  <a:schemeClr val="bg1"/>
                </a:solidFill>
              </a:rPr>
              <a:t>exchange topic</a:t>
            </a:r>
            <a:endParaRPr lang="en-US" sz="1400" dirty="0"/>
          </a:p>
        </p:txBody>
      </p:sp>
      <p:sp>
        <p:nvSpPr>
          <p:cNvPr id="9" name="box-138"/>
          <p:cNvSpPr/>
          <p:nvPr/>
        </p:nvSpPr>
        <p:spPr>
          <a:xfrm>
            <a:off x="6720840" y="1280160"/>
            <a:ext cx="2606040" cy="777240"/>
          </a:xfrm>
          <a:prstGeom prst="roundRect">
            <a:avLst>
              <a:gd name="adj" fmla="val 14118"/>
            </a:avLst>
          </a:prstGeom>
          <a:solidFill>
            <a:schemeClr val="bg1"/>
          </a:solidFill>
          <a:ln w="15875">
            <a:solidFill>
              <a:schemeClr val="accent2"/>
            </a:solidFill>
            <a:prstDash val="solid"/>
          </a:ln>
        </p:spPr>
      </p:sp>
      <p:sp>
        <p:nvSpPr>
          <p:cNvPr id="10" name="label-139"/>
          <p:cNvSpPr txBox="1"/>
          <p:nvPr/>
        </p:nvSpPr>
        <p:spPr>
          <a:xfrm>
            <a:off x="6720840" y="1280160"/>
            <a:ext cx="2606040" cy="777240"/>
          </a:xfrm>
          <a:prstGeom prst="rect">
            <a:avLst/>
          </a:prstGeom>
          <a:noFill/>
          <a:ln/>
        </p:spPr>
        <p:txBody>
          <a:bodyPr wrap="square" lIns="762" tIns="762" rIns="762" bIns="762"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gimnasios.bookings</a:t>
            </a:r>
            <a:endParaRPr lang="en-US" sz="1200" dirty="0"/>
          </a:p>
          <a:p>
            <a:pPr algn="ctr" indent="0" marL="0">
              <a:buNone/>
            </a:pPr>
            <a:r>
              <a:rPr lang="en-US" sz="1200" dirty="0">
                <a:solidFill>
                  <a:schemeClr val="tx1"/>
                </a:solidFill>
              </a:rPr>
              <a:t>cola durable</a:t>
            </a:r>
            <a:endParaRPr lang="en-US" sz="1200" dirty="0"/>
          </a:p>
        </p:txBody>
      </p:sp>
      <p:sp>
        <p:nvSpPr>
          <p:cNvPr id="11" name="box-140"/>
          <p:cNvSpPr/>
          <p:nvPr/>
        </p:nvSpPr>
        <p:spPr>
          <a:xfrm>
            <a:off x="6720840" y="2788920"/>
            <a:ext cx="2606040" cy="777240"/>
          </a:xfrm>
          <a:prstGeom prst="roundRect">
            <a:avLst>
              <a:gd name="adj" fmla="val 14118"/>
            </a:avLst>
          </a:prstGeom>
          <a:solidFill>
            <a:schemeClr val="bg1"/>
          </a:solidFill>
          <a:ln w="15875">
            <a:solidFill>
              <a:schemeClr val="accent3"/>
            </a:solidFill>
            <a:prstDash val="solid"/>
          </a:ln>
        </p:spPr>
      </p:sp>
      <p:sp>
        <p:nvSpPr>
          <p:cNvPr id="12" name="label-141"/>
          <p:cNvSpPr txBox="1"/>
          <p:nvPr/>
        </p:nvSpPr>
        <p:spPr>
          <a:xfrm>
            <a:off x="6720840" y="2788920"/>
            <a:ext cx="2606040" cy="777240"/>
          </a:xfrm>
          <a:prstGeom prst="rect">
            <a:avLst/>
          </a:prstGeom>
          <a:noFill/>
          <a:ln/>
        </p:spPr>
        <p:txBody>
          <a:bodyPr wrap="square" lIns="762" tIns="762" rIns="762" bIns="762"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notificaciones.bookings</a:t>
            </a:r>
            <a:endParaRPr lang="en-US" sz="1200" dirty="0"/>
          </a:p>
          <a:p>
            <a:pPr algn="ctr" indent="0" marL="0">
              <a:buNone/>
            </a:pPr>
            <a:r>
              <a:rPr lang="en-US" sz="1200" dirty="0">
                <a:solidFill>
                  <a:schemeClr val="tx1"/>
                </a:solidFill>
              </a:rPr>
              <a:t>cola durable</a:t>
            </a:r>
            <a:endParaRPr lang="en-US" sz="1200" dirty="0"/>
          </a:p>
        </p:txBody>
      </p:sp>
      <p:sp>
        <p:nvSpPr>
          <p:cNvPr id="13" name="arrow-142"/>
          <p:cNvSpPr/>
          <p:nvPr/>
        </p:nvSpPr>
        <p:spPr>
          <a:xfrm flipV="1">
            <a:off x="5897880" y="1673352"/>
            <a:ext cx="822960" cy="566928"/>
          </a:xfrm>
          <a:prstGeom prst="line">
            <a:avLst/>
          </a:prstGeom>
          <a:noFill/>
          <a:ln w="25400">
            <a:solidFill>
              <a:schemeClr val="accent6"/>
            </a:solidFill>
            <a:prstDash val="solid"/>
            <a:tailEnd type="triangle"/>
          </a:ln>
        </p:spPr>
      </p:sp>
      <p:sp>
        <p:nvSpPr>
          <p:cNvPr id="14" name="arrow-143"/>
          <p:cNvSpPr/>
          <p:nvPr/>
        </p:nvSpPr>
        <p:spPr>
          <a:xfrm>
            <a:off x="5897880" y="2606040"/>
            <a:ext cx="822960" cy="566928"/>
          </a:xfrm>
          <a:prstGeom prst="line">
            <a:avLst/>
          </a:prstGeom>
          <a:noFill/>
          <a:ln w="25400">
            <a:solidFill>
              <a:schemeClr val="accent6"/>
            </a:solidFill>
            <a:prstDash val="solid"/>
            <a:tailEnd type="triangle"/>
          </a:ln>
        </p:spPr>
      </p:sp>
      <p:sp>
        <p:nvSpPr>
          <p:cNvPr id="15" name="text-144"/>
          <p:cNvSpPr txBox="1"/>
          <p:nvPr/>
        </p:nvSpPr>
        <p:spPr>
          <a:xfrm>
            <a:off x="5806440" y="2240280"/>
            <a:ext cx="960120" cy="36576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booking.*</a:t>
            </a:r>
            <a:endParaRPr lang="en-US" sz="1100" dirty="0"/>
          </a:p>
        </p:txBody>
      </p:sp>
      <p:sp>
        <p:nvSpPr>
          <p:cNvPr id="16" name="box-145"/>
          <p:cNvSpPr/>
          <p:nvPr/>
        </p:nvSpPr>
        <p:spPr>
          <a:xfrm>
            <a:off x="9784080" y="1280160"/>
            <a:ext cx="1828800" cy="777240"/>
          </a:xfrm>
          <a:prstGeom prst="roundRect">
            <a:avLst>
              <a:gd name="adj" fmla="val 14118"/>
            </a:avLst>
          </a:prstGeom>
          <a:solidFill>
            <a:schemeClr val="accent2"/>
          </a:solidFill>
          <a:ln/>
        </p:spPr>
      </p:sp>
      <p:sp>
        <p:nvSpPr>
          <p:cNvPr id="17" name="label-146"/>
          <p:cNvSpPr txBox="1"/>
          <p:nvPr/>
        </p:nvSpPr>
        <p:spPr>
          <a:xfrm>
            <a:off x="9784080" y="1280160"/>
            <a:ext cx="1828800" cy="777240"/>
          </a:xfrm>
          <a:prstGeom prst="rect">
            <a:avLst/>
          </a:prstGeom>
          <a:noFill/>
          <a:ln/>
        </p:spPr>
        <p:txBody>
          <a:bodyPr wrap="square" lIns="762" tIns="762" rIns="762" bIns="762" rtlCol="0" anchor="ctr"/>
          <a:lstStyle/>
          <a:p>
            <a:pPr algn="ctr" indent="0" marL="0">
              <a:buNone/>
            </a:pPr>
            <a:r>
              <a:rPr lang="en-US" sz="1200" b="1" dirty="0">
                <a:solidFill>
                  <a:schemeClr val="bg1"/>
                </a:solidFill>
              </a:rPr>
              <a:t>ms-gimnasios</a:t>
            </a:r>
            <a:endParaRPr lang="en-US" sz="1200" dirty="0"/>
          </a:p>
          <a:p>
            <a:pPr algn="ctr" indent="0" marL="0">
              <a:buNone/>
            </a:pPr>
            <a:r>
              <a:rPr lang="en-US" sz="1200" dirty="0">
                <a:solidFill>
                  <a:schemeClr val="bg1"/>
                </a:solidFill>
              </a:rPr>
              <a:t>reserva_gimnasio</a:t>
            </a:r>
            <a:endParaRPr lang="en-US" sz="1200" dirty="0"/>
          </a:p>
        </p:txBody>
      </p:sp>
      <p:sp>
        <p:nvSpPr>
          <p:cNvPr id="18" name="box-147"/>
          <p:cNvSpPr/>
          <p:nvPr/>
        </p:nvSpPr>
        <p:spPr>
          <a:xfrm>
            <a:off x="9784080" y="2788920"/>
            <a:ext cx="1828800" cy="777240"/>
          </a:xfrm>
          <a:prstGeom prst="roundRect">
            <a:avLst>
              <a:gd name="adj" fmla="val 14118"/>
            </a:avLst>
          </a:prstGeom>
          <a:solidFill>
            <a:schemeClr val="accent3"/>
          </a:solidFill>
          <a:ln/>
        </p:spPr>
      </p:sp>
      <p:sp>
        <p:nvSpPr>
          <p:cNvPr id="19" name="label-148"/>
          <p:cNvSpPr txBox="1"/>
          <p:nvPr/>
        </p:nvSpPr>
        <p:spPr>
          <a:xfrm>
            <a:off x="9784080" y="2788920"/>
            <a:ext cx="1828800" cy="777240"/>
          </a:xfrm>
          <a:prstGeom prst="rect">
            <a:avLst/>
          </a:prstGeom>
          <a:noFill/>
          <a:ln/>
        </p:spPr>
        <p:txBody>
          <a:bodyPr wrap="square" lIns="762" tIns="762" rIns="762" bIns="762" rtlCol="0" anchor="ctr"/>
          <a:lstStyle/>
          <a:p>
            <a:pPr algn="ctr" indent="0" marL="0">
              <a:buNone/>
            </a:pPr>
            <a:r>
              <a:rPr lang="en-US" sz="1200" b="1" dirty="0">
                <a:solidFill>
                  <a:schemeClr val="bg1"/>
                </a:solidFill>
              </a:rPr>
              <a:t>ms-notificaciones</a:t>
            </a:r>
            <a:endParaRPr lang="en-US" sz="1200" dirty="0"/>
          </a:p>
          <a:p>
            <a:pPr algn="ctr" indent="0" marL="0">
              <a:buNone/>
            </a:pPr>
            <a:r>
              <a:rPr lang="en-US" sz="1200" dirty="0">
                <a:solidFill>
                  <a:schemeClr val="bg1"/>
                </a:solidFill>
              </a:rPr>
              <a:t>notificacion</a:t>
            </a:r>
            <a:endParaRPr lang="en-US" sz="1200" dirty="0"/>
          </a:p>
        </p:txBody>
      </p:sp>
      <p:sp>
        <p:nvSpPr>
          <p:cNvPr id="20" name="arrow-149"/>
          <p:cNvSpPr/>
          <p:nvPr/>
        </p:nvSpPr>
        <p:spPr>
          <a:xfrm>
            <a:off x="9326880" y="1673352"/>
            <a:ext cx="457200" cy="914"/>
          </a:xfrm>
          <a:prstGeom prst="line">
            <a:avLst/>
          </a:prstGeom>
          <a:noFill/>
          <a:ln w="25400">
            <a:solidFill>
              <a:schemeClr val="accent2"/>
            </a:solidFill>
            <a:prstDash val="solid"/>
            <a:tailEnd type="triangle"/>
          </a:ln>
        </p:spPr>
      </p:sp>
      <p:sp>
        <p:nvSpPr>
          <p:cNvPr id="21" name="arrow-150"/>
          <p:cNvSpPr/>
          <p:nvPr/>
        </p:nvSpPr>
        <p:spPr>
          <a:xfrm>
            <a:off x="9326880" y="3172968"/>
            <a:ext cx="457200" cy="914"/>
          </a:xfrm>
          <a:prstGeom prst="line">
            <a:avLst/>
          </a:prstGeom>
          <a:noFill/>
          <a:ln w="25400">
            <a:solidFill>
              <a:schemeClr val="accent3"/>
            </a:solidFill>
            <a:prstDash val="solid"/>
            <a:tailEnd type="triangle"/>
          </a:ln>
        </p:spPr>
      </p:sp>
      <p:sp>
        <p:nvSpPr>
          <p:cNvPr id="22" name="box-151"/>
          <p:cNvSpPr/>
          <p:nvPr/>
        </p:nvSpPr>
        <p:spPr>
          <a:xfrm>
            <a:off x="548640" y="4160520"/>
            <a:ext cx="11064240" cy="2011680"/>
          </a:xfrm>
          <a:prstGeom prst="roundRect">
            <a:avLst>
              <a:gd name="adj" fmla="val 6818"/>
            </a:avLst>
          </a:prstGeom>
          <a:solidFill>
            <a:schemeClr val="bg2"/>
          </a:solidFill>
          <a:ln/>
        </p:spPr>
      </p:sp>
      <p:sp>
        <p:nvSpPr>
          <p:cNvPr id="23" name="text-152"/>
          <p:cNvSpPr txBox="1"/>
          <p:nvPr/>
        </p:nvSpPr>
        <p:spPr>
          <a:xfrm>
            <a:off x="822960" y="4251960"/>
            <a:ext cx="6400800" cy="411480"/>
          </a:xfrm>
          <a:prstGeom prst="rect">
            <a:avLst/>
          </a:prstGeom>
          <a:noFill/>
          <a:ln/>
        </p:spPr>
        <p:txBody>
          <a:bodyPr wrap="square" lIns="0" tIns="0" rIns="0" bIns="0" rtlCol="0" anchor="ctr"/>
          <a:lstStyle/>
          <a:p>
            <a:pPr algn="l" indent="0" marL="0">
              <a:buNone/>
            </a:pPr>
            <a:r>
              <a:rPr lang="en-US" sz="1500" b="1" dirty="0">
                <a:solidFill>
                  <a:schemeClr val="tx1"/>
                </a:solidFill>
              </a:rPr>
              <a:t>Dead letters: cada cola se declara con dos argumentos</a:t>
            </a:r>
            <a:endParaRPr lang="en-US" sz="1500" dirty="0"/>
          </a:p>
        </p:txBody>
      </p:sp>
      <p:sp>
        <p:nvSpPr>
          <p:cNvPr id="24" name="text-153"/>
          <p:cNvSpPr txBox="1"/>
          <p:nvPr/>
        </p:nvSpPr>
        <p:spPr>
          <a:xfrm>
            <a:off x="822960" y="4754880"/>
            <a:ext cx="3931920" cy="822960"/>
          </a:xfrm>
          <a:prstGeom prst="rect">
            <a:avLst/>
          </a:prstGeom>
          <a:noFill/>
          <a:ln/>
        </p:spPr>
        <p:txBody>
          <a:bodyPr wrap="square" lIns="0" tIns="0" rIns="0" bIns="0" rtlCol="0" anchor="ctr"/>
          <a:lstStyle/>
          <a:p>
            <a:pPr algn="l" indent="0" marL="0">
              <a:buNone/>
            </a:pPr>
            <a:r>
              <a:rPr lang="en-US" sz="1200" dirty="0">
                <a:solidFill>
                  <a:schemeClr val="tx1"/>
                </a:solidFill>
                <a:latin typeface="Courier New" pitchFamily="34" charset="0"/>
                <a:ea typeface="Courier New" pitchFamily="34" charset="-122"/>
                <a:cs typeface="Courier New" pitchFamily="34" charset="-120"/>
              </a:rPr>
              <a:t>x-dead-letter-exchange = reservafit.dlx</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x-dead-letter-routing-key = &lt;cola&gt;.dlq</a:t>
            </a:r>
            <a:endParaRPr lang="en-US" sz="1200" dirty="0"/>
          </a:p>
        </p:txBody>
      </p:sp>
      <p:sp>
        <p:nvSpPr>
          <p:cNvPr id="25" name="box-154"/>
          <p:cNvSpPr/>
          <p:nvPr/>
        </p:nvSpPr>
        <p:spPr>
          <a:xfrm>
            <a:off x="4937760" y="4800600"/>
            <a:ext cx="2057400" cy="822960"/>
          </a:xfrm>
          <a:prstGeom prst="roundRect">
            <a:avLst>
              <a:gd name="adj" fmla="val 13333"/>
            </a:avLst>
          </a:prstGeom>
          <a:solidFill>
            <a:schemeClr val="accent4"/>
          </a:solidFill>
          <a:ln/>
        </p:spPr>
      </p:sp>
      <p:sp>
        <p:nvSpPr>
          <p:cNvPr id="26" name="label-155"/>
          <p:cNvSpPr txBox="1"/>
          <p:nvPr/>
        </p:nvSpPr>
        <p:spPr>
          <a:xfrm>
            <a:off x="4937760" y="4800600"/>
            <a:ext cx="2057400" cy="822960"/>
          </a:xfrm>
          <a:prstGeom prst="rect">
            <a:avLst/>
          </a:prstGeom>
          <a:no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reservafit.dlx</a:t>
            </a:r>
            <a:endParaRPr lang="en-US" sz="1200" dirty="0"/>
          </a:p>
          <a:p>
            <a:pPr algn="ctr" indent="0" marL="0">
              <a:buNone/>
            </a:pPr>
            <a:r>
              <a:rPr lang="en-US" sz="1200" dirty="0">
                <a:solidFill>
                  <a:schemeClr val="bg1"/>
                </a:solidFill>
              </a:rPr>
              <a:t>exchange direct</a:t>
            </a:r>
            <a:endParaRPr lang="en-US" sz="1200" dirty="0"/>
          </a:p>
        </p:txBody>
      </p:sp>
      <p:sp>
        <p:nvSpPr>
          <p:cNvPr id="27" name="arrow-156"/>
          <p:cNvSpPr/>
          <p:nvPr/>
        </p:nvSpPr>
        <p:spPr>
          <a:xfrm>
            <a:off x="4526280" y="5212080"/>
            <a:ext cx="411480" cy="914"/>
          </a:xfrm>
          <a:prstGeom prst="line">
            <a:avLst/>
          </a:prstGeom>
          <a:noFill/>
          <a:ln w="25400">
            <a:solidFill>
              <a:schemeClr val="accent4"/>
            </a:solidFill>
            <a:prstDash val="dash"/>
            <a:tailEnd type="triangle"/>
          </a:ln>
        </p:spPr>
      </p:sp>
      <p:sp>
        <p:nvSpPr>
          <p:cNvPr id="28" name="box-157"/>
          <p:cNvSpPr/>
          <p:nvPr/>
        </p:nvSpPr>
        <p:spPr>
          <a:xfrm>
            <a:off x="7726680" y="4572000"/>
            <a:ext cx="3657600" cy="548640"/>
          </a:xfrm>
          <a:prstGeom prst="roundRect">
            <a:avLst>
              <a:gd name="adj" fmla="val 20000"/>
            </a:avLst>
          </a:prstGeom>
          <a:solidFill>
            <a:schemeClr val="bg1"/>
          </a:solidFill>
          <a:ln w="15875">
            <a:solidFill>
              <a:schemeClr val="accent4"/>
            </a:solidFill>
            <a:prstDash val="solid"/>
          </a:ln>
        </p:spPr>
      </p:sp>
      <p:sp>
        <p:nvSpPr>
          <p:cNvPr id="29" name="label-158"/>
          <p:cNvSpPr txBox="1"/>
          <p:nvPr/>
        </p:nvSpPr>
        <p:spPr>
          <a:xfrm>
            <a:off x="7726680" y="4572000"/>
            <a:ext cx="3657600" cy="548640"/>
          </a:xfrm>
          <a:prstGeom prst="rect">
            <a:avLst/>
          </a:prstGeom>
          <a:noFill/>
          <a:ln/>
        </p:spPr>
        <p:txBody>
          <a:bodyPr wrap="square" lIns="762" tIns="762" rIns="762" bIns="762"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gimnasios.bookings.dlq</a:t>
            </a:r>
            <a:endParaRPr lang="en-US" sz="1200" dirty="0"/>
          </a:p>
        </p:txBody>
      </p:sp>
      <p:sp>
        <p:nvSpPr>
          <p:cNvPr id="30" name="box-159"/>
          <p:cNvSpPr/>
          <p:nvPr/>
        </p:nvSpPr>
        <p:spPr>
          <a:xfrm>
            <a:off x="7726680" y="5349240"/>
            <a:ext cx="3657600" cy="548640"/>
          </a:xfrm>
          <a:prstGeom prst="roundRect">
            <a:avLst>
              <a:gd name="adj" fmla="val 20000"/>
            </a:avLst>
          </a:prstGeom>
          <a:solidFill>
            <a:schemeClr val="bg1"/>
          </a:solidFill>
          <a:ln w="15875">
            <a:solidFill>
              <a:schemeClr val="accent4"/>
            </a:solidFill>
            <a:prstDash val="solid"/>
          </a:ln>
        </p:spPr>
      </p:sp>
      <p:sp>
        <p:nvSpPr>
          <p:cNvPr id="31" name="label-160"/>
          <p:cNvSpPr txBox="1"/>
          <p:nvPr/>
        </p:nvSpPr>
        <p:spPr>
          <a:xfrm>
            <a:off x="7726680" y="5349240"/>
            <a:ext cx="3657600" cy="548640"/>
          </a:xfrm>
          <a:prstGeom prst="rect">
            <a:avLst/>
          </a:prstGeom>
          <a:noFill/>
          <a:ln/>
        </p:spPr>
        <p:txBody>
          <a:bodyPr wrap="square" lIns="762" tIns="762" rIns="762" bIns="762"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notificaciones.bookings.dlq</a:t>
            </a:r>
            <a:endParaRPr lang="en-US" sz="1200" dirty="0"/>
          </a:p>
        </p:txBody>
      </p:sp>
      <p:sp>
        <p:nvSpPr>
          <p:cNvPr id="32" name="arrow-161"/>
          <p:cNvSpPr/>
          <p:nvPr/>
        </p:nvSpPr>
        <p:spPr>
          <a:xfrm flipV="1">
            <a:off x="6995160" y="4846320"/>
            <a:ext cx="731520" cy="228600"/>
          </a:xfrm>
          <a:prstGeom prst="line">
            <a:avLst/>
          </a:prstGeom>
          <a:noFill/>
          <a:ln w="25400">
            <a:solidFill>
              <a:schemeClr val="accent4"/>
            </a:solidFill>
            <a:prstDash val="solid"/>
            <a:tailEnd type="triangle"/>
          </a:ln>
        </p:spPr>
      </p:sp>
      <p:sp>
        <p:nvSpPr>
          <p:cNvPr id="33" name="arrow-162"/>
          <p:cNvSpPr/>
          <p:nvPr/>
        </p:nvSpPr>
        <p:spPr>
          <a:xfrm>
            <a:off x="6995160" y="5349240"/>
            <a:ext cx="731520" cy="274320"/>
          </a:xfrm>
          <a:prstGeom prst="line">
            <a:avLst/>
          </a:prstGeom>
          <a:noFill/>
          <a:ln w="25400">
            <a:solidFill>
              <a:schemeClr val="accent4"/>
            </a:solidFill>
            <a:prstDash val="solid"/>
            <a:tailEnd type="triangle"/>
          </a:ln>
        </p:spPr>
      </p:sp>
      <p:sp>
        <p:nvSpPr>
          <p:cNvPr id="34" name="text-163"/>
          <p:cNvSpPr txBox="1"/>
          <p:nvPr/>
        </p:nvSpPr>
        <p:spPr>
          <a:xfrm>
            <a:off x="4343400" y="5577840"/>
            <a:ext cx="914400" cy="320040"/>
          </a:xfrm>
          <a:prstGeom prst="rect">
            <a:avLst/>
          </a:prstGeom>
          <a:noFill/>
          <a:ln/>
        </p:spPr>
        <p:txBody>
          <a:bodyPr wrap="square" lIns="0" tIns="0" rIns="0" bIns="0" rtlCol="0" anchor="ctr"/>
          <a:lstStyle/>
          <a:p>
            <a:pPr algn="ctr" indent="0" marL="0">
              <a:buNone/>
            </a:pPr>
            <a:r>
              <a:rPr lang="en-US" sz="1100" dirty="0">
                <a:solidFill>
                  <a:schemeClr val="accent4"/>
                </a:solidFill>
              </a:rPr>
              <a:t>rechazado</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El mensaje: BookingEvent en JSON</a:t>
            </a:r>
            <a:endParaRPr lang="en-US" sz="3200" dirty="0"/>
          </a:p>
        </p:txBody>
      </p:sp>
      <p:sp>
        <p:nvSpPr>
          <p:cNvPr id="3" name="box-164"/>
          <p:cNvSpPr/>
          <p:nvPr/>
        </p:nvSpPr>
        <p:spPr>
          <a:xfrm>
            <a:off x="548640" y="1325880"/>
            <a:ext cx="5120640" cy="3657600"/>
          </a:xfrm>
          <a:prstGeom prst="roundRect">
            <a:avLst>
              <a:gd name="adj" fmla="val 2500"/>
            </a:avLst>
          </a:prstGeom>
          <a:solidFill>
            <a:schemeClr val="tx2"/>
          </a:solidFill>
          <a:ln/>
        </p:spPr>
      </p:sp>
      <p:sp>
        <p:nvSpPr>
          <p:cNvPr id="4" name="code-165"/>
          <p:cNvSpPr txBox="1"/>
          <p:nvPr/>
        </p:nvSpPr>
        <p:spPr>
          <a:xfrm>
            <a:off x="777240" y="1463040"/>
            <a:ext cx="4663440" cy="3383280"/>
          </a:xfrm>
          <a:prstGeom prst="rect">
            <a:avLst/>
          </a:prstGeom>
          <a:noFill/>
          <a:ln/>
        </p:spPr>
        <p:txBody>
          <a:bodyPr wrap="square" lIns="0" tIns="0" rIns="0" bIns="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"bookingId": </a:t>
            </a:r>
            <a:pPr indent="0" marL="0">
              <a:buNone/>
            </a:pPr>
            <a:r>
              <a:rPr lang="en-US" sz="1500" dirty="0">
                <a:solidFill>
                  <a:schemeClr val="accent1"/>
                </a:solidFill>
                <a:latin typeface="Courier New" pitchFamily="34" charset="0"/>
                <a:ea typeface="Courier New" pitchFamily="34" charset="-122"/>
                <a:cs typeface="Courier New" pitchFamily="34" charset="-120"/>
              </a:rPr>
              <a:t>42,</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"userOid": </a:t>
            </a:r>
            <a:pPr indent="0" marL="0">
              <a:buNone/>
            </a:pPr>
            <a:r>
              <a:rPr lang="en-US" sz="1500" dirty="0">
                <a:solidFill>
                  <a:schemeClr val="accent1"/>
                </a:solidFill>
                <a:latin typeface="Courier New" pitchFamily="34" charset="0"/>
                <a:ea typeface="Courier New" pitchFamily="34" charset="-122"/>
                <a:cs typeface="Courier New" pitchFamily="34" charset="-120"/>
              </a:rPr>
              <a:t>"9f3c…a1b2",</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"gymId": </a:t>
            </a:r>
            <a:pPr indent="0" marL="0">
              <a:buNone/>
            </a:pPr>
            <a:r>
              <a:rPr lang="en-US" sz="1500" dirty="0">
                <a:solidFill>
                  <a:schemeClr val="accent1"/>
                </a:solidFill>
                <a:latin typeface="Courier New" pitchFamily="34" charset="0"/>
                <a:ea typeface="Courier New" pitchFamily="34" charset="-122"/>
                <a:cs typeface="Courier New" pitchFamily="34" charset="-120"/>
              </a:rPr>
              <a:t>1,</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"scheduleId": </a:t>
            </a:r>
            <a:pPr indent="0" marL="0">
              <a:buNone/>
            </a:pPr>
            <a:r>
              <a:rPr lang="en-US" sz="1500" dirty="0">
                <a:solidFill>
                  <a:schemeClr val="accent1"/>
                </a:solidFill>
                <a:latin typeface="Courier New" pitchFamily="34" charset="0"/>
                <a:ea typeface="Courier New" pitchFamily="34" charset="-122"/>
                <a:cs typeface="Courier New" pitchFamily="34" charset="-120"/>
              </a:rPr>
              <a:t>3,</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"date": </a:t>
            </a:r>
            <a:pPr indent="0" marL="0">
              <a:buNone/>
            </a:pPr>
            <a:r>
              <a:rPr lang="en-US" sz="1500" dirty="0">
                <a:solidFill>
                  <a:schemeClr val="accent1"/>
                </a:solidFill>
                <a:latin typeface="Courier New" pitchFamily="34" charset="0"/>
                <a:ea typeface="Courier New" pitchFamily="34" charset="-122"/>
                <a:cs typeface="Courier New" pitchFamily="34" charset="-120"/>
              </a:rPr>
              <a:t>"2026-10-21",</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"gymName": </a:t>
            </a:r>
            <a:pPr indent="0" marL="0">
              <a:buNone/>
            </a:pPr>
            <a:r>
              <a:rPr lang="en-US" sz="1500" dirty="0">
                <a:solidFill>
                  <a:schemeClr val="accent1"/>
                </a:solidFill>
                <a:latin typeface="Courier New" pitchFamily="34" charset="0"/>
                <a:ea typeface="Courier New" pitchFamily="34" charset="-122"/>
                <a:cs typeface="Courier New" pitchFamily="34" charset="-120"/>
              </a:rPr>
              <a:t>"Fuerza Barrio Gym",</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"startTime": </a:t>
            </a:r>
            <a:pPr indent="0" marL="0">
              <a:buNone/>
            </a:pPr>
            <a:r>
              <a:rPr lang="en-US" sz="1500" dirty="0">
                <a:solidFill>
                  <a:schemeClr val="accent1"/>
                </a:solidFill>
                <a:latin typeface="Courier New" pitchFamily="34" charset="0"/>
                <a:ea typeface="Courier New" pitchFamily="34" charset="-122"/>
                <a:cs typeface="Courier New" pitchFamily="34" charset="-120"/>
              </a:rPr>
              <a:t>"18:00:00",</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"endTime": </a:t>
            </a:r>
            <a:pPr indent="0" marL="0">
              <a:buNone/>
            </a:pPr>
            <a:r>
              <a:rPr lang="en-US" sz="1500" dirty="0">
                <a:solidFill>
                  <a:schemeClr val="accent1"/>
                </a:solidFill>
                <a:latin typeface="Courier New" pitchFamily="34" charset="0"/>
                <a:ea typeface="Courier New" pitchFamily="34" charset="-122"/>
                <a:cs typeface="Courier New" pitchFamily="34" charset="-120"/>
              </a:rPr>
              <a:t>"19:00:00",</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"status": </a:t>
            </a:r>
            <a:pPr indent="0" marL="0">
              <a:buNone/>
            </a:pPr>
            <a:r>
              <a:rPr lang="en-US" sz="1500" dirty="0">
                <a:solidFill>
                  <a:schemeClr val="accent1"/>
                </a:solidFill>
                <a:latin typeface="Courier New" pitchFamily="34" charset="0"/>
                <a:ea typeface="Courier New" pitchFamily="34" charset="-122"/>
                <a:cs typeface="Courier New" pitchFamily="34" charset="-120"/>
              </a:rPr>
              <a:t>"CONFIRMADA"</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a:t>
            </a:r>
            <a:endParaRPr lang="en-US" sz="1500" dirty="0"/>
          </a:p>
        </p:txBody>
      </p:sp>
      <p:sp>
        <p:nvSpPr>
          <p:cNvPr id="5" name="text-166"/>
          <p:cNvSpPr txBox="1"/>
          <p:nvPr/>
        </p:nvSpPr>
        <p:spPr>
          <a:xfrm>
            <a:off x="548640" y="5120640"/>
            <a:ext cx="5486400" cy="548640"/>
          </a:xfrm>
          <a:prstGeom prst="rect">
            <a:avLst/>
          </a:prstGeom>
          <a:noFill/>
          <a:ln/>
        </p:spPr>
        <p:txBody>
          <a:bodyPr wrap="square" lIns="0" tIns="0" rIns="0" bIns="0" rtlCol="0" anchor="t"/>
          <a:lstStyle/>
          <a:p>
            <a:pPr algn="l" indent="0" marL="0">
              <a:buNone/>
            </a:pPr>
            <a:r>
              <a:rPr lang="en-US" sz="1200" dirty="0">
                <a:solidFill>
                  <a:schemeClr val="accent6"/>
                </a:solidFill>
                <a:latin typeface="Courier New" pitchFamily="34" charset="0"/>
                <a:ea typeface="Courier New" pitchFamily="34" charset="-122"/>
                <a:cs typeface="Courier New" pitchFamily="34" charset="-120"/>
              </a:rPr>
              <a:t>routing key: booking.created · content-type: application/json</a:t>
            </a:r>
            <a:endParaRPr lang="en-US" sz="1200" dirty="0"/>
          </a:p>
        </p:txBody>
      </p:sp>
      <p:sp>
        <p:nvSpPr>
          <p:cNvPr id="6" name="circle-167"/>
          <p:cNvSpPr/>
          <p:nvPr/>
        </p:nvSpPr>
        <p:spPr>
          <a:xfrm>
            <a:off x="6126480" y="1325880"/>
            <a:ext cx="548640" cy="548640"/>
          </a:xfrm>
          <a:prstGeom prst="ellipse">
            <a:avLst/>
          </a:prstGeom>
          <a:solidFill>
            <a:schemeClr val="accent1"/>
          </a:solidFill>
          <a:ln/>
        </p:spPr>
      </p:sp>
      <p:pic>
        <p:nvPicPr>
          <p:cNvPr id="7" name="icon-168" descr="preencoded.png">    </p:cNvPr>
          <p:cNvPicPr>
            <a:picLocks noChangeAspect="1"/>
          </p:cNvPicPr>
          <p:nvPr/>
        </p:nvPicPr>
        <p:blipFill>
          <a:blip r:embed="rId1"/>
          <a:stretch>
            <a:fillRect/>
          </a:stretch>
        </p:blipFill>
        <p:spPr>
          <a:xfrm>
            <a:off x="6263640" y="1463040"/>
            <a:ext cx="274320" cy="274320"/>
          </a:xfrm>
          <a:prstGeom prst="rect">
            <a:avLst/>
          </a:prstGeom>
        </p:spPr>
      </p:pic>
      <p:sp>
        <p:nvSpPr>
          <p:cNvPr id="8" name="text-169"/>
          <p:cNvSpPr txBox="1"/>
          <p:nvPr/>
        </p:nvSpPr>
        <p:spPr>
          <a:xfrm>
            <a:off x="6858000" y="1307592"/>
            <a:ext cx="4754880" cy="411480"/>
          </a:xfrm>
          <a:prstGeom prst="rect">
            <a:avLst/>
          </a:prstGeom>
          <a:noFill/>
          <a:ln/>
        </p:spPr>
        <p:txBody>
          <a:bodyPr wrap="square" lIns="0" tIns="0" rIns="0" bIns="0" rtlCol="0" anchor="ctr"/>
          <a:lstStyle/>
          <a:p>
            <a:pPr algn="l" indent="0" marL="0">
              <a:buNone/>
            </a:pPr>
            <a:r>
              <a:rPr lang="en-US" sz="1700" b="1" dirty="0">
                <a:solidFill>
                  <a:schemeClr val="tx1"/>
                </a:solidFill>
              </a:rPr>
              <a:t>El contrato son los nombres JSON</a:t>
            </a:r>
            <a:endParaRPr lang="en-US" sz="1700" dirty="0"/>
          </a:p>
        </p:txBody>
      </p:sp>
      <p:sp>
        <p:nvSpPr>
          <p:cNvPr id="9" name="text-170"/>
          <p:cNvSpPr txBox="1"/>
          <p:nvPr/>
        </p:nvSpPr>
        <p:spPr>
          <a:xfrm>
            <a:off x="6858000" y="1737360"/>
            <a:ext cx="4754880" cy="914400"/>
          </a:xfrm>
          <a:prstGeom prst="rect">
            <a:avLst/>
          </a:prstGeom>
          <a:noFill/>
          <a:ln/>
        </p:spPr>
        <p:txBody>
          <a:bodyPr wrap="square" lIns="0" tIns="0" rIns="0" bIns="0" rtlCol="0" anchor="t"/>
          <a:lstStyle/>
          <a:p>
            <a:pPr algn="l" indent="0" marL="0">
              <a:buNone/>
            </a:pPr>
            <a:r>
              <a:rPr lang="en-US" sz="1400" dirty="0">
                <a:solidFill>
                  <a:schemeClr val="tx1"/>
                </a:solidFill>
              </a:rPr>
              <a:t>No hay código compartido: la clase BookingEvent está copiada en los tres servicios. Un cambio de campo se hace en los tres.</a:t>
            </a:r>
            <a:endParaRPr lang="en-US" sz="1400" dirty="0"/>
          </a:p>
        </p:txBody>
      </p:sp>
      <p:sp>
        <p:nvSpPr>
          <p:cNvPr id="10" name="circle-171"/>
          <p:cNvSpPr/>
          <p:nvPr/>
        </p:nvSpPr>
        <p:spPr>
          <a:xfrm>
            <a:off x="6126480" y="2788920"/>
            <a:ext cx="548640" cy="548640"/>
          </a:xfrm>
          <a:prstGeom prst="ellipse">
            <a:avLst/>
          </a:prstGeom>
          <a:solidFill>
            <a:schemeClr val="accent1"/>
          </a:solidFill>
          <a:ln/>
        </p:spPr>
      </p:sp>
      <p:pic>
        <p:nvPicPr>
          <p:cNvPr id="11" name="icon-172" descr="preencoded.png">    </p:cNvPr>
          <p:cNvPicPr>
            <a:picLocks noChangeAspect="1"/>
          </p:cNvPicPr>
          <p:nvPr/>
        </p:nvPicPr>
        <p:blipFill>
          <a:blip r:embed="rId2"/>
          <a:stretch>
            <a:fillRect/>
          </a:stretch>
        </p:blipFill>
        <p:spPr>
          <a:xfrm>
            <a:off x="6263640" y="2926080"/>
            <a:ext cx="274320" cy="274320"/>
          </a:xfrm>
          <a:prstGeom prst="rect">
            <a:avLst/>
          </a:prstGeom>
        </p:spPr>
      </p:pic>
      <p:sp>
        <p:nvSpPr>
          <p:cNvPr id="12" name="text-173"/>
          <p:cNvSpPr txBox="1"/>
          <p:nvPr/>
        </p:nvSpPr>
        <p:spPr>
          <a:xfrm>
            <a:off x="6858000" y="2770632"/>
            <a:ext cx="4754880" cy="411480"/>
          </a:xfrm>
          <a:prstGeom prst="rect">
            <a:avLst/>
          </a:prstGeom>
          <a:noFill/>
          <a:ln/>
        </p:spPr>
        <p:txBody>
          <a:bodyPr wrap="square" lIns="0" tIns="0" rIns="0" bIns="0" rtlCol="0" anchor="ctr"/>
          <a:lstStyle/>
          <a:p>
            <a:pPr algn="l" indent="0" marL="0">
              <a:buNone/>
            </a:pPr>
            <a:r>
              <a:rPr lang="en-US" sz="1700" b="1" dirty="0">
                <a:solidFill>
                  <a:schemeClr val="tx1"/>
                </a:solidFill>
              </a:rPr>
              <a:t>Se lee en la clase del consumidor</a:t>
            </a:r>
            <a:endParaRPr lang="en-US" sz="1700" dirty="0"/>
          </a:p>
        </p:txBody>
      </p:sp>
      <p:sp>
        <p:nvSpPr>
          <p:cNvPr id="13" name="text-174"/>
          <p:cNvSpPr txBox="1"/>
          <p:nvPr/>
        </p:nvSpPr>
        <p:spPr>
          <a:xfrm>
            <a:off x="6858000" y="3200400"/>
            <a:ext cx="4754880" cy="914400"/>
          </a:xfrm>
          <a:prstGeom prst="rect">
            <a:avLst/>
          </a:prstGeom>
          <a:noFill/>
          <a:ln/>
        </p:spPr>
        <p:txBody>
          <a:bodyPr wrap="square" lIns="0" tIns="0" rIns="0" bIns="0" rtlCol="0" anchor="t"/>
          <a:lstStyle/>
          <a:p>
            <a:pPr algn="l" indent="0" marL="0">
              <a:buNone/>
            </a:pPr>
            <a:r>
              <a:rPr lang="en-US" sz="1400" dirty="0">
                <a:solidFill>
                  <a:schemeClr val="tx1"/>
                </a:solidFill>
              </a:rPr>
              <a:t>setAlwaysConvertToInferredType(true): el JSON se convierte al tipo del parámetro del listener, aunque el productor use otro paquete.</a:t>
            </a:r>
            <a:endParaRPr lang="en-US" sz="1400" dirty="0"/>
          </a:p>
        </p:txBody>
      </p:sp>
      <p:sp>
        <p:nvSpPr>
          <p:cNvPr id="14" name="circle-175"/>
          <p:cNvSpPr/>
          <p:nvPr/>
        </p:nvSpPr>
        <p:spPr>
          <a:xfrm>
            <a:off x="6126480" y="4251960"/>
            <a:ext cx="548640" cy="548640"/>
          </a:xfrm>
          <a:prstGeom prst="ellipse">
            <a:avLst/>
          </a:prstGeom>
          <a:solidFill>
            <a:schemeClr val="accent1"/>
          </a:solidFill>
          <a:ln/>
        </p:spPr>
      </p:sp>
      <p:pic>
        <p:nvPicPr>
          <p:cNvPr id="15" name="icon-176" descr="preencoded.png">    </p:cNvPr>
          <p:cNvPicPr>
            <a:picLocks noChangeAspect="1"/>
          </p:cNvPicPr>
          <p:nvPr/>
        </p:nvPicPr>
        <p:blipFill>
          <a:blip r:embed="rId3"/>
          <a:stretch>
            <a:fillRect/>
          </a:stretch>
        </p:blipFill>
        <p:spPr>
          <a:xfrm>
            <a:off x="6263640" y="4389120"/>
            <a:ext cx="274320" cy="274320"/>
          </a:xfrm>
          <a:prstGeom prst="rect">
            <a:avLst/>
          </a:prstGeom>
        </p:spPr>
      </p:pic>
      <p:sp>
        <p:nvSpPr>
          <p:cNvPr id="16" name="text-177"/>
          <p:cNvSpPr txBox="1"/>
          <p:nvPr/>
        </p:nvSpPr>
        <p:spPr>
          <a:xfrm>
            <a:off x="6858000" y="4233672"/>
            <a:ext cx="4754880" cy="411480"/>
          </a:xfrm>
          <a:prstGeom prst="rect">
            <a:avLst/>
          </a:prstGeom>
          <a:noFill/>
          <a:ln/>
        </p:spPr>
        <p:txBody>
          <a:bodyPr wrap="square" lIns="0" tIns="0" rIns="0" bIns="0" rtlCol="0" anchor="ctr"/>
          <a:lstStyle/>
          <a:p>
            <a:pPr algn="l" indent="0" marL="0">
              <a:buNone/>
            </a:pPr>
            <a:r>
              <a:rPr lang="en-US" sz="1700" b="1" dirty="0">
                <a:solidFill>
                  <a:schemeClr val="tx1"/>
                </a:solidFill>
              </a:rPr>
              <a:t>Trae todo lo necesario</a:t>
            </a:r>
            <a:endParaRPr lang="en-US" sz="1700" dirty="0"/>
          </a:p>
        </p:txBody>
      </p:sp>
      <p:sp>
        <p:nvSpPr>
          <p:cNvPr id="17" name="text-178"/>
          <p:cNvSpPr txBox="1"/>
          <p:nvPr/>
        </p:nvSpPr>
        <p:spPr>
          <a:xfrm>
            <a:off x="6858000" y="4663440"/>
            <a:ext cx="4754880" cy="914400"/>
          </a:xfrm>
          <a:prstGeom prst="rect">
            <a:avLst/>
          </a:prstGeom>
          <a:noFill/>
          <a:ln/>
        </p:spPr>
        <p:txBody>
          <a:bodyPr wrap="square" lIns="0" tIns="0" rIns="0" bIns="0" rtlCol="0" anchor="t"/>
          <a:lstStyle/>
          <a:p>
            <a:pPr algn="l" indent="0" marL="0">
              <a:buNone/>
            </a:pPr>
            <a:r>
              <a:rPr lang="en-US" sz="1400" dirty="0">
                <a:solidFill>
                  <a:schemeClr val="tx1"/>
                </a:solidFill>
              </a:rPr>
              <a:t>gymName y horas viajan en el mensaje, así ningún consumidor tiene que llamar a ms-gimnasios.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Flujo completo de una reserva</a:t>
            </a:r>
            <a:endParaRPr lang="en-US" sz="3200" dirty="0"/>
          </a:p>
        </p:txBody>
      </p:sp>
      <p:sp>
        <p:nvSpPr>
          <p:cNvPr id="3" name="step-179"/>
          <p:cNvSpPr/>
          <p:nvPr/>
        </p:nvSpPr>
        <p:spPr>
          <a:xfrm>
            <a:off x="548640" y="1353312"/>
            <a:ext cx="420624" cy="420624"/>
          </a:xfrm>
          <a:prstGeom prst="ellipse">
            <a:avLst/>
          </a:prstGeom>
          <a:solidFill>
            <a:schemeClr val="accent5"/>
          </a:solidFill>
          <a:ln/>
        </p:spPr>
      </p:sp>
      <p:sp>
        <p:nvSpPr>
          <p:cNvPr id="4" name="text-180"/>
          <p:cNvSpPr txBox="1"/>
          <p:nvPr/>
        </p:nvSpPr>
        <p:spPr>
          <a:xfrm>
            <a:off x="548640" y="135331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181"/>
          <p:cNvSpPr txBox="1"/>
          <p:nvPr/>
        </p:nvSpPr>
        <p:spPr>
          <a:xfrm>
            <a:off x="1143000" y="1280160"/>
            <a:ext cx="2286000" cy="566928"/>
          </a:xfrm>
          <a:prstGeom prst="rect">
            <a:avLst/>
          </a:prstGeom>
          <a:noFill/>
          <a:ln/>
        </p:spPr>
        <p:txBody>
          <a:bodyPr wrap="square" lIns="0" tIns="0" rIns="0" bIns="0" rtlCol="0" anchor="ctr"/>
          <a:lstStyle/>
          <a:p>
            <a:pPr algn="l" indent="0" marL="0">
              <a:buNone/>
            </a:pPr>
            <a:r>
              <a:rPr lang="en-US" sz="1500" b="1" dirty="0">
                <a:solidFill>
                  <a:schemeClr val="tx1"/>
                </a:solidFill>
              </a:rPr>
              <a:t>Frontend</a:t>
            </a:r>
            <a:endParaRPr lang="en-US" sz="1500" dirty="0"/>
          </a:p>
        </p:txBody>
      </p:sp>
      <p:sp>
        <p:nvSpPr>
          <p:cNvPr id="6" name="text-182"/>
          <p:cNvSpPr txBox="1"/>
          <p:nvPr/>
        </p:nvSpPr>
        <p:spPr>
          <a:xfrm>
            <a:off x="3474720" y="1280160"/>
            <a:ext cx="4572000" cy="566928"/>
          </a:xfrm>
          <a:prstGeom prst="rect">
            <a:avLst/>
          </a:prstGeom>
          <a:noFill/>
          <a:ln/>
        </p:spPr>
        <p:txBody>
          <a:bodyPr wrap="square" lIns="0" tIns="0" rIns="0" bIns="0" rtlCol="0" anchor="ctr"/>
          <a:lstStyle/>
          <a:p>
            <a:pPr algn="l" indent="0" marL="0">
              <a:buNone/>
            </a:pPr>
            <a:r>
              <a:rPr lang="en-US" sz="1400" dirty="0">
                <a:solidFill>
                  <a:schemeClr val="tx1"/>
                </a:solidFill>
              </a:rPr>
              <a:t>El usuario elige horario y pulsa Reservar: POST /api/reservas con su token</a:t>
            </a:r>
            <a:endParaRPr lang="en-US" sz="1400" dirty="0"/>
          </a:p>
        </p:txBody>
      </p:sp>
      <p:sp>
        <p:nvSpPr>
          <p:cNvPr id="7" name="conn-183"/>
          <p:cNvSpPr/>
          <p:nvPr/>
        </p:nvSpPr>
        <p:spPr>
          <a:xfrm>
            <a:off x="758952" y="1773936"/>
            <a:ext cx="0" cy="182880"/>
          </a:xfrm>
          <a:prstGeom prst="line">
            <a:avLst/>
          </a:prstGeom>
          <a:noFill/>
          <a:ln w="12700">
            <a:solidFill>
              <a:schemeClr val="accent6"/>
            </a:solidFill>
            <a:prstDash val="solid"/>
          </a:ln>
        </p:spPr>
      </p:sp>
      <p:sp>
        <p:nvSpPr>
          <p:cNvPr id="8" name="step-184"/>
          <p:cNvSpPr/>
          <p:nvPr/>
        </p:nvSpPr>
        <p:spPr>
          <a:xfrm>
            <a:off x="548640" y="1956816"/>
            <a:ext cx="420624" cy="420624"/>
          </a:xfrm>
          <a:prstGeom prst="ellipse">
            <a:avLst/>
          </a:prstGeom>
          <a:solidFill>
            <a:schemeClr val="accent6"/>
          </a:solidFill>
          <a:ln/>
        </p:spPr>
      </p:sp>
      <p:sp>
        <p:nvSpPr>
          <p:cNvPr id="9" name="text-185"/>
          <p:cNvSpPr txBox="1"/>
          <p:nvPr/>
        </p:nvSpPr>
        <p:spPr>
          <a:xfrm>
            <a:off x="548640" y="195681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186"/>
          <p:cNvSpPr txBox="1"/>
          <p:nvPr/>
        </p:nvSpPr>
        <p:spPr>
          <a:xfrm>
            <a:off x="1143000" y="1883664"/>
            <a:ext cx="2286000" cy="566928"/>
          </a:xfrm>
          <a:prstGeom prst="rect">
            <a:avLst/>
          </a:prstGeom>
          <a:noFill/>
          <a:ln/>
        </p:spPr>
        <p:txBody>
          <a:bodyPr wrap="square" lIns="0" tIns="0" rIns="0" bIns="0" rtlCol="0" anchor="ctr"/>
          <a:lstStyle/>
          <a:p>
            <a:pPr algn="l" indent="0" marL="0">
              <a:buNone/>
            </a:pPr>
            <a:r>
              <a:rPr lang="en-US" sz="1500" b="1" dirty="0">
                <a:solidFill>
                  <a:schemeClr val="tx1"/>
                </a:solidFill>
              </a:rPr>
              <a:t>Gateway → ms-reservas</a:t>
            </a:r>
            <a:endParaRPr lang="en-US" sz="1500" dirty="0"/>
          </a:p>
        </p:txBody>
      </p:sp>
      <p:sp>
        <p:nvSpPr>
          <p:cNvPr id="11" name="text-187"/>
          <p:cNvSpPr txBox="1"/>
          <p:nvPr/>
        </p:nvSpPr>
        <p:spPr>
          <a:xfrm>
            <a:off x="3474720" y="1883664"/>
            <a:ext cx="4572000" cy="566928"/>
          </a:xfrm>
          <a:prstGeom prst="rect">
            <a:avLst/>
          </a:prstGeom>
          <a:noFill/>
          <a:ln/>
        </p:spPr>
        <p:txBody>
          <a:bodyPr wrap="square" lIns="0" tIns="0" rIns="0" bIns="0" rtlCol="0" anchor="ctr"/>
          <a:lstStyle/>
          <a:p>
            <a:pPr algn="l" indent="0" marL="0">
              <a:buNone/>
            </a:pPr>
            <a:r>
              <a:rPr lang="en-US" sz="1400" dirty="0">
                <a:solidFill>
                  <a:schemeClr val="tx1"/>
                </a:solidFill>
              </a:rPr>
              <a:t>BookingService valida fecha y cupo, y guarda la reserva (saveAndFlush)</a:t>
            </a:r>
            <a:endParaRPr lang="en-US" sz="1400" dirty="0"/>
          </a:p>
        </p:txBody>
      </p:sp>
      <p:sp>
        <p:nvSpPr>
          <p:cNvPr id="12" name="conn-188"/>
          <p:cNvSpPr/>
          <p:nvPr/>
        </p:nvSpPr>
        <p:spPr>
          <a:xfrm>
            <a:off x="758952" y="2377440"/>
            <a:ext cx="0" cy="182880"/>
          </a:xfrm>
          <a:prstGeom prst="line">
            <a:avLst/>
          </a:prstGeom>
          <a:noFill/>
          <a:ln w="12700">
            <a:solidFill>
              <a:schemeClr val="accent6"/>
            </a:solidFill>
            <a:prstDash val="solid"/>
          </a:ln>
        </p:spPr>
      </p:sp>
      <p:sp>
        <p:nvSpPr>
          <p:cNvPr id="13" name="step-189"/>
          <p:cNvSpPr/>
          <p:nvPr/>
        </p:nvSpPr>
        <p:spPr>
          <a:xfrm>
            <a:off x="548640" y="2560320"/>
            <a:ext cx="420624" cy="420624"/>
          </a:xfrm>
          <a:prstGeom prst="ellipse">
            <a:avLst/>
          </a:prstGeom>
          <a:solidFill>
            <a:schemeClr val="accent6"/>
          </a:solidFill>
          <a:ln/>
        </p:spPr>
      </p:sp>
      <p:sp>
        <p:nvSpPr>
          <p:cNvPr id="14" name="text-190"/>
          <p:cNvSpPr txBox="1"/>
          <p:nvPr/>
        </p:nvSpPr>
        <p:spPr>
          <a:xfrm>
            <a:off x="548640" y="256032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191"/>
          <p:cNvSpPr txBox="1"/>
          <p:nvPr/>
        </p:nvSpPr>
        <p:spPr>
          <a:xfrm>
            <a:off x="1143000" y="2487168"/>
            <a:ext cx="2286000" cy="566928"/>
          </a:xfrm>
          <a:prstGeom prst="rect">
            <a:avLst/>
          </a:prstGeom>
          <a:noFill/>
          <a:ln/>
        </p:spPr>
        <p:txBody>
          <a:bodyPr wrap="square" lIns="0" tIns="0" rIns="0" bIns="0" rtlCol="0" anchor="ctr"/>
          <a:lstStyle/>
          <a:p>
            <a:pPr algn="l" indent="0" marL="0">
              <a:buNone/>
            </a:pPr>
            <a:r>
              <a:rPr lang="en-US" sz="1500" b="1" dirty="0">
                <a:solidFill>
                  <a:schemeClr val="tx1"/>
                </a:solidFill>
              </a:rPr>
              <a:t>Evento interno</a:t>
            </a:r>
            <a:endParaRPr lang="en-US" sz="1500" dirty="0"/>
          </a:p>
        </p:txBody>
      </p:sp>
      <p:sp>
        <p:nvSpPr>
          <p:cNvPr id="16" name="text-192"/>
          <p:cNvSpPr txBox="1"/>
          <p:nvPr/>
        </p:nvSpPr>
        <p:spPr>
          <a:xfrm>
            <a:off x="3474720" y="2487168"/>
            <a:ext cx="4572000" cy="566928"/>
          </a:xfrm>
          <a:prstGeom prst="rect">
            <a:avLst/>
          </a:prstGeom>
          <a:noFill/>
          <a:ln/>
        </p:spPr>
        <p:txBody>
          <a:bodyPr wrap="square" lIns="0" tIns="0" rIns="0" bIns="0" rtlCol="0" anchor="ctr"/>
          <a:lstStyle/>
          <a:p>
            <a:pPr algn="l" indent="0" marL="0">
              <a:buNone/>
            </a:pPr>
            <a:r>
              <a:rPr lang="en-US" sz="1400" dirty="0">
                <a:solidFill>
                  <a:schemeClr val="tx1"/>
                </a:solidFill>
              </a:rPr>
              <a:t>publishEvent(BookingEvent): Spring lo retiene hasta el commit</a:t>
            </a:r>
            <a:endParaRPr lang="en-US" sz="1400" dirty="0"/>
          </a:p>
        </p:txBody>
      </p:sp>
      <p:sp>
        <p:nvSpPr>
          <p:cNvPr id="17" name="conn-193"/>
          <p:cNvSpPr/>
          <p:nvPr/>
        </p:nvSpPr>
        <p:spPr>
          <a:xfrm>
            <a:off x="758952" y="2980944"/>
            <a:ext cx="0" cy="182880"/>
          </a:xfrm>
          <a:prstGeom prst="line">
            <a:avLst/>
          </a:prstGeom>
          <a:noFill/>
          <a:ln w="12700">
            <a:solidFill>
              <a:schemeClr val="accent6"/>
            </a:solidFill>
            <a:prstDash val="solid"/>
          </a:ln>
        </p:spPr>
      </p:sp>
      <p:sp>
        <p:nvSpPr>
          <p:cNvPr id="18" name="step-194"/>
          <p:cNvSpPr/>
          <p:nvPr/>
        </p:nvSpPr>
        <p:spPr>
          <a:xfrm>
            <a:off x="548640" y="3163824"/>
            <a:ext cx="420624" cy="420624"/>
          </a:xfrm>
          <a:prstGeom prst="ellipse">
            <a:avLst/>
          </a:prstGeom>
          <a:solidFill>
            <a:schemeClr val="accent6"/>
          </a:solidFill>
          <a:ln/>
        </p:spPr>
      </p:sp>
      <p:sp>
        <p:nvSpPr>
          <p:cNvPr id="19" name="text-195"/>
          <p:cNvSpPr txBox="1"/>
          <p:nvPr/>
        </p:nvSpPr>
        <p:spPr>
          <a:xfrm>
            <a:off x="548640" y="316382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196"/>
          <p:cNvSpPr txBox="1"/>
          <p:nvPr/>
        </p:nvSpPr>
        <p:spPr>
          <a:xfrm>
            <a:off x="1143000" y="3090672"/>
            <a:ext cx="2286000" cy="566928"/>
          </a:xfrm>
          <a:prstGeom prst="rect">
            <a:avLst/>
          </a:prstGeom>
          <a:noFill/>
          <a:ln/>
        </p:spPr>
        <p:txBody>
          <a:bodyPr wrap="square" lIns="0" tIns="0" rIns="0" bIns="0" rtlCol="0" anchor="ctr"/>
          <a:lstStyle/>
          <a:p>
            <a:pPr algn="l" indent="0" marL="0">
              <a:buNone/>
            </a:pPr>
            <a:r>
              <a:rPr lang="en-US" sz="1500" b="1" dirty="0">
                <a:solidFill>
                  <a:schemeClr val="tx1"/>
                </a:solidFill>
              </a:rPr>
              <a:t>Commit y respuesta</a:t>
            </a:r>
            <a:endParaRPr lang="en-US" sz="1500" dirty="0"/>
          </a:p>
        </p:txBody>
      </p:sp>
      <p:sp>
        <p:nvSpPr>
          <p:cNvPr id="21" name="text-197"/>
          <p:cNvSpPr txBox="1"/>
          <p:nvPr/>
        </p:nvSpPr>
        <p:spPr>
          <a:xfrm>
            <a:off x="3474720" y="3090672"/>
            <a:ext cx="4572000" cy="566928"/>
          </a:xfrm>
          <a:prstGeom prst="rect">
            <a:avLst/>
          </a:prstGeom>
          <a:noFill/>
          <a:ln/>
        </p:spPr>
        <p:txBody>
          <a:bodyPr wrap="square" lIns="0" tIns="0" rIns="0" bIns="0" rtlCol="0" anchor="ctr"/>
          <a:lstStyle/>
          <a:p>
            <a:pPr algn="l" indent="0" marL="0">
              <a:buNone/>
            </a:pPr>
            <a:r>
              <a:rPr lang="en-US" sz="1400" dirty="0">
                <a:solidFill>
                  <a:schemeClr val="tx1"/>
                </a:solidFill>
              </a:rPr>
              <a:t>La transacción se confirma y el usuario recibe 201 Created</a:t>
            </a:r>
            <a:endParaRPr lang="en-US" sz="1400" dirty="0"/>
          </a:p>
        </p:txBody>
      </p:sp>
      <p:sp>
        <p:nvSpPr>
          <p:cNvPr id="22" name="conn-198"/>
          <p:cNvSpPr/>
          <p:nvPr/>
        </p:nvSpPr>
        <p:spPr>
          <a:xfrm>
            <a:off x="758952" y="3584448"/>
            <a:ext cx="0" cy="182880"/>
          </a:xfrm>
          <a:prstGeom prst="line">
            <a:avLst/>
          </a:prstGeom>
          <a:noFill/>
          <a:ln w="12700">
            <a:solidFill>
              <a:schemeClr val="accent6"/>
            </a:solidFill>
            <a:prstDash val="solid"/>
          </a:ln>
        </p:spPr>
      </p:sp>
      <p:sp>
        <p:nvSpPr>
          <p:cNvPr id="23" name="step-199"/>
          <p:cNvSpPr/>
          <p:nvPr/>
        </p:nvSpPr>
        <p:spPr>
          <a:xfrm>
            <a:off x="548640" y="3767328"/>
            <a:ext cx="420624" cy="420624"/>
          </a:xfrm>
          <a:prstGeom prst="ellipse">
            <a:avLst/>
          </a:prstGeom>
          <a:solidFill>
            <a:schemeClr val="accent1"/>
          </a:solidFill>
          <a:ln/>
        </p:spPr>
      </p:sp>
      <p:sp>
        <p:nvSpPr>
          <p:cNvPr id="24" name="text-200"/>
          <p:cNvSpPr txBox="1"/>
          <p:nvPr/>
        </p:nvSpPr>
        <p:spPr>
          <a:xfrm>
            <a:off x="548640" y="376732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201"/>
          <p:cNvSpPr txBox="1"/>
          <p:nvPr/>
        </p:nvSpPr>
        <p:spPr>
          <a:xfrm>
            <a:off x="1143000" y="3694176"/>
            <a:ext cx="2286000" cy="566928"/>
          </a:xfrm>
          <a:prstGeom prst="rect">
            <a:avLst/>
          </a:prstGeom>
          <a:noFill/>
          <a:ln/>
        </p:spPr>
        <p:txBody>
          <a:bodyPr wrap="square" lIns="0" tIns="0" rIns="0" bIns="0" rtlCol="0" anchor="ctr"/>
          <a:lstStyle/>
          <a:p>
            <a:pPr algn="l" indent="0" marL="0">
              <a:buNone/>
            </a:pPr>
            <a:r>
              <a:rPr lang="en-US" sz="1500" b="1" dirty="0">
                <a:solidFill>
                  <a:schemeClr val="tx1"/>
                </a:solidFill>
              </a:rPr>
              <a:t>Publicación</a:t>
            </a:r>
            <a:endParaRPr lang="en-US" sz="1500" dirty="0"/>
          </a:p>
        </p:txBody>
      </p:sp>
      <p:sp>
        <p:nvSpPr>
          <p:cNvPr id="26" name="text-202"/>
          <p:cNvSpPr txBox="1"/>
          <p:nvPr/>
        </p:nvSpPr>
        <p:spPr>
          <a:xfrm>
            <a:off x="3474720" y="3694176"/>
            <a:ext cx="4572000" cy="566928"/>
          </a:xfrm>
          <a:prstGeom prst="rect">
            <a:avLst/>
          </a:prstGeom>
          <a:noFill/>
          <a:ln/>
        </p:spPr>
        <p:txBody>
          <a:bodyPr wrap="square" lIns="0" tIns="0" rIns="0" bIns="0" rtlCol="0" anchor="ctr"/>
          <a:lstStyle/>
          <a:p>
            <a:pPr algn="l" indent="0" marL="0">
              <a:buNone/>
            </a:pPr>
            <a:r>
              <a:rPr lang="en-US" sz="1400" dirty="0">
                <a:solidFill>
                  <a:schemeClr val="tx1"/>
                </a:solidFill>
              </a:rPr>
              <a:t>BookingEventPublisher envía a reservafit.events con booking.created</a:t>
            </a:r>
            <a:endParaRPr lang="en-US" sz="1400" dirty="0"/>
          </a:p>
        </p:txBody>
      </p:sp>
      <p:sp>
        <p:nvSpPr>
          <p:cNvPr id="27" name="conn-203"/>
          <p:cNvSpPr/>
          <p:nvPr/>
        </p:nvSpPr>
        <p:spPr>
          <a:xfrm>
            <a:off x="758952" y="4187952"/>
            <a:ext cx="0" cy="182880"/>
          </a:xfrm>
          <a:prstGeom prst="line">
            <a:avLst/>
          </a:prstGeom>
          <a:noFill/>
          <a:ln w="12700">
            <a:solidFill>
              <a:schemeClr val="accent6"/>
            </a:solidFill>
            <a:prstDash val="solid"/>
          </a:ln>
        </p:spPr>
      </p:sp>
      <p:sp>
        <p:nvSpPr>
          <p:cNvPr id="28" name="step-204"/>
          <p:cNvSpPr/>
          <p:nvPr/>
        </p:nvSpPr>
        <p:spPr>
          <a:xfrm>
            <a:off x="548640" y="4370832"/>
            <a:ext cx="420624" cy="420624"/>
          </a:xfrm>
          <a:prstGeom prst="ellipse">
            <a:avLst/>
          </a:prstGeom>
          <a:solidFill>
            <a:schemeClr val="accent1"/>
          </a:solidFill>
          <a:ln/>
        </p:spPr>
      </p:sp>
      <p:sp>
        <p:nvSpPr>
          <p:cNvPr id="29" name="text-205"/>
          <p:cNvSpPr txBox="1"/>
          <p:nvPr/>
        </p:nvSpPr>
        <p:spPr>
          <a:xfrm>
            <a:off x="548640" y="437083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0" name="text-206"/>
          <p:cNvSpPr txBox="1"/>
          <p:nvPr/>
        </p:nvSpPr>
        <p:spPr>
          <a:xfrm>
            <a:off x="1143000" y="4297680"/>
            <a:ext cx="2286000" cy="566928"/>
          </a:xfrm>
          <a:prstGeom prst="rect">
            <a:avLst/>
          </a:prstGeom>
          <a:noFill/>
          <a:ln/>
        </p:spPr>
        <p:txBody>
          <a:bodyPr wrap="square" lIns="0" tIns="0" rIns="0" bIns="0" rtlCol="0" anchor="ctr"/>
          <a:lstStyle/>
          <a:p>
            <a:pPr algn="l" indent="0" marL="0">
              <a:buNone/>
            </a:pPr>
            <a:r>
              <a:rPr lang="en-US" sz="1500" b="1" dirty="0">
                <a:solidFill>
                  <a:schemeClr val="tx1"/>
                </a:solidFill>
              </a:rPr>
              <a:t>Enrutamiento</a:t>
            </a:r>
            <a:endParaRPr lang="en-US" sz="1500" dirty="0"/>
          </a:p>
        </p:txBody>
      </p:sp>
      <p:sp>
        <p:nvSpPr>
          <p:cNvPr id="31" name="text-207"/>
          <p:cNvSpPr txBox="1"/>
          <p:nvPr/>
        </p:nvSpPr>
        <p:spPr>
          <a:xfrm>
            <a:off x="3474720" y="4297680"/>
            <a:ext cx="4572000" cy="566928"/>
          </a:xfrm>
          <a:prstGeom prst="rect">
            <a:avLst/>
          </a:prstGeom>
          <a:noFill/>
          <a:ln/>
        </p:spPr>
        <p:txBody>
          <a:bodyPr wrap="square" lIns="0" tIns="0" rIns="0" bIns="0" rtlCol="0" anchor="ctr"/>
          <a:lstStyle/>
          <a:p>
            <a:pPr algn="l" indent="0" marL="0">
              <a:buNone/>
            </a:pPr>
            <a:r>
              <a:rPr lang="en-US" sz="1400" dirty="0">
                <a:solidFill>
                  <a:schemeClr val="tx1"/>
                </a:solidFill>
              </a:rPr>
              <a:t>El exchange copia el mensaje a las dos colas que calzan con booking.*</a:t>
            </a:r>
            <a:endParaRPr lang="en-US" sz="1400" dirty="0"/>
          </a:p>
        </p:txBody>
      </p:sp>
      <p:sp>
        <p:nvSpPr>
          <p:cNvPr id="32" name="conn-208"/>
          <p:cNvSpPr/>
          <p:nvPr/>
        </p:nvSpPr>
        <p:spPr>
          <a:xfrm>
            <a:off x="758952" y="4791456"/>
            <a:ext cx="0" cy="182880"/>
          </a:xfrm>
          <a:prstGeom prst="line">
            <a:avLst/>
          </a:prstGeom>
          <a:noFill/>
          <a:ln w="12700">
            <a:solidFill>
              <a:schemeClr val="accent6"/>
            </a:solidFill>
            <a:prstDash val="solid"/>
          </a:ln>
        </p:spPr>
      </p:sp>
      <p:sp>
        <p:nvSpPr>
          <p:cNvPr id="33" name="step-209"/>
          <p:cNvSpPr/>
          <p:nvPr/>
        </p:nvSpPr>
        <p:spPr>
          <a:xfrm>
            <a:off x="548640" y="4974336"/>
            <a:ext cx="420624" cy="420624"/>
          </a:xfrm>
          <a:prstGeom prst="ellipse">
            <a:avLst/>
          </a:prstGeom>
          <a:solidFill>
            <a:schemeClr val="accent2"/>
          </a:solidFill>
          <a:ln/>
        </p:spPr>
      </p:sp>
      <p:sp>
        <p:nvSpPr>
          <p:cNvPr id="34" name="text-210"/>
          <p:cNvSpPr txBox="1"/>
          <p:nvPr/>
        </p:nvSpPr>
        <p:spPr>
          <a:xfrm>
            <a:off x="548640" y="49743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211"/>
          <p:cNvSpPr txBox="1"/>
          <p:nvPr/>
        </p:nvSpPr>
        <p:spPr>
          <a:xfrm>
            <a:off x="1143000" y="4901184"/>
            <a:ext cx="2286000" cy="566928"/>
          </a:xfrm>
          <a:prstGeom prst="rect">
            <a:avLst/>
          </a:prstGeom>
          <a:noFill/>
          <a:ln/>
        </p:spPr>
        <p:txBody>
          <a:bodyPr wrap="square" lIns="0" tIns="0" rIns="0" bIns="0" rtlCol="0" anchor="ctr"/>
          <a:lstStyle/>
          <a:p>
            <a:pPr algn="l" indent="0" marL="0">
              <a:buNone/>
            </a:pPr>
            <a:r>
              <a:rPr lang="en-US" sz="1500" b="1" dirty="0">
                <a:solidFill>
                  <a:schemeClr val="tx1"/>
                </a:solidFill>
              </a:rPr>
              <a:t>Consumidores</a:t>
            </a:r>
            <a:endParaRPr lang="en-US" sz="1500" dirty="0"/>
          </a:p>
        </p:txBody>
      </p:sp>
      <p:sp>
        <p:nvSpPr>
          <p:cNvPr id="36" name="text-212"/>
          <p:cNvSpPr txBox="1"/>
          <p:nvPr/>
        </p:nvSpPr>
        <p:spPr>
          <a:xfrm>
            <a:off x="3474720" y="4901184"/>
            <a:ext cx="4572000" cy="566928"/>
          </a:xfrm>
          <a:prstGeom prst="rect">
            <a:avLst/>
          </a:prstGeom>
          <a:noFill/>
          <a:ln/>
        </p:spPr>
        <p:txBody>
          <a:bodyPr wrap="square" lIns="0" tIns="0" rIns="0" bIns="0" rtlCol="0" anchor="ctr"/>
          <a:lstStyle/>
          <a:p>
            <a:pPr algn="l" indent="0" marL="0">
              <a:buNone/>
            </a:pPr>
            <a:r>
              <a:rPr lang="en-US" sz="1400" dirty="0">
                <a:solidFill>
                  <a:schemeClr val="tx1"/>
                </a:solidFill>
              </a:rPr>
              <a:t>ms-gimnasios guarda reserva_gimnasio; ms-notificaciones guarda la notificación</a:t>
            </a:r>
            <a:endParaRPr lang="en-US" sz="1400" dirty="0"/>
          </a:p>
        </p:txBody>
      </p:sp>
      <p:sp>
        <p:nvSpPr>
          <p:cNvPr id="37" name="conn-213"/>
          <p:cNvSpPr/>
          <p:nvPr/>
        </p:nvSpPr>
        <p:spPr>
          <a:xfrm>
            <a:off x="758952" y="5394960"/>
            <a:ext cx="0" cy="182880"/>
          </a:xfrm>
          <a:prstGeom prst="line">
            <a:avLst/>
          </a:prstGeom>
          <a:noFill/>
          <a:ln w="12700">
            <a:solidFill>
              <a:schemeClr val="accent6"/>
            </a:solidFill>
            <a:prstDash val="solid"/>
          </a:ln>
        </p:spPr>
      </p:sp>
      <p:sp>
        <p:nvSpPr>
          <p:cNvPr id="38" name="step-214"/>
          <p:cNvSpPr/>
          <p:nvPr/>
        </p:nvSpPr>
        <p:spPr>
          <a:xfrm>
            <a:off x="548640" y="5577840"/>
            <a:ext cx="420624" cy="420624"/>
          </a:xfrm>
          <a:prstGeom prst="ellipse">
            <a:avLst/>
          </a:prstGeom>
          <a:solidFill>
            <a:schemeClr val="accent5"/>
          </a:solidFill>
          <a:ln/>
        </p:spPr>
      </p:sp>
      <p:sp>
        <p:nvSpPr>
          <p:cNvPr id="39" name="text-215"/>
          <p:cNvSpPr txBox="1"/>
          <p:nvPr/>
        </p:nvSpPr>
        <p:spPr>
          <a:xfrm>
            <a:off x="548640" y="557784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216"/>
          <p:cNvSpPr txBox="1"/>
          <p:nvPr/>
        </p:nvSpPr>
        <p:spPr>
          <a:xfrm>
            <a:off x="1143000" y="5504688"/>
            <a:ext cx="2286000" cy="566928"/>
          </a:xfrm>
          <a:prstGeom prst="rect">
            <a:avLst/>
          </a:prstGeom>
          <a:noFill/>
          <a:ln/>
        </p:spPr>
        <p:txBody>
          <a:bodyPr wrap="square" lIns="0" tIns="0" rIns="0" bIns="0" rtlCol="0" anchor="ctr"/>
          <a:lstStyle/>
          <a:p>
            <a:pPr algn="l" indent="0" marL="0">
              <a:buNone/>
            </a:pPr>
            <a:r>
              <a:rPr lang="en-US" sz="1500" b="1" dirty="0">
                <a:solidFill>
                  <a:schemeClr val="tx1"/>
                </a:solidFill>
              </a:rPr>
              <a:t>Frontend</a:t>
            </a:r>
            <a:endParaRPr lang="en-US" sz="1500" dirty="0"/>
          </a:p>
        </p:txBody>
      </p:sp>
      <p:sp>
        <p:nvSpPr>
          <p:cNvPr id="41" name="text-217"/>
          <p:cNvSpPr txBox="1"/>
          <p:nvPr/>
        </p:nvSpPr>
        <p:spPr>
          <a:xfrm>
            <a:off x="3474720" y="5504688"/>
            <a:ext cx="4572000" cy="566928"/>
          </a:xfrm>
          <a:prstGeom prst="rect">
            <a:avLst/>
          </a:prstGeom>
          <a:noFill/>
          <a:ln/>
        </p:spPr>
        <p:txBody>
          <a:bodyPr wrap="square" lIns="0" tIns="0" rIns="0" bIns="0" rtlCol="0" anchor="ctr"/>
          <a:lstStyle/>
          <a:p>
            <a:pPr algn="l" indent="0" marL="0">
              <a:buNone/>
            </a:pPr>
            <a:r>
              <a:rPr lang="en-US" sz="1400" dirty="0">
                <a:solidFill>
                  <a:schemeClr val="tx1"/>
                </a:solidFill>
              </a:rPr>
              <a:t>La campana pide GET /api/notificaciones y muestra el aviso</a:t>
            </a:r>
            <a:endParaRPr lang="en-US" sz="1400" dirty="0"/>
          </a:p>
        </p:txBody>
      </p:sp>
      <p:sp>
        <p:nvSpPr>
          <p:cNvPr id="42" name="box-218"/>
          <p:cNvSpPr/>
          <p:nvPr/>
        </p:nvSpPr>
        <p:spPr>
          <a:xfrm>
            <a:off x="8412480" y="1280160"/>
            <a:ext cx="3200400" cy="4800600"/>
          </a:xfrm>
          <a:prstGeom prst="roundRect">
            <a:avLst>
              <a:gd name="adj" fmla="val 4286"/>
            </a:avLst>
          </a:prstGeom>
          <a:solidFill>
            <a:schemeClr val="bg2"/>
          </a:solidFill>
          <a:ln/>
        </p:spPr>
      </p:sp>
      <p:sp>
        <p:nvSpPr>
          <p:cNvPr id="43" name="text-219"/>
          <p:cNvSpPr txBox="1"/>
          <p:nvPr/>
        </p:nvSpPr>
        <p:spPr>
          <a:xfrm>
            <a:off x="8641080" y="1417320"/>
            <a:ext cx="2743200" cy="457200"/>
          </a:xfrm>
          <a:prstGeom prst="rect">
            <a:avLst/>
          </a:prstGeom>
          <a:noFill/>
          <a:ln/>
        </p:spPr>
        <p:txBody>
          <a:bodyPr wrap="square" lIns="0" tIns="0" rIns="0" bIns="0" rtlCol="0" anchor="ctr"/>
          <a:lstStyle/>
          <a:p>
            <a:pPr algn="l" indent="0" marL="0">
              <a:buNone/>
            </a:pPr>
            <a:r>
              <a:rPr lang="en-US" sz="1700" b="1" dirty="0">
                <a:solidFill>
                  <a:schemeClr val="tx1"/>
                </a:solidFill>
              </a:rPr>
              <a:t>Síncrono vs asíncrono</a:t>
            </a:r>
            <a:endParaRPr lang="en-US" sz="1700" dirty="0"/>
          </a:p>
        </p:txBody>
      </p:sp>
      <p:sp>
        <p:nvSpPr>
          <p:cNvPr id="44" name="legend-220"/>
          <p:cNvSpPr/>
          <p:nvPr/>
        </p:nvSpPr>
        <p:spPr>
          <a:xfrm>
            <a:off x="8686800" y="2011680"/>
            <a:ext cx="228600" cy="228600"/>
          </a:xfrm>
          <a:prstGeom prst="ellipse">
            <a:avLst/>
          </a:prstGeom>
          <a:solidFill>
            <a:schemeClr val="accent5"/>
          </a:solidFill>
          <a:ln/>
        </p:spPr>
      </p:sp>
      <p:sp>
        <p:nvSpPr>
          <p:cNvPr id="45" name="text-221"/>
          <p:cNvSpPr txBox="1"/>
          <p:nvPr/>
        </p:nvSpPr>
        <p:spPr>
          <a:xfrm>
            <a:off x="9052560" y="1938528"/>
            <a:ext cx="2468880" cy="365760"/>
          </a:xfrm>
          <a:prstGeom prst="rect">
            <a:avLst/>
          </a:prstGeom>
          <a:noFill/>
          <a:ln/>
        </p:spPr>
        <p:txBody>
          <a:bodyPr wrap="square" lIns="0" tIns="0" rIns="0" bIns="0" rtlCol="0" anchor="ctr"/>
          <a:lstStyle/>
          <a:p>
            <a:pPr algn="l" indent="0" marL="0">
              <a:buNone/>
            </a:pPr>
            <a:r>
              <a:rPr lang="en-US" sz="1300" dirty="0">
                <a:solidFill>
                  <a:schemeClr val="tx1"/>
                </a:solidFill>
              </a:rPr>
              <a:t>Navegador</a:t>
            </a:r>
            <a:endParaRPr lang="en-US" sz="1300" dirty="0"/>
          </a:p>
        </p:txBody>
      </p:sp>
      <p:sp>
        <p:nvSpPr>
          <p:cNvPr id="46" name="legend-222"/>
          <p:cNvSpPr/>
          <p:nvPr/>
        </p:nvSpPr>
        <p:spPr>
          <a:xfrm>
            <a:off x="8686800" y="2468880"/>
            <a:ext cx="228600" cy="228600"/>
          </a:xfrm>
          <a:prstGeom prst="ellipse">
            <a:avLst/>
          </a:prstGeom>
          <a:solidFill>
            <a:schemeClr val="accent6"/>
          </a:solidFill>
          <a:ln/>
        </p:spPr>
      </p:sp>
      <p:sp>
        <p:nvSpPr>
          <p:cNvPr id="47" name="text-223"/>
          <p:cNvSpPr txBox="1"/>
          <p:nvPr/>
        </p:nvSpPr>
        <p:spPr>
          <a:xfrm>
            <a:off x="9052560" y="2395728"/>
            <a:ext cx="2468880" cy="365760"/>
          </a:xfrm>
          <a:prstGeom prst="rect">
            <a:avLst/>
          </a:prstGeom>
          <a:noFill/>
          <a:ln/>
        </p:spPr>
        <p:txBody>
          <a:bodyPr wrap="square" lIns="0" tIns="0" rIns="0" bIns="0" rtlCol="0" anchor="ctr"/>
          <a:lstStyle/>
          <a:p>
            <a:pPr algn="l" indent="0" marL="0">
              <a:buNone/>
            </a:pPr>
            <a:r>
              <a:rPr lang="en-US" sz="1300" dirty="0">
                <a:solidFill>
                  <a:schemeClr val="tx1"/>
                </a:solidFill>
              </a:rPr>
              <a:t>HTTP síncrono (pasos 2-4)</a:t>
            </a:r>
            <a:endParaRPr lang="en-US" sz="1300" dirty="0"/>
          </a:p>
        </p:txBody>
      </p:sp>
      <p:sp>
        <p:nvSpPr>
          <p:cNvPr id="48" name="legend-224"/>
          <p:cNvSpPr/>
          <p:nvPr/>
        </p:nvSpPr>
        <p:spPr>
          <a:xfrm>
            <a:off x="8686800" y="2926080"/>
            <a:ext cx="228600" cy="228600"/>
          </a:xfrm>
          <a:prstGeom prst="ellipse">
            <a:avLst/>
          </a:prstGeom>
          <a:solidFill>
            <a:schemeClr val="accent1"/>
          </a:solidFill>
          <a:ln/>
        </p:spPr>
      </p:sp>
      <p:sp>
        <p:nvSpPr>
          <p:cNvPr id="49" name="text-225"/>
          <p:cNvSpPr txBox="1"/>
          <p:nvPr/>
        </p:nvSpPr>
        <p:spPr>
          <a:xfrm>
            <a:off x="9052560" y="2852928"/>
            <a:ext cx="2468880" cy="365760"/>
          </a:xfrm>
          <a:prstGeom prst="rect">
            <a:avLst/>
          </a:prstGeom>
          <a:noFill/>
          <a:ln/>
        </p:spPr>
        <p:txBody>
          <a:bodyPr wrap="square" lIns="0" tIns="0" rIns="0" bIns="0" rtlCol="0" anchor="ctr"/>
          <a:lstStyle/>
          <a:p>
            <a:pPr algn="l" indent="0" marL="0">
              <a:buNone/>
            </a:pPr>
            <a:r>
              <a:rPr lang="en-US" sz="1300" dirty="0">
                <a:solidFill>
                  <a:schemeClr val="tx1"/>
                </a:solidFill>
              </a:rPr>
              <a:t>RabbitMQ (pasos 5-6)</a:t>
            </a:r>
            <a:endParaRPr lang="en-US" sz="1300" dirty="0"/>
          </a:p>
        </p:txBody>
      </p:sp>
      <p:sp>
        <p:nvSpPr>
          <p:cNvPr id="50" name="legend-226"/>
          <p:cNvSpPr/>
          <p:nvPr/>
        </p:nvSpPr>
        <p:spPr>
          <a:xfrm>
            <a:off x="8686800" y="3383280"/>
            <a:ext cx="228600" cy="228600"/>
          </a:xfrm>
          <a:prstGeom prst="ellipse">
            <a:avLst/>
          </a:prstGeom>
          <a:solidFill>
            <a:schemeClr val="accent2"/>
          </a:solidFill>
          <a:ln/>
        </p:spPr>
      </p:sp>
      <p:sp>
        <p:nvSpPr>
          <p:cNvPr id="51" name="text-227"/>
          <p:cNvSpPr txBox="1"/>
          <p:nvPr/>
        </p:nvSpPr>
        <p:spPr>
          <a:xfrm>
            <a:off x="9052560" y="3310128"/>
            <a:ext cx="2468880" cy="365760"/>
          </a:xfrm>
          <a:prstGeom prst="rect">
            <a:avLst/>
          </a:prstGeom>
          <a:noFill/>
          <a:ln/>
        </p:spPr>
        <p:txBody>
          <a:bodyPr wrap="square" lIns="0" tIns="0" rIns="0" bIns="0" rtlCol="0" anchor="ctr"/>
          <a:lstStyle/>
          <a:p>
            <a:pPr algn="l" indent="0" marL="0">
              <a:buNone/>
            </a:pPr>
            <a:r>
              <a:rPr lang="en-US" sz="1300" dirty="0">
                <a:solidFill>
                  <a:schemeClr val="tx1"/>
                </a:solidFill>
              </a:rPr>
              <a:t>Consumidores, en paralelo</a:t>
            </a:r>
            <a:endParaRPr lang="en-US" sz="1300" dirty="0"/>
          </a:p>
        </p:txBody>
      </p:sp>
      <p:sp>
        <p:nvSpPr>
          <p:cNvPr id="52" name="text-228"/>
          <p:cNvSpPr txBox="1"/>
          <p:nvPr/>
        </p:nvSpPr>
        <p:spPr>
          <a:xfrm>
            <a:off x="8641080" y="3931920"/>
            <a:ext cx="2788920" cy="2011680"/>
          </a:xfrm>
          <a:prstGeom prst="rect">
            <a:avLst/>
          </a:prstGeom>
          <a:noFill/>
          <a:ln/>
        </p:spPr>
        <p:txBody>
          <a:bodyPr wrap="square" lIns="0" tIns="0" rIns="0" bIns="0" rtlCol="0" anchor="t"/>
          <a:lstStyle/>
          <a:p>
            <a:pPr algn="l" indent="0" marL="0">
              <a:buNone/>
            </a:pPr>
            <a:r>
              <a:rPr lang="en-US" sz="1400" dirty="0">
                <a:solidFill>
                  <a:schemeClr val="tx1"/>
                </a:solidFill>
              </a:rPr>
              <a:t>El 201 sale en el paso 4. Lo que pasa después no hace esperar al usuario: si un consumidor está caído, el mensaje espera en su cola.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Publicar solo después del commit</a:t>
            </a:r>
            <a:endParaRPr lang="en-US" sz="3200" dirty="0"/>
          </a:p>
        </p:txBody>
      </p:sp>
      <p:sp>
        <p:nvSpPr>
          <p:cNvPr id="3" name="box-229"/>
          <p:cNvSpPr/>
          <p:nvPr/>
        </p:nvSpPr>
        <p:spPr>
          <a:xfrm>
            <a:off x="548640" y="1280160"/>
            <a:ext cx="5943600" cy="4846320"/>
          </a:xfrm>
          <a:prstGeom prst="roundRect">
            <a:avLst>
              <a:gd name="adj" fmla="val 1887"/>
            </a:avLst>
          </a:prstGeom>
          <a:solidFill>
            <a:schemeClr val="tx2"/>
          </a:solidFill>
          <a:ln/>
        </p:spPr>
      </p:sp>
      <p:sp>
        <p:nvSpPr>
          <p:cNvPr id="4" name="code-230"/>
          <p:cNvSpPr txBox="1"/>
          <p:nvPr/>
        </p:nvSpPr>
        <p:spPr>
          <a:xfrm>
            <a:off x="777240" y="1417320"/>
            <a:ext cx="5486400" cy="4572000"/>
          </a:xfrm>
          <a:prstGeom prst="rect">
            <a:avLst/>
          </a:prstGeom>
          <a:noFill/>
          <a:ln/>
        </p:spPr>
        <p:txBody>
          <a:bodyPr wrap="square" lIns="0" tIns="0" rIns="0" bIns="0" rtlCol="0" anchor="t"/>
          <a:lstStyle/>
          <a:p>
            <a:pPr indent="0" marL="0">
              <a:buNone/>
            </a:pPr>
            <a:r>
              <a:rPr lang="en-US" sz="1400" dirty="0">
                <a:solidFill>
                  <a:schemeClr val="accent6"/>
                </a:solidFill>
                <a:latin typeface="Courier New" pitchFamily="34" charset="0"/>
                <a:ea typeface="Courier New" pitchFamily="34" charset="-122"/>
                <a:cs typeface="Courier New" pitchFamily="34" charset="-120"/>
              </a:rPr>
              <a:t>// BookingService.create (dentro de @Transactional)</a:t>
            </a:r>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bookingRepository.saveAndFlush(booking);</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eventPublisher</a:t>
            </a:r>
            <a:pPr indent="0" marL="0">
              <a:buNone/>
            </a:pPr>
            <a:r>
              <a:rPr lang="en-US" sz="1400" dirty="0">
                <a:solidFill>
                  <a:schemeClr val="bg2"/>
                </a:solidFill>
                <a:latin typeface="Courier New" pitchFamily="34" charset="0"/>
                <a:ea typeface="Courier New" pitchFamily="34" charset="-122"/>
                <a:cs typeface="Courier New" pitchFamily="34" charset="-120"/>
              </a:rPr>
              <a:t>.publishEvent(BookingEvent.from(...));</a:t>
            </a:r>
            <a:endParaRPr lang="en-US" sz="1400" dirty="0"/>
          </a:p>
          <a:p>
            <a:pPr indent="0" marL="0">
              <a:buNone/>
            </a:pPr>
            <a:endParaRPr lang="en-US" sz="1400" dirty="0"/>
          </a:p>
          <a:p>
            <a:pPr indent="0" marL="0">
              <a:buNone/>
            </a:pPr>
            <a:r>
              <a:rPr lang="en-US" sz="1400" dirty="0">
                <a:solidFill>
                  <a:schemeClr val="accent6"/>
                </a:solidFill>
                <a:latin typeface="Courier New" pitchFamily="34" charset="0"/>
                <a:ea typeface="Courier New" pitchFamily="34" charset="-122"/>
                <a:cs typeface="Courier New" pitchFamily="34" charset="-120"/>
              </a:rPr>
              <a:t>// BookingEventPublisher</a:t>
            </a:r>
            <a:pPr indent="0" marL="0">
              <a:buNone/>
            </a:pP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@TransactionalEventListener</a:t>
            </a:r>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public void publish(BookingEvent event)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String key = CANCELADA ? "booking.cancelled"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"booking.created";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try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rabbitTemplate.convertAndSend(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"reservafit.events", key, event);</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catch (AmqpException e) {</a:t>
            </a:r>
            <a:pPr indent="0" marL="0">
              <a:buNone/>
            </a:pPr>
            <a:endParaRPr lang="en-US" sz="1400" dirty="0"/>
          </a:p>
          <a:p>
            <a:pPr indent="0" marL="0">
              <a:buNone/>
            </a:pPr>
            <a:r>
              <a:rPr lang="en-US" sz="1400" dirty="0">
                <a:solidFill>
                  <a:schemeClr val="accent6"/>
                </a:solidFill>
                <a:latin typeface="Courier New" pitchFamily="34" charset="0"/>
                <a:ea typeface="Courier New" pitchFamily="34" charset="-122"/>
                <a:cs typeface="Courier New" pitchFamily="34" charset="-120"/>
              </a:rPr>
              <a:t>    // log.error: la reserva ya está guardada</a:t>
            </a:r>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5" name="box-231"/>
          <p:cNvSpPr/>
          <p:nvPr/>
        </p:nvSpPr>
        <p:spPr>
          <a:xfrm>
            <a:off x="6858000" y="1280160"/>
            <a:ext cx="4754880" cy="1463040"/>
          </a:xfrm>
          <a:prstGeom prst="roundRect">
            <a:avLst>
              <a:gd name="adj" fmla="val 7500"/>
            </a:avLst>
          </a:prstGeom>
          <a:solidFill>
            <a:schemeClr val="bg2"/>
          </a:solidFill>
          <a:ln/>
        </p:spPr>
      </p:sp>
      <p:sp>
        <p:nvSpPr>
          <p:cNvPr id="6" name="dot-232"/>
          <p:cNvSpPr/>
          <p:nvPr/>
        </p:nvSpPr>
        <p:spPr>
          <a:xfrm>
            <a:off x="7086600" y="1527048"/>
            <a:ext cx="256032" cy="256032"/>
          </a:xfrm>
          <a:prstGeom prst="ellipse">
            <a:avLst/>
          </a:prstGeom>
          <a:solidFill>
            <a:schemeClr val="accent2"/>
          </a:solidFill>
          <a:ln/>
        </p:spPr>
      </p:sp>
      <p:sp>
        <p:nvSpPr>
          <p:cNvPr id="7" name="text-233"/>
          <p:cNvSpPr txBox="1"/>
          <p:nvPr/>
        </p:nvSpPr>
        <p:spPr>
          <a:xfrm>
            <a:off x="7498080" y="1417320"/>
            <a:ext cx="3977640" cy="502920"/>
          </a:xfrm>
          <a:prstGeom prst="rect">
            <a:avLst/>
          </a:prstGeom>
          <a:noFill/>
          <a:ln/>
        </p:spPr>
        <p:txBody>
          <a:bodyPr wrap="square" lIns="0" tIns="0" rIns="0" bIns="0" rtlCol="0" anchor="ctr"/>
          <a:lstStyle/>
          <a:p>
            <a:pPr algn="l" indent="0" marL="0">
              <a:buNone/>
            </a:pPr>
            <a:r>
              <a:rPr lang="en-US" sz="1500" b="1" dirty="0">
                <a:solidFill>
                  <a:schemeClr val="tx1"/>
                </a:solidFill>
              </a:rPr>
              <a:t>Si la reserva hace rollback, no sale mensaje</a:t>
            </a:r>
            <a:endParaRPr lang="en-US" sz="1500" dirty="0"/>
          </a:p>
        </p:txBody>
      </p:sp>
      <p:sp>
        <p:nvSpPr>
          <p:cNvPr id="8" name="text-234"/>
          <p:cNvSpPr txBox="1"/>
          <p:nvPr/>
        </p:nvSpPr>
        <p:spPr>
          <a:xfrm>
            <a:off x="7498080" y="1874520"/>
            <a:ext cx="3977640" cy="822960"/>
          </a:xfrm>
          <a:prstGeom prst="rect">
            <a:avLst/>
          </a:prstGeom>
          <a:noFill/>
          <a:ln/>
        </p:spPr>
        <p:txBody>
          <a:bodyPr wrap="square" lIns="0" tIns="0" rIns="0" bIns="0" rtlCol="0" anchor="t"/>
          <a:lstStyle/>
          <a:p>
            <a:pPr algn="l" indent="0" marL="0">
              <a:buNone/>
            </a:pPr>
            <a:r>
              <a:rPr lang="en-US" sz="1400" dirty="0">
                <a:solidFill>
                  <a:schemeClr val="tx1"/>
                </a:solidFill>
              </a:rPr>
              <a:t>Ej.: dos usuarios toman el mismo cupo y salta uq_reserva_slot. Nadie recibe un evento de una reserva que no existe.</a:t>
            </a:r>
            <a:endParaRPr lang="en-US" sz="1400" dirty="0"/>
          </a:p>
        </p:txBody>
      </p:sp>
      <p:sp>
        <p:nvSpPr>
          <p:cNvPr id="9" name="box-235"/>
          <p:cNvSpPr/>
          <p:nvPr/>
        </p:nvSpPr>
        <p:spPr>
          <a:xfrm>
            <a:off x="6858000" y="2926080"/>
            <a:ext cx="4754880" cy="1463040"/>
          </a:xfrm>
          <a:prstGeom prst="roundRect">
            <a:avLst>
              <a:gd name="adj" fmla="val 7500"/>
            </a:avLst>
          </a:prstGeom>
          <a:solidFill>
            <a:schemeClr val="bg2"/>
          </a:solidFill>
          <a:ln/>
        </p:spPr>
      </p:sp>
      <p:sp>
        <p:nvSpPr>
          <p:cNvPr id="10" name="dot-236"/>
          <p:cNvSpPr/>
          <p:nvPr/>
        </p:nvSpPr>
        <p:spPr>
          <a:xfrm>
            <a:off x="7086600" y="3172968"/>
            <a:ext cx="256032" cy="256032"/>
          </a:xfrm>
          <a:prstGeom prst="ellipse">
            <a:avLst/>
          </a:prstGeom>
          <a:solidFill>
            <a:schemeClr val="accent1"/>
          </a:solidFill>
          <a:ln/>
        </p:spPr>
      </p:sp>
      <p:sp>
        <p:nvSpPr>
          <p:cNvPr id="11" name="text-237"/>
          <p:cNvSpPr txBox="1"/>
          <p:nvPr/>
        </p:nvSpPr>
        <p:spPr>
          <a:xfrm>
            <a:off x="7498080" y="3063240"/>
            <a:ext cx="3977640" cy="502920"/>
          </a:xfrm>
          <a:prstGeom prst="rect">
            <a:avLst/>
          </a:prstGeom>
          <a:noFill/>
          <a:ln/>
        </p:spPr>
        <p:txBody>
          <a:bodyPr wrap="square" lIns="0" tIns="0" rIns="0" bIns="0" rtlCol="0" anchor="ctr"/>
          <a:lstStyle/>
          <a:p>
            <a:pPr algn="l" indent="0" marL="0">
              <a:buNone/>
            </a:pPr>
            <a:r>
              <a:rPr lang="en-US" sz="1500" b="1" dirty="0">
                <a:solidFill>
                  <a:schemeClr val="tx1"/>
                </a:solidFill>
              </a:rPr>
              <a:t>Si RabbitMQ falla, la reserva no se pierde</a:t>
            </a:r>
            <a:endParaRPr lang="en-US" sz="1500" dirty="0"/>
          </a:p>
        </p:txBody>
      </p:sp>
      <p:sp>
        <p:nvSpPr>
          <p:cNvPr id="12" name="text-238"/>
          <p:cNvSpPr txBox="1"/>
          <p:nvPr/>
        </p:nvSpPr>
        <p:spPr>
          <a:xfrm>
            <a:off x="7498080" y="3520440"/>
            <a:ext cx="3977640" cy="822960"/>
          </a:xfrm>
          <a:prstGeom prst="rect">
            <a:avLst/>
          </a:prstGeom>
          <a:noFill/>
          <a:ln/>
        </p:spPr>
        <p:txBody>
          <a:bodyPr wrap="square" lIns="0" tIns="0" rIns="0" bIns="0" rtlCol="0" anchor="t"/>
          <a:lstStyle/>
          <a:p>
            <a:pPr algn="l" indent="0" marL="0">
              <a:buNone/>
            </a:pPr>
            <a:r>
              <a:rPr lang="en-US" sz="1400" dirty="0">
                <a:solidFill>
                  <a:schemeClr val="tx1"/>
                </a:solidFill>
              </a:rPr>
              <a:t>AmqpException se registra en el log y el usuario igual recibe su 201.</a:t>
            </a:r>
            <a:endParaRPr lang="en-US" sz="1400" dirty="0"/>
          </a:p>
        </p:txBody>
      </p:sp>
      <p:sp>
        <p:nvSpPr>
          <p:cNvPr id="13" name="box-239"/>
          <p:cNvSpPr/>
          <p:nvPr/>
        </p:nvSpPr>
        <p:spPr>
          <a:xfrm>
            <a:off x="6858000" y="4572000"/>
            <a:ext cx="4754880" cy="1463040"/>
          </a:xfrm>
          <a:prstGeom prst="roundRect">
            <a:avLst>
              <a:gd name="adj" fmla="val 7500"/>
            </a:avLst>
          </a:prstGeom>
          <a:solidFill>
            <a:schemeClr val="bg2"/>
          </a:solidFill>
          <a:ln/>
        </p:spPr>
      </p:sp>
      <p:sp>
        <p:nvSpPr>
          <p:cNvPr id="14" name="dot-240"/>
          <p:cNvSpPr/>
          <p:nvPr/>
        </p:nvSpPr>
        <p:spPr>
          <a:xfrm>
            <a:off x="7086600" y="4818888"/>
            <a:ext cx="256032" cy="256032"/>
          </a:xfrm>
          <a:prstGeom prst="ellipse">
            <a:avLst/>
          </a:prstGeom>
          <a:solidFill>
            <a:schemeClr val="accent6"/>
          </a:solidFill>
          <a:ln/>
        </p:spPr>
      </p:sp>
      <p:sp>
        <p:nvSpPr>
          <p:cNvPr id="15" name="text-241"/>
          <p:cNvSpPr txBox="1"/>
          <p:nvPr/>
        </p:nvSpPr>
        <p:spPr>
          <a:xfrm>
            <a:off x="7498080" y="4709160"/>
            <a:ext cx="3977640" cy="502920"/>
          </a:xfrm>
          <a:prstGeom prst="rect">
            <a:avLst/>
          </a:prstGeom>
          <a:noFill/>
          <a:ln/>
        </p:spPr>
        <p:txBody>
          <a:bodyPr wrap="square" lIns="0" tIns="0" rIns="0" bIns="0" rtlCol="0" anchor="ctr"/>
          <a:lstStyle/>
          <a:p>
            <a:pPr algn="l" indent="0" marL="0">
              <a:buNone/>
            </a:pPr>
            <a:r>
              <a:rPr lang="en-US" sz="1500" b="1" dirty="0">
                <a:solidFill>
                  <a:schemeClr val="tx1"/>
                </a:solidFill>
              </a:rPr>
              <a:t>El costo: puede faltar un mensaje</a:t>
            </a:r>
            <a:endParaRPr lang="en-US" sz="1500" dirty="0"/>
          </a:p>
        </p:txBody>
      </p:sp>
      <p:sp>
        <p:nvSpPr>
          <p:cNvPr id="16" name="text-242"/>
          <p:cNvSpPr txBox="1"/>
          <p:nvPr/>
        </p:nvSpPr>
        <p:spPr>
          <a:xfrm>
            <a:off x="7498080" y="5166360"/>
            <a:ext cx="3977640" cy="822960"/>
          </a:xfrm>
          <a:prstGeom prst="rect">
            <a:avLst/>
          </a:prstGeom>
          <a:noFill/>
          <a:ln/>
        </p:spPr>
        <p:txBody>
          <a:bodyPr wrap="square" lIns="0" tIns="0" rIns="0" bIns="0" rtlCol="0" anchor="t"/>
          <a:lstStyle/>
          <a:p>
            <a:pPr algn="l" indent="0" marL="0">
              <a:buNone/>
            </a:pPr>
            <a:r>
              <a:rPr lang="en-US" sz="1400" dirty="0">
                <a:solidFill>
                  <a:schemeClr val="tx1"/>
                </a:solidFill>
              </a:rPr>
              <a:t>Si RabbitMQ está caído justo en ese momento, ese evento no se reenvía. La solución completa sería un outbox transaccional.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Lado productor: confirms y returns</a:t>
            </a:r>
            <a:endParaRPr lang="en-US" sz="3200" dirty="0"/>
          </a:p>
        </p:txBody>
      </p:sp>
      <p:sp>
        <p:nvSpPr>
          <p:cNvPr id="3" name="box-243"/>
          <p:cNvSpPr/>
          <p:nvPr/>
        </p:nvSpPr>
        <p:spPr>
          <a:xfrm>
            <a:off x="548640" y="1280160"/>
            <a:ext cx="4937760" cy="2103120"/>
          </a:xfrm>
          <a:prstGeom prst="roundRect">
            <a:avLst>
              <a:gd name="adj" fmla="val 4348"/>
            </a:avLst>
          </a:prstGeom>
          <a:solidFill>
            <a:schemeClr val="tx2"/>
          </a:solidFill>
          <a:ln/>
        </p:spPr>
      </p:sp>
      <p:sp>
        <p:nvSpPr>
          <p:cNvPr id="4" name="code-244"/>
          <p:cNvSpPr txBox="1"/>
          <p:nvPr/>
        </p:nvSpPr>
        <p:spPr>
          <a:xfrm>
            <a:off x="777240" y="1417320"/>
            <a:ext cx="4480560" cy="1828800"/>
          </a:xfrm>
          <a:prstGeom prst="rect">
            <a:avLst/>
          </a:prstGeom>
          <a:noFill/>
          <a:ln/>
        </p:spPr>
        <p:txBody>
          <a:bodyPr wrap="square" lIns="0" tIns="0" rIns="0" bIns="0" rtlCol="0" anchor="t"/>
          <a:lstStyle/>
          <a:p>
            <a:pPr indent="0" marL="0">
              <a:buNone/>
            </a:pPr>
            <a:r>
              <a:rPr lang="en-US" sz="1500" dirty="0">
                <a:solidFill>
                  <a:schemeClr val="accent6"/>
                </a:solidFill>
                <a:latin typeface="Courier New" pitchFamily="34" charset="0"/>
                <a:ea typeface="Courier New" pitchFamily="34" charset="-122"/>
                <a:cs typeface="Courier New" pitchFamily="34" charset="-120"/>
              </a:rPr>
              <a:t># ms-reservas/application.yaml</a:t>
            </a:r>
            <a:pPr indent="0" marL="0">
              <a:buNone/>
            </a:pP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spring.rabbitmq:</a:t>
            </a:r>
            <a:endParaRPr lang="en-US" sz="1500" dirty="0"/>
          </a:p>
          <a:p>
            <a:pPr indent="0" marL="0">
              <a:buNone/>
            </a:pPr>
            <a:r>
              <a:rPr lang="en-US" sz="1500" dirty="0">
                <a:solidFill>
                  <a:schemeClr val="accent1"/>
                </a:solidFill>
                <a:latin typeface="Courier New" pitchFamily="34" charset="0"/>
                <a:ea typeface="Courier New" pitchFamily="34" charset="-122"/>
                <a:cs typeface="Courier New" pitchFamily="34" charset="-120"/>
              </a:rPr>
              <a:t>  publisher-confirm-type: </a:t>
            </a:r>
            <a:pPr indent="0" marL="0">
              <a:buNone/>
            </a:pPr>
            <a:r>
              <a:rPr lang="en-US" sz="1500" dirty="0">
                <a:solidFill>
                  <a:schemeClr val="bg2"/>
                </a:solidFill>
                <a:latin typeface="Courier New" pitchFamily="34" charset="0"/>
                <a:ea typeface="Courier New" pitchFamily="34" charset="-122"/>
                <a:cs typeface="Courier New" pitchFamily="34" charset="-120"/>
              </a:rPr>
              <a:t>correlated</a:t>
            </a:r>
            <a:endParaRPr lang="en-US" sz="1500" dirty="0"/>
          </a:p>
          <a:p>
            <a:pPr indent="0" marL="0">
              <a:buNone/>
            </a:pPr>
            <a:r>
              <a:rPr lang="en-US" sz="1500" dirty="0">
                <a:solidFill>
                  <a:schemeClr val="accent1"/>
                </a:solidFill>
                <a:latin typeface="Courier New" pitchFamily="34" charset="0"/>
                <a:ea typeface="Courier New" pitchFamily="34" charset="-122"/>
                <a:cs typeface="Courier New" pitchFamily="34" charset="-120"/>
              </a:rPr>
              <a:t>  publisher-returns: </a:t>
            </a:r>
            <a:pPr indent="0" marL="0">
              <a:buNone/>
            </a:pPr>
            <a:r>
              <a:rPr lang="en-US" sz="1500" dirty="0">
                <a:solidFill>
                  <a:schemeClr val="bg2"/>
                </a:solidFill>
                <a:latin typeface="Courier New" pitchFamily="34" charset="0"/>
                <a:ea typeface="Courier New" pitchFamily="34" charset="-122"/>
                <a:cs typeface="Courier New" pitchFamily="34" charset="-120"/>
              </a:rPr>
              <a:t>true</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template:</a:t>
            </a:r>
            <a:endParaRPr lang="en-US" sz="1500" dirty="0"/>
          </a:p>
          <a:p>
            <a:pPr indent="0" marL="0">
              <a:buNone/>
            </a:pPr>
            <a:r>
              <a:rPr lang="en-US" sz="1500" dirty="0">
                <a:solidFill>
                  <a:schemeClr val="accent1"/>
                </a:solidFill>
                <a:latin typeface="Courier New" pitchFamily="34" charset="0"/>
                <a:ea typeface="Courier New" pitchFamily="34" charset="-122"/>
                <a:cs typeface="Courier New" pitchFamily="34" charset="-120"/>
              </a:rPr>
              <a:t>    mandatory: </a:t>
            </a:r>
            <a:pPr indent="0" marL="0">
              <a:buNone/>
            </a:pPr>
            <a:r>
              <a:rPr lang="en-US" sz="1500" dirty="0">
                <a:solidFill>
                  <a:schemeClr val="bg2"/>
                </a:solidFill>
                <a:latin typeface="Courier New" pitchFamily="34" charset="0"/>
                <a:ea typeface="Courier New" pitchFamily="34" charset="-122"/>
                <a:cs typeface="Courier New" pitchFamily="34" charset="-120"/>
              </a:rPr>
              <a:t>true</a:t>
            </a:r>
            <a:endParaRPr lang="en-US" sz="1500" dirty="0"/>
          </a:p>
        </p:txBody>
      </p:sp>
      <p:sp>
        <p:nvSpPr>
          <p:cNvPr id="5" name="text-245"/>
          <p:cNvSpPr txBox="1"/>
          <p:nvPr/>
        </p:nvSpPr>
        <p:spPr>
          <a:xfrm>
            <a:off x="548640" y="3611880"/>
            <a:ext cx="4937760" cy="731520"/>
          </a:xfrm>
          <a:prstGeom prst="rect">
            <a:avLst/>
          </a:prstGeom>
          <a:noFill/>
          <a:ln/>
        </p:spPr>
        <p:txBody>
          <a:bodyPr wrap="square" lIns="0" tIns="0" rIns="0" bIns="0" rtlCol="0" anchor="t"/>
          <a:lstStyle/>
          <a:p>
            <a:pPr algn="l" indent="0" marL="0">
              <a:buNone/>
            </a:pPr>
            <a:r>
              <a:rPr lang="en-US" sz="1400" dirty="0">
                <a:solidFill>
                  <a:schemeClr val="tx1"/>
                </a:solidFill>
              </a:rPr>
              <a:t>RabbitConfig registra dos callbacks en el RabbitTemplate (RabbitTemplateCustomizer)</a:t>
            </a:r>
            <a:endParaRPr lang="en-US" sz="1400" dirty="0"/>
          </a:p>
        </p:txBody>
      </p:sp>
      <p:sp>
        <p:nvSpPr>
          <p:cNvPr id="6" name="box-246"/>
          <p:cNvSpPr/>
          <p:nvPr/>
        </p:nvSpPr>
        <p:spPr>
          <a:xfrm>
            <a:off x="5943600" y="1280160"/>
            <a:ext cx="5669280" cy="2240280"/>
          </a:xfrm>
          <a:prstGeom prst="roundRect">
            <a:avLst>
              <a:gd name="adj" fmla="val 4898"/>
            </a:avLst>
          </a:prstGeom>
          <a:solidFill>
            <a:schemeClr val="bg2"/>
          </a:solidFill>
          <a:ln/>
        </p:spPr>
      </p:sp>
      <p:sp>
        <p:nvSpPr>
          <p:cNvPr id="7" name="circle-247"/>
          <p:cNvSpPr/>
          <p:nvPr/>
        </p:nvSpPr>
        <p:spPr>
          <a:xfrm>
            <a:off x="6217920" y="1554480"/>
            <a:ext cx="594360" cy="594360"/>
          </a:xfrm>
          <a:prstGeom prst="ellipse">
            <a:avLst/>
          </a:prstGeom>
          <a:solidFill>
            <a:schemeClr val="accent2"/>
          </a:solidFill>
          <a:ln/>
        </p:spPr>
      </p:sp>
      <p:pic>
        <p:nvPicPr>
          <p:cNvPr id="8" name="icon-248" descr="preencoded.png">    </p:cNvPr>
          <p:cNvPicPr>
            <a:picLocks noChangeAspect="1"/>
          </p:cNvPicPr>
          <p:nvPr/>
        </p:nvPicPr>
        <p:blipFill>
          <a:blip r:embed="rId1"/>
          <a:stretch>
            <a:fillRect/>
          </a:stretch>
        </p:blipFill>
        <p:spPr>
          <a:xfrm>
            <a:off x="6366510" y="1703070"/>
            <a:ext cx="297180" cy="297180"/>
          </a:xfrm>
          <a:prstGeom prst="rect">
            <a:avLst/>
          </a:prstGeom>
        </p:spPr>
      </p:pic>
      <p:sp>
        <p:nvSpPr>
          <p:cNvPr id="9" name="text-249"/>
          <p:cNvSpPr txBox="1"/>
          <p:nvPr/>
        </p:nvSpPr>
        <p:spPr>
          <a:xfrm>
            <a:off x="6995160" y="1554480"/>
            <a:ext cx="4389120" cy="594360"/>
          </a:xfrm>
          <a:prstGeom prst="rect">
            <a:avLst/>
          </a:prstGeom>
          <a:noFill/>
          <a:ln/>
        </p:spPr>
        <p:txBody>
          <a:bodyPr wrap="square" lIns="0" tIns="0" rIns="0" bIns="0" rtlCol="0" anchor="ctr"/>
          <a:lstStyle/>
          <a:p>
            <a:pPr algn="l" indent="0" marL="0">
              <a:buNone/>
            </a:pPr>
            <a:r>
              <a:rPr lang="en-US" sz="1800" b="1" dirty="0">
                <a:solidFill>
                  <a:schemeClr val="tx1"/>
                </a:solidFill>
              </a:rPr>
              <a:t>Publisher confirm (ack / nack)</a:t>
            </a:r>
            <a:endParaRPr lang="en-US" sz="1800" dirty="0"/>
          </a:p>
        </p:txBody>
      </p:sp>
      <p:sp>
        <p:nvSpPr>
          <p:cNvPr id="10" name="text-250"/>
          <p:cNvSpPr txBox="1"/>
          <p:nvPr/>
        </p:nvSpPr>
        <p:spPr>
          <a:xfrm>
            <a:off x="6995160" y="2103120"/>
            <a:ext cx="4389120" cy="365760"/>
          </a:xfrm>
          <a:prstGeom prst="rect">
            <a:avLst/>
          </a:prstGeom>
          <a:noFill/>
          <a:ln/>
        </p:spPr>
        <p:txBody>
          <a:bodyPr wrap="square" lIns="0" tIns="0" rIns="0" bIns="0" rtlCol="0" anchor="ctr"/>
          <a:lstStyle/>
          <a:p>
            <a:pPr algn="l" indent="0" marL="0">
              <a:buNone/>
            </a:pPr>
            <a:r>
              <a:rPr lang="en-US" sz="1300" i="1" dirty="0">
                <a:solidFill>
                  <a:schemeClr val="accent6"/>
                </a:solidFill>
              </a:rPr>
              <a:t>¿RabbitMQ recibió el mensaje?</a:t>
            </a:r>
            <a:endParaRPr lang="en-US" sz="1300" dirty="0"/>
          </a:p>
        </p:txBody>
      </p:sp>
      <p:sp>
        <p:nvSpPr>
          <p:cNvPr id="11" name="text-251"/>
          <p:cNvSpPr txBox="1"/>
          <p:nvPr/>
        </p:nvSpPr>
        <p:spPr>
          <a:xfrm>
            <a:off x="6217920" y="2514600"/>
            <a:ext cx="5166360" cy="914400"/>
          </a:xfrm>
          <a:prstGeom prst="rect">
            <a:avLst/>
          </a:prstGeom>
          <a:noFill/>
          <a:ln/>
        </p:spPr>
        <p:txBody>
          <a:bodyPr wrap="square" lIns="0" tIns="0" rIns="0" bIns="0" rtlCol="0" anchor="t"/>
          <a:lstStyle/>
          <a:p>
            <a:pPr algn="l" indent="0" marL="0">
              <a:buNone/>
            </a:pPr>
            <a:r>
              <a:rPr lang="en-US" sz="1400" dirty="0">
                <a:solidFill>
                  <a:schemeClr val="tx1"/>
                </a:solidFill>
              </a:rPr>
              <a:t>El broker confirma que aceptó el mensaje. Si responde nack, ConfirmCallback lo registra con log.error.</a:t>
            </a:r>
            <a:endParaRPr lang="en-US" sz="1400" dirty="0"/>
          </a:p>
        </p:txBody>
      </p:sp>
      <p:sp>
        <p:nvSpPr>
          <p:cNvPr id="12" name="box-252"/>
          <p:cNvSpPr/>
          <p:nvPr/>
        </p:nvSpPr>
        <p:spPr>
          <a:xfrm>
            <a:off x="5943600" y="3749040"/>
            <a:ext cx="5669280" cy="2240280"/>
          </a:xfrm>
          <a:prstGeom prst="roundRect">
            <a:avLst>
              <a:gd name="adj" fmla="val 4898"/>
            </a:avLst>
          </a:prstGeom>
          <a:solidFill>
            <a:schemeClr val="bg2"/>
          </a:solidFill>
          <a:ln/>
        </p:spPr>
      </p:sp>
      <p:sp>
        <p:nvSpPr>
          <p:cNvPr id="13" name="circle-253"/>
          <p:cNvSpPr/>
          <p:nvPr/>
        </p:nvSpPr>
        <p:spPr>
          <a:xfrm>
            <a:off x="6217920" y="4023360"/>
            <a:ext cx="594360" cy="594360"/>
          </a:xfrm>
          <a:prstGeom prst="ellipse">
            <a:avLst/>
          </a:prstGeom>
          <a:solidFill>
            <a:schemeClr val="accent1"/>
          </a:solidFill>
          <a:ln/>
        </p:spPr>
      </p:sp>
      <p:pic>
        <p:nvPicPr>
          <p:cNvPr id="14" name="icon-254" descr="preencoded.png">    </p:cNvPr>
          <p:cNvPicPr>
            <a:picLocks noChangeAspect="1"/>
          </p:cNvPicPr>
          <p:nvPr/>
        </p:nvPicPr>
        <p:blipFill>
          <a:blip r:embed="rId2"/>
          <a:stretch>
            <a:fillRect/>
          </a:stretch>
        </p:blipFill>
        <p:spPr>
          <a:xfrm>
            <a:off x="6366510" y="4171950"/>
            <a:ext cx="297180" cy="297180"/>
          </a:xfrm>
          <a:prstGeom prst="rect">
            <a:avLst/>
          </a:prstGeom>
        </p:spPr>
      </p:pic>
      <p:sp>
        <p:nvSpPr>
          <p:cNvPr id="15" name="text-255"/>
          <p:cNvSpPr txBox="1"/>
          <p:nvPr/>
        </p:nvSpPr>
        <p:spPr>
          <a:xfrm>
            <a:off x="6995160" y="4023360"/>
            <a:ext cx="4389120" cy="594360"/>
          </a:xfrm>
          <a:prstGeom prst="rect">
            <a:avLst/>
          </a:prstGeom>
          <a:noFill/>
          <a:ln/>
        </p:spPr>
        <p:txBody>
          <a:bodyPr wrap="square" lIns="0" tIns="0" rIns="0" bIns="0" rtlCol="0" anchor="ctr"/>
          <a:lstStyle/>
          <a:p>
            <a:pPr algn="l" indent="0" marL="0">
              <a:buNone/>
            </a:pPr>
            <a:r>
              <a:rPr lang="en-US" sz="1800" b="1" dirty="0">
                <a:solidFill>
                  <a:schemeClr val="tx1"/>
                </a:solidFill>
              </a:rPr>
              <a:t>Return (mandatory)</a:t>
            </a:r>
            <a:endParaRPr lang="en-US" sz="1800" dirty="0"/>
          </a:p>
        </p:txBody>
      </p:sp>
      <p:sp>
        <p:nvSpPr>
          <p:cNvPr id="16" name="text-256"/>
          <p:cNvSpPr txBox="1"/>
          <p:nvPr/>
        </p:nvSpPr>
        <p:spPr>
          <a:xfrm>
            <a:off x="6995160" y="4572000"/>
            <a:ext cx="4389120" cy="365760"/>
          </a:xfrm>
          <a:prstGeom prst="rect">
            <a:avLst/>
          </a:prstGeom>
          <a:noFill/>
          <a:ln/>
        </p:spPr>
        <p:txBody>
          <a:bodyPr wrap="square" lIns="0" tIns="0" rIns="0" bIns="0" rtlCol="0" anchor="ctr"/>
          <a:lstStyle/>
          <a:p>
            <a:pPr algn="l" indent="0" marL="0">
              <a:buNone/>
            </a:pPr>
            <a:r>
              <a:rPr lang="en-US" sz="1300" i="1" dirty="0">
                <a:solidFill>
                  <a:schemeClr val="accent6"/>
                </a:solidFill>
              </a:rPr>
              <a:t>¿Llegó al menos a una cola?</a:t>
            </a:r>
            <a:endParaRPr lang="en-US" sz="1300" dirty="0"/>
          </a:p>
        </p:txBody>
      </p:sp>
      <p:sp>
        <p:nvSpPr>
          <p:cNvPr id="17" name="text-257"/>
          <p:cNvSpPr txBox="1"/>
          <p:nvPr/>
        </p:nvSpPr>
        <p:spPr>
          <a:xfrm>
            <a:off x="6217920" y="4983480"/>
            <a:ext cx="5166360" cy="914400"/>
          </a:xfrm>
          <a:prstGeom prst="rect">
            <a:avLst/>
          </a:prstGeom>
          <a:noFill/>
          <a:ln/>
        </p:spPr>
        <p:txBody>
          <a:bodyPr wrap="square" lIns="0" tIns="0" rIns="0" bIns="0" rtlCol="0" anchor="t"/>
          <a:lstStyle/>
          <a:p>
            <a:pPr algn="l" indent="0" marL="0">
              <a:buNone/>
            </a:pPr>
            <a:r>
              <a:rPr lang="en-US" sz="1400" dirty="0">
                <a:solidFill>
                  <a:schemeClr val="tx1"/>
                </a:solidFill>
              </a:rPr>
              <a:t>Si ninguna cola calza con la routing key, el broker devuelve el mensaje en vez de botarlo en silencio. ReturnsCallback lo registra con log.warn.</a:t>
            </a:r>
            <a:endParaRPr lang="en-US" sz="1400" dirty="0"/>
          </a:p>
        </p:txBody>
      </p:sp>
      <p:sp>
        <p:nvSpPr>
          <p:cNvPr id="18" name="box-258"/>
          <p:cNvSpPr/>
          <p:nvPr/>
        </p:nvSpPr>
        <p:spPr>
          <a:xfrm>
            <a:off x="548640" y="4526280"/>
            <a:ext cx="4937760" cy="1554480"/>
          </a:xfrm>
          <a:prstGeom prst="roundRect">
            <a:avLst>
              <a:gd name="adj" fmla="val 7059"/>
            </a:avLst>
          </a:prstGeom>
          <a:solidFill>
            <a:schemeClr val="bg2"/>
          </a:solidFill>
          <a:ln/>
        </p:spPr>
      </p:sp>
      <p:sp>
        <p:nvSpPr>
          <p:cNvPr id="19" name="text-259"/>
          <p:cNvSpPr txBox="1"/>
          <p:nvPr/>
        </p:nvSpPr>
        <p:spPr>
          <a:xfrm>
            <a:off x="777240" y="4617720"/>
            <a:ext cx="4480560" cy="1371600"/>
          </a:xfrm>
          <a:prstGeom prst="rect">
            <a:avLst/>
          </a:prstGeom>
          <a:noFill/>
          <a:ln/>
        </p:spPr>
        <p:txBody>
          <a:bodyPr wrap="square" lIns="0" tIns="0" rIns="0" bIns="0" rtlCol="0" anchor="ctr"/>
          <a:lstStyle/>
          <a:p>
            <a:pPr algn="l" indent="0" marL="0">
              <a:buNone/>
            </a:pPr>
            <a:r>
              <a:rPr lang="en-US" sz="1400" dirty="0">
                <a:solidFill>
                  <a:schemeClr val="tx1"/>
                </a:solidFill>
              </a:rPr>
              <a:t>Caso real: si ms-reservas publica antes de que ms-gimnasios y ms-notificaciones declaren sus colas, no hay cola que calce y aparece el log.warn del return.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Lado consumidor: entrega al menos una vez</a:t>
            </a:r>
            <a:endParaRPr lang="en-US" sz="3200" dirty="0"/>
          </a:p>
        </p:txBody>
      </p:sp>
      <p:sp>
        <p:nvSpPr>
          <p:cNvPr id="3" name="text-260"/>
          <p:cNvSpPr txBox="1"/>
          <p:nvPr/>
        </p:nvSpPr>
        <p:spPr>
          <a:xfrm>
            <a:off x="548640" y="1234440"/>
            <a:ext cx="11064240" cy="822960"/>
          </a:xfrm>
          <a:prstGeom prst="rect">
            <a:avLst/>
          </a:prstGeom>
          <a:noFill/>
          <a:ln/>
        </p:spPr>
        <p:txBody>
          <a:bodyPr wrap="square" lIns="0" tIns="0" rIns="0" bIns="0" rtlCol="0" anchor="t"/>
          <a:lstStyle/>
          <a:p>
            <a:pPr algn="l" indent="0" marL="0">
              <a:buNone/>
            </a:pPr>
            <a:r>
              <a:rPr lang="en-US" sz="1600" dirty="0">
                <a:solidFill>
                  <a:schemeClr val="tx1"/>
                </a:solidFill>
              </a:rPr>
              <a:t>RabbitMQ puede entregar el mismo mensaje dos veces (por ejemplo, si el consumidor se cae antes del ack). Cada consumidor tiene que ser idempotente: procesar dos veces debe dar el mismo resultado.</a:t>
            </a:r>
            <a:endParaRPr lang="en-US" sz="1600" dirty="0"/>
          </a:p>
        </p:txBody>
      </p:sp>
      <p:sp>
        <p:nvSpPr>
          <p:cNvPr id="4" name="box-261"/>
          <p:cNvSpPr/>
          <p:nvPr/>
        </p:nvSpPr>
        <p:spPr>
          <a:xfrm>
            <a:off x="548640" y="2240280"/>
            <a:ext cx="5440680" cy="3566160"/>
          </a:xfrm>
          <a:prstGeom prst="roundRect">
            <a:avLst>
              <a:gd name="adj" fmla="val 3846"/>
            </a:avLst>
          </a:prstGeom>
          <a:solidFill>
            <a:schemeClr val="bg2"/>
          </a:solidFill>
          <a:ln/>
        </p:spPr>
      </p:sp>
      <p:sp>
        <p:nvSpPr>
          <p:cNvPr id="5" name="dot-262"/>
          <p:cNvSpPr/>
          <p:nvPr/>
        </p:nvSpPr>
        <p:spPr>
          <a:xfrm>
            <a:off x="822960" y="2487168"/>
            <a:ext cx="292608" cy="292608"/>
          </a:xfrm>
          <a:prstGeom prst="ellipse">
            <a:avLst/>
          </a:prstGeom>
          <a:solidFill>
            <a:schemeClr val="accent2"/>
          </a:solidFill>
          <a:ln/>
        </p:spPr>
      </p:sp>
      <p:sp>
        <p:nvSpPr>
          <p:cNvPr id="6" name="text-263"/>
          <p:cNvSpPr txBox="1"/>
          <p:nvPr/>
        </p:nvSpPr>
        <p:spPr>
          <a:xfrm>
            <a:off x="1280160" y="2377440"/>
            <a:ext cx="4572000" cy="502920"/>
          </a:xfrm>
          <a:prstGeom prst="rect">
            <a:avLst/>
          </a:prstGeom>
          <a:noFill/>
          <a:ln/>
        </p:spPr>
        <p:txBody>
          <a:bodyPr wrap="square" lIns="0" tIns="0" rIns="0" bIns="0" rtlCol="0" anchor="ctr"/>
          <a:lstStyle/>
          <a:p>
            <a:pPr algn="l" indent="0" marL="0">
              <a:buNone/>
            </a:pPr>
            <a:r>
              <a:rPr lang="en-US" sz="1700" b="1" dirty="0">
                <a:solidFill>
                  <a:schemeClr val="tx1"/>
                </a:solidFill>
              </a:rPr>
              <a:t>ms-gimnasios · BookingListener</a:t>
            </a:r>
            <a:endParaRPr lang="en-US" sz="1700" dirty="0"/>
          </a:p>
        </p:txBody>
      </p:sp>
      <p:sp>
        <p:nvSpPr>
          <p:cNvPr id="7" name="list-264"/>
          <p:cNvSpPr txBox="1"/>
          <p:nvPr/>
        </p:nvSpPr>
        <p:spPr>
          <a:xfrm>
            <a:off x="868680" y="3063240"/>
            <a:ext cx="4846320" cy="29260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Guarda ReservaGimnasio usando el mismo id de la reserva de ms-reservas</a:t>
            </a:r>
            <a:endParaRPr lang="en-US" sz="1500" dirty="0"/>
          </a:p>
          <a:p>
            <a:pPr marL="228600" indent="-228600">
              <a:spcAft>
                <a:spcPts val="800"/>
              </a:spcAft>
              <a:buSzPct val="100000"/>
              <a:buChar char="•"/>
            </a:pPr>
            <a:r>
              <a:rPr lang="en-US" sz="1500" dirty="0">
                <a:solidFill>
                  <a:schemeClr val="tx1"/>
                </a:solidFill>
              </a:rPr>
              <a:t>save() inserta o reemplaza: un duplicado reescribe la misma fila</a:t>
            </a:r>
            <a:endParaRPr lang="en-US" sz="1500" dirty="0"/>
          </a:p>
          <a:p>
            <a:pPr marL="228600" indent="-228600">
              <a:spcAft>
                <a:spcPts val="800"/>
              </a:spcAft>
              <a:buSzPct val="100000"/>
              <a:buChar char="•"/>
            </a:pPr>
            <a:r>
              <a:rPr lang="en-US" sz="1500" dirty="0">
                <a:solidFill>
                  <a:schemeClr val="tx1"/>
                </a:solidFill>
              </a:rPr>
              <a:t>La cancelación reemplaza la fila con estado CANCELADA</a:t>
            </a:r>
            <a:endParaRPr lang="en-US" sz="1500" dirty="0"/>
          </a:p>
          <a:p>
            <a:pPr marL="228600" indent="-228600">
              <a:spcAft>
                <a:spcPts val="800"/>
              </a:spcAft>
              <a:buSzPct val="100000"/>
              <a:buChar char="•"/>
            </a:pPr>
            <a:r>
              <a:rPr lang="en-US" sz="1500" dirty="0">
                <a:solidFill>
                  <a:schemeClr val="tx1"/>
                </a:solidFill>
              </a:rPr>
              <a:t>Gimnasio desconocido: lanza GymNotFoundException y el mensaje termina en la DLQ</a:t>
            </a:r>
            <a:endParaRPr lang="en-US" sz="1500" dirty="0"/>
          </a:p>
        </p:txBody>
      </p:sp>
      <p:sp>
        <p:nvSpPr>
          <p:cNvPr id="8" name="box-265"/>
          <p:cNvSpPr/>
          <p:nvPr/>
        </p:nvSpPr>
        <p:spPr>
          <a:xfrm>
            <a:off x="6172200" y="2240280"/>
            <a:ext cx="5440680" cy="3566160"/>
          </a:xfrm>
          <a:prstGeom prst="roundRect">
            <a:avLst>
              <a:gd name="adj" fmla="val 3846"/>
            </a:avLst>
          </a:prstGeom>
          <a:solidFill>
            <a:schemeClr val="bg2"/>
          </a:solidFill>
          <a:ln/>
        </p:spPr>
      </p:sp>
      <p:sp>
        <p:nvSpPr>
          <p:cNvPr id="9" name="dot-266"/>
          <p:cNvSpPr/>
          <p:nvPr/>
        </p:nvSpPr>
        <p:spPr>
          <a:xfrm>
            <a:off x="6446520" y="2487168"/>
            <a:ext cx="292608" cy="292608"/>
          </a:xfrm>
          <a:prstGeom prst="ellipse">
            <a:avLst/>
          </a:prstGeom>
          <a:solidFill>
            <a:schemeClr val="accent3"/>
          </a:solidFill>
          <a:ln/>
        </p:spPr>
      </p:sp>
      <p:sp>
        <p:nvSpPr>
          <p:cNvPr id="10" name="text-267"/>
          <p:cNvSpPr txBox="1"/>
          <p:nvPr/>
        </p:nvSpPr>
        <p:spPr>
          <a:xfrm>
            <a:off x="6903720" y="2377440"/>
            <a:ext cx="4572000" cy="502920"/>
          </a:xfrm>
          <a:prstGeom prst="rect">
            <a:avLst/>
          </a:prstGeom>
          <a:noFill/>
          <a:ln/>
        </p:spPr>
        <p:txBody>
          <a:bodyPr wrap="square" lIns="0" tIns="0" rIns="0" bIns="0" rtlCol="0" anchor="ctr"/>
          <a:lstStyle/>
          <a:p>
            <a:pPr algn="l" indent="0" marL="0">
              <a:buNone/>
            </a:pPr>
            <a:r>
              <a:rPr lang="en-US" sz="1700" b="1" dirty="0">
                <a:solidFill>
                  <a:schemeClr val="tx1"/>
                </a:solidFill>
              </a:rPr>
              <a:t>ms-notificaciones · NotificationService</a:t>
            </a:r>
            <a:endParaRPr lang="en-US" sz="1700" dirty="0"/>
          </a:p>
        </p:txBody>
      </p:sp>
      <p:sp>
        <p:nvSpPr>
          <p:cNvPr id="11" name="list-268"/>
          <p:cNvSpPr txBox="1"/>
          <p:nvPr/>
        </p:nvSpPr>
        <p:spPr>
          <a:xfrm>
            <a:off x="6492240" y="3063240"/>
            <a:ext cx="4846320" cy="29260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Revisa existsByReservaIdAndTipo antes de insertar</a:t>
            </a:r>
            <a:endParaRPr lang="en-US" sz="1500" dirty="0"/>
          </a:p>
          <a:p>
            <a:pPr marL="228600" indent="-228600">
              <a:spcAft>
                <a:spcPts val="800"/>
              </a:spcAft>
              <a:buSzPct val="100000"/>
              <a:buChar char="•"/>
            </a:pPr>
            <a:r>
              <a:rPr lang="en-US" sz="1500" dirty="0">
                <a:solidFill>
                  <a:schemeClr val="tx1"/>
                </a:solidFill>
              </a:rPr>
              <a:t>UNIQUE(reserva_id, tipo) en la tabla como segunda barrera</a:t>
            </a:r>
            <a:endParaRPr lang="en-US" sz="1500" dirty="0"/>
          </a:p>
          <a:p>
            <a:pPr marL="228600" indent="-228600">
              <a:spcAft>
                <a:spcPts val="800"/>
              </a:spcAft>
              <a:buSzPct val="100000"/>
              <a:buChar char="•"/>
            </a:pPr>
            <a:r>
              <a:rPr lang="en-US" sz="1500" dirty="0">
                <a:solidFill>
                  <a:schemeClr val="tx1"/>
                </a:solidFill>
              </a:rPr>
              <a:t>Una reserva da como máximo un aviso de creación y uno de cancelación</a:t>
            </a:r>
            <a:endParaRPr lang="en-US" sz="1500" dirty="0"/>
          </a:p>
          <a:p>
            <a:pPr marL="228600" indent="-228600">
              <a:spcAft>
                <a:spcPts val="800"/>
              </a:spcAft>
              <a:buSzPct val="100000"/>
              <a:buChar char="•"/>
            </a:pPr>
            <a:r>
              <a:rPr lang="en-US" sz="1500" dirty="0">
                <a:solidFill>
                  <a:schemeClr val="tx1"/>
                </a:solidFill>
              </a:rPr>
              <a:t>Mensaje incompleto (sin id, oid, fecha u hora): IllegalArgumentException, va a la DLQ</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Cuando un mensaje falla: reintentos y DLQ</a:t>
            </a:r>
            <a:endParaRPr lang="en-US" sz="3200" dirty="0"/>
          </a:p>
        </p:txBody>
      </p:sp>
      <p:sp>
        <p:nvSpPr>
          <p:cNvPr id="3" name="box-269"/>
          <p:cNvSpPr/>
          <p:nvPr/>
        </p:nvSpPr>
        <p:spPr>
          <a:xfrm>
            <a:off x="548640" y="1417320"/>
            <a:ext cx="1691640" cy="1280160"/>
          </a:xfrm>
          <a:prstGeom prst="roundRect">
            <a:avLst>
              <a:gd name="adj" fmla="val 8571"/>
            </a:avLst>
          </a:prstGeom>
          <a:solidFill>
            <a:schemeClr val="accent6"/>
          </a:solidFill>
          <a:ln/>
        </p:spPr>
      </p:sp>
      <p:sp>
        <p:nvSpPr>
          <p:cNvPr id="4" name="label-270"/>
          <p:cNvSpPr txBox="1"/>
          <p:nvPr/>
        </p:nvSpPr>
        <p:spPr>
          <a:xfrm>
            <a:off x="548640" y="1417320"/>
            <a:ext cx="1691640" cy="1280160"/>
          </a:xfrm>
          <a:prstGeom prst="rect">
            <a:avLst/>
          </a:prstGeom>
          <a:noFill/>
          <a:ln/>
        </p:spPr>
        <p:txBody>
          <a:bodyPr wrap="square" lIns="762" tIns="762" rIns="762" bIns="762" rtlCol="0" anchor="ctr"/>
          <a:lstStyle/>
          <a:p>
            <a:pPr algn="ctr" indent="0" marL="0">
              <a:buNone/>
            </a:pPr>
            <a:r>
              <a:rPr lang="en-US" sz="1300" b="1" dirty="0">
                <a:solidFill>
                  <a:schemeClr val="bg1"/>
                </a:solidFill>
              </a:rPr>
              <a:t>Intento 1</a:t>
            </a:r>
            <a:endParaRPr lang="en-US" sz="1300" dirty="0"/>
          </a:p>
          <a:p>
            <a:pPr algn="ctr" indent="0" marL="0">
              <a:buNone/>
            </a:pPr>
            <a:r>
              <a:rPr lang="en-US" sz="1300" dirty="0">
                <a:solidFill>
                  <a:schemeClr val="bg1"/>
                </a:solidFill>
              </a:rPr>
              <a:t>el listener lanza excepción</a:t>
            </a:r>
            <a:endParaRPr lang="en-US" sz="1300" dirty="0"/>
          </a:p>
        </p:txBody>
      </p:sp>
      <p:sp>
        <p:nvSpPr>
          <p:cNvPr id="5" name="arrow-271"/>
          <p:cNvSpPr/>
          <p:nvPr/>
        </p:nvSpPr>
        <p:spPr>
          <a:xfrm>
            <a:off x="2240280" y="2057400"/>
            <a:ext cx="182880" cy="914"/>
          </a:xfrm>
          <a:prstGeom prst="line">
            <a:avLst/>
          </a:prstGeom>
          <a:noFill/>
          <a:ln w="19050">
            <a:solidFill>
              <a:schemeClr val="accent6"/>
            </a:solidFill>
            <a:prstDash val="solid"/>
            <a:tailEnd type="triangle"/>
          </a:ln>
        </p:spPr>
      </p:sp>
      <p:sp>
        <p:nvSpPr>
          <p:cNvPr id="6" name="box-272"/>
          <p:cNvSpPr/>
          <p:nvPr/>
        </p:nvSpPr>
        <p:spPr>
          <a:xfrm>
            <a:off x="2423160" y="1417320"/>
            <a:ext cx="1691640" cy="1280160"/>
          </a:xfrm>
          <a:prstGeom prst="roundRect">
            <a:avLst>
              <a:gd name="adj" fmla="val 8571"/>
            </a:avLst>
          </a:prstGeom>
          <a:solidFill>
            <a:schemeClr val="accent1"/>
          </a:solidFill>
          <a:ln/>
        </p:spPr>
      </p:sp>
      <p:sp>
        <p:nvSpPr>
          <p:cNvPr id="7" name="label-273"/>
          <p:cNvSpPr txBox="1"/>
          <p:nvPr/>
        </p:nvSpPr>
        <p:spPr>
          <a:xfrm>
            <a:off x="2423160" y="1417320"/>
            <a:ext cx="1691640" cy="1280160"/>
          </a:xfrm>
          <a:prstGeom prst="rect">
            <a:avLst/>
          </a:prstGeom>
          <a:noFill/>
          <a:ln/>
        </p:spPr>
        <p:txBody>
          <a:bodyPr wrap="square" lIns="762" tIns="762" rIns="762" bIns="762" rtlCol="0" anchor="ctr"/>
          <a:lstStyle/>
          <a:p>
            <a:pPr algn="ctr" indent="0" marL="0">
              <a:buNone/>
            </a:pPr>
            <a:r>
              <a:rPr lang="en-US" sz="1300" b="1" dirty="0">
                <a:solidFill>
                  <a:schemeClr val="bg1"/>
                </a:solidFill>
              </a:rPr>
              <a:t>Espera 1 s</a:t>
            </a:r>
            <a:endParaRPr lang="en-US" sz="1300" dirty="0"/>
          </a:p>
          <a:p>
            <a:pPr algn="ctr" indent="0" marL="0">
              <a:buNone/>
            </a:pPr>
            <a:r>
              <a:rPr lang="en-US" sz="1300" dirty="0">
                <a:solidFill>
                  <a:schemeClr val="bg1"/>
                </a:solidFill>
              </a:rPr>
              <a:t>intento 2</a:t>
            </a:r>
            <a:endParaRPr lang="en-US" sz="1300" dirty="0"/>
          </a:p>
        </p:txBody>
      </p:sp>
      <p:sp>
        <p:nvSpPr>
          <p:cNvPr id="8" name="arrow-274"/>
          <p:cNvSpPr/>
          <p:nvPr/>
        </p:nvSpPr>
        <p:spPr>
          <a:xfrm>
            <a:off x="4114800" y="2057400"/>
            <a:ext cx="182880" cy="914"/>
          </a:xfrm>
          <a:prstGeom prst="line">
            <a:avLst/>
          </a:prstGeom>
          <a:noFill/>
          <a:ln w="19050">
            <a:solidFill>
              <a:schemeClr val="accent6"/>
            </a:solidFill>
            <a:prstDash val="solid"/>
            <a:tailEnd type="triangle"/>
          </a:ln>
        </p:spPr>
      </p:sp>
      <p:sp>
        <p:nvSpPr>
          <p:cNvPr id="9" name="box-275"/>
          <p:cNvSpPr/>
          <p:nvPr/>
        </p:nvSpPr>
        <p:spPr>
          <a:xfrm>
            <a:off x="4297680" y="1417320"/>
            <a:ext cx="1691640" cy="1280160"/>
          </a:xfrm>
          <a:prstGeom prst="roundRect">
            <a:avLst>
              <a:gd name="adj" fmla="val 8571"/>
            </a:avLst>
          </a:prstGeom>
          <a:solidFill>
            <a:schemeClr val="accent1"/>
          </a:solidFill>
          <a:ln/>
        </p:spPr>
      </p:sp>
      <p:sp>
        <p:nvSpPr>
          <p:cNvPr id="10" name="label-276"/>
          <p:cNvSpPr txBox="1"/>
          <p:nvPr/>
        </p:nvSpPr>
        <p:spPr>
          <a:xfrm>
            <a:off x="4297680" y="1417320"/>
            <a:ext cx="1691640" cy="1280160"/>
          </a:xfrm>
          <a:prstGeom prst="rect">
            <a:avLst/>
          </a:prstGeom>
          <a:noFill/>
          <a:ln/>
        </p:spPr>
        <p:txBody>
          <a:bodyPr wrap="square" lIns="762" tIns="762" rIns="762" bIns="762" rtlCol="0" anchor="ctr"/>
          <a:lstStyle/>
          <a:p>
            <a:pPr algn="ctr" indent="0" marL="0">
              <a:buNone/>
            </a:pPr>
            <a:r>
              <a:rPr lang="en-US" sz="1300" b="1" dirty="0">
                <a:solidFill>
                  <a:schemeClr val="bg1"/>
                </a:solidFill>
              </a:rPr>
              <a:t>Espera 2 s</a:t>
            </a:r>
            <a:endParaRPr lang="en-US" sz="1300" dirty="0"/>
          </a:p>
          <a:p>
            <a:pPr algn="ctr" indent="0" marL="0">
              <a:buNone/>
            </a:pPr>
            <a:r>
              <a:rPr lang="en-US" sz="1300" dirty="0">
                <a:solidFill>
                  <a:schemeClr val="bg1"/>
                </a:solidFill>
              </a:rPr>
              <a:t>intento 3</a:t>
            </a:r>
            <a:endParaRPr lang="en-US" sz="1300" dirty="0"/>
          </a:p>
        </p:txBody>
      </p:sp>
      <p:sp>
        <p:nvSpPr>
          <p:cNvPr id="11" name="arrow-277"/>
          <p:cNvSpPr/>
          <p:nvPr/>
        </p:nvSpPr>
        <p:spPr>
          <a:xfrm>
            <a:off x="5989320" y="2057400"/>
            <a:ext cx="182880" cy="914"/>
          </a:xfrm>
          <a:prstGeom prst="line">
            <a:avLst/>
          </a:prstGeom>
          <a:noFill/>
          <a:ln w="19050">
            <a:solidFill>
              <a:schemeClr val="accent6"/>
            </a:solidFill>
            <a:prstDash val="solid"/>
            <a:tailEnd type="triangle"/>
          </a:ln>
        </p:spPr>
      </p:sp>
      <p:sp>
        <p:nvSpPr>
          <p:cNvPr id="12" name="box-278"/>
          <p:cNvSpPr/>
          <p:nvPr/>
        </p:nvSpPr>
        <p:spPr>
          <a:xfrm>
            <a:off x="6172200" y="1417320"/>
            <a:ext cx="1691640" cy="1280160"/>
          </a:xfrm>
          <a:prstGeom prst="roundRect">
            <a:avLst>
              <a:gd name="adj" fmla="val 8571"/>
            </a:avLst>
          </a:prstGeom>
          <a:solidFill>
            <a:schemeClr val="accent1"/>
          </a:solidFill>
          <a:ln/>
        </p:spPr>
      </p:sp>
      <p:sp>
        <p:nvSpPr>
          <p:cNvPr id="13" name="label-279"/>
          <p:cNvSpPr txBox="1"/>
          <p:nvPr/>
        </p:nvSpPr>
        <p:spPr>
          <a:xfrm>
            <a:off x="6172200" y="1417320"/>
            <a:ext cx="1691640" cy="1280160"/>
          </a:xfrm>
          <a:prstGeom prst="rect">
            <a:avLst/>
          </a:prstGeom>
          <a:noFill/>
          <a:ln/>
        </p:spPr>
        <p:txBody>
          <a:bodyPr wrap="square" lIns="762" tIns="762" rIns="762" bIns="762" rtlCol="0" anchor="ctr"/>
          <a:lstStyle/>
          <a:p>
            <a:pPr algn="ctr" indent="0" marL="0">
              <a:buNone/>
            </a:pPr>
            <a:r>
              <a:rPr lang="en-US" sz="1300" b="1" dirty="0">
                <a:solidFill>
                  <a:schemeClr val="bg1"/>
                </a:solidFill>
              </a:rPr>
              <a:t>Espera 4 s</a:t>
            </a:r>
            <a:endParaRPr lang="en-US" sz="1300" dirty="0"/>
          </a:p>
          <a:p>
            <a:pPr algn="ctr" indent="0" marL="0">
              <a:buNone/>
            </a:pPr>
            <a:r>
              <a:rPr lang="en-US" sz="1300" dirty="0">
                <a:solidFill>
                  <a:schemeClr val="bg1"/>
                </a:solidFill>
              </a:rPr>
              <a:t>intento 4</a:t>
            </a:r>
            <a:endParaRPr lang="en-US" sz="1300" dirty="0"/>
          </a:p>
        </p:txBody>
      </p:sp>
      <p:sp>
        <p:nvSpPr>
          <p:cNvPr id="14" name="arrow-280"/>
          <p:cNvSpPr/>
          <p:nvPr/>
        </p:nvSpPr>
        <p:spPr>
          <a:xfrm>
            <a:off x="7863840" y="2057400"/>
            <a:ext cx="182880" cy="914"/>
          </a:xfrm>
          <a:prstGeom prst="line">
            <a:avLst/>
          </a:prstGeom>
          <a:noFill/>
          <a:ln w="19050">
            <a:solidFill>
              <a:schemeClr val="accent6"/>
            </a:solidFill>
            <a:prstDash val="solid"/>
            <a:tailEnd type="triangle"/>
          </a:ln>
        </p:spPr>
      </p:sp>
      <p:sp>
        <p:nvSpPr>
          <p:cNvPr id="15" name="box-281"/>
          <p:cNvSpPr/>
          <p:nvPr/>
        </p:nvSpPr>
        <p:spPr>
          <a:xfrm>
            <a:off x="8046720" y="1417320"/>
            <a:ext cx="1691640" cy="1280160"/>
          </a:xfrm>
          <a:prstGeom prst="roundRect">
            <a:avLst>
              <a:gd name="adj" fmla="val 8571"/>
            </a:avLst>
          </a:prstGeom>
          <a:solidFill>
            <a:schemeClr val="accent4"/>
          </a:solidFill>
          <a:ln/>
        </p:spPr>
      </p:sp>
      <p:sp>
        <p:nvSpPr>
          <p:cNvPr id="16" name="label-282"/>
          <p:cNvSpPr txBox="1"/>
          <p:nvPr/>
        </p:nvSpPr>
        <p:spPr>
          <a:xfrm>
            <a:off x="8046720" y="1417320"/>
            <a:ext cx="1691640" cy="1280160"/>
          </a:xfrm>
          <a:prstGeom prst="rect">
            <a:avLst/>
          </a:prstGeom>
          <a:noFill/>
          <a:ln/>
        </p:spPr>
        <p:txBody>
          <a:bodyPr wrap="square" lIns="762" tIns="762" rIns="762" bIns="762" rtlCol="0" anchor="ctr"/>
          <a:lstStyle/>
          <a:p>
            <a:pPr algn="ctr" indent="0" marL="0">
              <a:buNone/>
            </a:pPr>
            <a:r>
              <a:rPr lang="en-US" sz="1300" b="1" dirty="0">
                <a:solidFill>
                  <a:schemeClr val="bg1"/>
                </a:solidFill>
              </a:rPr>
              <a:t>DeadLetter Recoverer</a:t>
            </a:r>
            <a:endParaRPr lang="en-US" sz="1300" dirty="0"/>
          </a:p>
          <a:p>
            <a:pPr algn="ctr" indent="0" marL="0">
              <a:buNone/>
            </a:pPr>
            <a:r>
              <a:rPr lang="en-US" sz="1300" dirty="0">
                <a:solidFill>
                  <a:schemeClr val="bg1"/>
                </a:solidFill>
              </a:rPr>
              <a:t>log.error + reject sin requeue</a:t>
            </a:r>
            <a:endParaRPr lang="en-US" sz="1300" dirty="0"/>
          </a:p>
        </p:txBody>
      </p:sp>
      <p:sp>
        <p:nvSpPr>
          <p:cNvPr id="17" name="arrow-283"/>
          <p:cNvSpPr/>
          <p:nvPr/>
        </p:nvSpPr>
        <p:spPr>
          <a:xfrm>
            <a:off x="9738360" y="2057400"/>
            <a:ext cx="182880" cy="914"/>
          </a:xfrm>
          <a:prstGeom prst="line">
            <a:avLst/>
          </a:prstGeom>
          <a:noFill/>
          <a:ln w="19050">
            <a:solidFill>
              <a:schemeClr val="accent6"/>
            </a:solidFill>
            <a:prstDash val="solid"/>
            <a:tailEnd type="triangle"/>
          </a:ln>
        </p:spPr>
      </p:sp>
      <p:sp>
        <p:nvSpPr>
          <p:cNvPr id="18" name="box-284"/>
          <p:cNvSpPr/>
          <p:nvPr/>
        </p:nvSpPr>
        <p:spPr>
          <a:xfrm>
            <a:off x="9921240" y="1417320"/>
            <a:ext cx="1691640" cy="1280160"/>
          </a:xfrm>
          <a:prstGeom prst="roundRect">
            <a:avLst>
              <a:gd name="adj" fmla="val 8571"/>
            </a:avLst>
          </a:prstGeom>
          <a:solidFill>
            <a:schemeClr val="accent4"/>
          </a:solidFill>
          <a:ln/>
        </p:spPr>
      </p:sp>
      <p:sp>
        <p:nvSpPr>
          <p:cNvPr id="19" name="label-285"/>
          <p:cNvSpPr txBox="1"/>
          <p:nvPr/>
        </p:nvSpPr>
        <p:spPr>
          <a:xfrm>
            <a:off x="9921240" y="1417320"/>
            <a:ext cx="1691640" cy="1280160"/>
          </a:xfrm>
          <a:prstGeom prst="rect">
            <a:avLst/>
          </a:prstGeom>
          <a:noFill/>
          <a:ln/>
        </p:spPr>
        <p:txBody>
          <a:bodyPr wrap="square" lIns="762" tIns="762" rIns="762" bIns="762" rtlCol="0" anchor="ctr"/>
          <a:lstStyle/>
          <a:p>
            <a:pPr algn="ctr" indent="0" marL="0">
              <a:buNone/>
            </a:pPr>
            <a:r>
              <a:rPr lang="en-US" sz="1300" b="1" dirty="0">
                <a:solidFill>
                  <a:schemeClr val="bg1"/>
                </a:solidFill>
              </a:rPr>
              <a:t>reservafit.dlx</a:t>
            </a:r>
            <a:endParaRPr lang="en-US" sz="1300" dirty="0"/>
          </a:p>
          <a:p>
            <a:pPr algn="ctr" indent="0" marL="0">
              <a:buNone/>
            </a:pPr>
            <a:r>
              <a:rPr lang="en-US" sz="1300" dirty="0">
                <a:solidFill>
                  <a:schemeClr val="bg1"/>
                </a:solidFill>
              </a:rPr>
              <a:t>→ &lt;cola&gt;.dlq</a:t>
            </a:r>
            <a:endParaRPr lang="en-US" sz="1300" dirty="0"/>
          </a:p>
        </p:txBody>
      </p:sp>
      <p:sp>
        <p:nvSpPr>
          <p:cNvPr id="20" name="box-286"/>
          <p:cNvSpPr/>
          <p:nvPr/>
        </p:nvSpPr>
        <p:spPr>
          <a:xfrm>
            <a:off x="548640" y="3017520"/>
            <a:ext cx="5120640" cy="3063240"/>
          </a:xfrm>
          <a:prstGeom prst="roundRect">
            <a:avLst>
              <a:gd name="adj" fmla="val 2985"/>
            </a:avLst>
          </a:prstGeom>
          <a:solidFill>
            <a:schemeClr val="tx2"/>
          </a:solidFill>
          <a:ln/>
        </p:spPr>
      </p:sp>
      <p:sp>
        <p:nvSpPr>
          <p:cNvPr id="21" name="code-287"/>
          <p:cNvSpPr txBox="1"/>
          <p:nvPr/>
        </p:nvSpPr>
        <p:spPr>
          <a:xfrm>
            <a:off x="777240" y="3154680"/>
            <a:ext cx="4663440" cy="2788920"/>
          </a:xfrm>
          <a:prstGeom prst="rect">
            <a:avLst/>
          </a:prstGeom>
          <a:noFill/>
          <a:ln/>
        </p:spPr>
        <p:txBody>
          <a:bodyPr wrap="square" lIns="0" tIns="0" rIns="0" bIns="0" rtlCol="0" anchor="t"/>
          <a:lstStyle/>
          <a:p>
            <a:pPr indent="0" marL="0">
              <a:buNone/>
            </a:pPr>
            <a:r>
              <a:rPr lang="en-US" sz="1500" dirty="0">
                <a:solidFill>
                  <a:schemeClr val="accent6"/>
                </a:solidFill>
                <a:latin typeface="Courier New" pitchFamily="34" charset="0"/>
                <a:ea typeface="Courier New" pitchFamily="34" charset="-122"/>
                <a:cs typeface="Courier New" pitchFamily="34" charset="-120"/>
              </a:rPr>
              <a:t># ms-gimnasios y ms-notificaciones</a:t>
            </a:r>
            <a:pPr indent="0" marL="0">
              <a:buNone/>
            </a:pP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spring.rabbitmq.listener.simple:</a:t>
            </a:r>
            <a:endParaRPr lang="en-US" sz="1500" dirty="0"/>
          </a:p>
          <a:p>
            <a:pPr indent="0" marL="0">
              <a:buNone/>
            </a:pPr>
            <a:r>
              <a:rPr lang="en-US" sz="1500" dirty="0">
                <a:solidFill>
                  <a:schemeClr val="accent1"/>
                </a:solidFill>
                <a:latin typeface="Courier New" pitchFamily="34" charset="0"/>
                <a:ea typeface="Courier New" pitchFamily="34" charset="-122"/>
                <a:cs typeface="Courier New" pitchFamily="34" charset="-120"/>
              </a:rPr>
              <a:t>  default-requeue-rejected: </a:t>
            </a:r>
            <a:pPr indent="0" marL="0">
              <a:buNone/>
            </a:pPr>
            <a:r>
              <a:rPr lang="en-US" sz="1500" dirty="0">
                <a:solidFill>
                  <a:schemeClr val="bg2"/>
                </a:solidFill>
                <a:latin typeface="Courier New" pitchFamily="34" charset="0"/>
                <a:ea typeface="Courier New" pitchFamily="34" charset="-122"/>
                <a:cs typeface="Courier New" pitchFamily="34" charset="-120"/>
              </a:rPr>
              <a:t>false</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retry:</a:t>
            </a:r>
            <a:endParaRPr lang="en-US" sz="1500" dirty="0"/>
          </a:p>
          <a:p>
            <a:pPr indent="0" marL="0">
              <a:buNone/>
            </a:pPr>
            <a:r>
              <a:rPr lang="en-US" sz="1500" dirty="0">
                <a:solidFill>
                  <a:schemeClr val="accent1"/>
                </a:solidFill>
                <a:latin typeface="Courier New" pitchFamily="34" charset="0"/>
                <a:ea typeface="Courier New" pitchFamily="34" charset="-122"/>
                <a:cs typeface="Courier New" pitchFamily="34" charset="-120"/>
              </a:rPr>
              <a:t>    enabled: </a:t>
            </a:r>
            <a:pPr indent="0" marL="0">
              <a:buNone/>
            </a:pPr>
            <a:r>
              <a:rPr lang="en-US" sz="1500" dirty="0">
                <a:solidFill>
                  <a:schemeClr val="bg2"/>
                </a:solidFill>
                <a:latin typeface="Courier New" pitchFamily="34" charset="0"/>
                <a:ea typeface="Courier New" pitchFamily="34" charset="-122"/>
                <a:cs typeface="Courier New" pitchFamily="34" charset="-120"/>
              </a:rPr>
              <a:t>true</a:t>
            </a:r>
            <a:endParaRPr lang="en-US" sz="1500" dirty="0"/>
          </a:p>
          <a:p>
            <a:pPr indent="0" marL="0">
              <a:buNone/>
            </a:pPr>
            <a:r>
              <a:rPr lang="en-US" sz="1500" dirty="0">
                <a:solidFill>
                  <a:schemeClr val="accent1"/>
                </a:solidFill>
                <a:latin typeface="Courier New" pitchFamily="34" charset="0"/>
                <a:ea typeface="Courier New" pitchFamily="34" charset="-122"/>
                <a:cs typeface="Courier New" pitchFamily="34" charset="-120"/>
              </a:rPr>
              <a:t>    max-attempts: </a:t>
            </a:r>
            <a:pPr indent="0" marL="0">
              <a:buNone/>
            </a:pPr>
            <a:r>
              <a:rPr lang="en-US" sz="1500" dirty="0">
                <a:solidFill>
                  <a:schemeClr val="bg2"/>
                </a:solidFill>
                <a:latin typeface="Courier New" pitchFamily="34" charset="0"/>
                <a:ea typeface="Courier New" pitchFamily="34" charset="-122"/>
                <a:cs typeface="Courier New" pitchFamily="34" charset="-120"/>
              </a:rPr>
              <a:t>4</a:t>
            </a:r>
            <a:endParaRPr lang="en-US" sz="1500" dirty="0"/>
          </a:p>
          <a:p>
            <a:pPr indent="0" marL="0">
              <a:buNone/>
            </a:pPr>
            <a:r>
              <a:rPr lang="en-US" sz="1500" dirty="0">
                <a:solidFill>
                  <a:schemeClr val="accent1"/>
                </a:solidFill>
                <a:latin typeface="Courier New" pitchFamily="34" charset="0"/>
                <a:ea typeface="Courier New" pitchFamily="34" charset="-122"/>
                <a:cs typeface="Courier New" pitchFamily="34" charset="-120"/>
              </a:rPr>
              <a:t>    initial-interval: </a:t>
            </a:r>
            <a:pPr indent="0" marL="0">
              <a:buNone/>
            </a:pPr>
            <a:r>
              <a:rPr lang="en-US" sz="1500" dirty="0">
                <a:solidFill>
                  <a:schemeClr val="bg2"/>
                </a:solidFill>
                <a:latin typeface="Courier New" pitchFamily="34" charset="0"/>
                <a:ea typeface="Courier New" pitchFamily="34" charset="-122"/>
                <a:cs typeface="Courier New" pitchFamily="34" charset="-120"/>
              </a:rPr>
              <a:t>1s</a:t>
            </a:r>
            <a:endParaRPr lang="en-US" sz="1500" dirty="0"/>
          </a:p>
          <a:p>
            <a:pPr indent="0" marL="0">
              <a:buNone/>
            </a:pPr>
            <a:r>
              <a:rPr lang="en-US" sz="1500" dirty="0">
                <a:solidFill>
                  <a:schemeClr val="accent1"/>
                </a:solidFill>
                <a:latin typeface="Courier New" pitchFamily="34" charset="0"/>
                <a:ea typeface="Courier New" pitchFamily="34" charset="-122"/>
                <a:cs typeface="Courier New" pitchFamily="34" charset="-120"/>
              </a:rPr>
              <a:t>    multiplier: </a:t>
            </a:r>
            <a:pPr indent="0" marL="0">
              <a:buNone/>
            </a:pPr>
            <a:r>
              <a:rPr lang="en-US" sz="1500" dirty="0">
                <a:solidFill>
                  <a:schemeClr val="bg2"/>
                </a:solidFill>
                <a:latin typeface="Courier New" pitchFamily="34" charset="0"/>
                <a:ea typeface="Courier New" pitchFamily="34" charset="-122"/>
                <a:cs typeface="Courier New" pitchFamily="34" charset="-120"/>
              </a:rPr>
              <a:t>2</a:t>
            </a:r>
            <a:endParaRPr lang="en-US" sz="1500" dirty="0"/>
          </a:p>
        </p:txBody>
      </p:sp>
      <p:sp>
        <p:nvSpPr>
          <p:cNvPr id="22" name="text-288"/>
          <p:cNvSpPr txBox="1"/>
          <p:nvPr/>
        </p:nvSpPr>
        <p:spPr>
          <a:xfrm>
            <a:off x="6035040" y="3017520"/>
            <a:ext cx="5577840" cy="365760"/>
          </a:xfrm>
          <a:prstGeom prst="rect">
            <a:avLst/>
          </a:prstGeom>
          <a:noFill/>
          <a:ln/>
        </p:spPr>
        <p:txBody>
          <a:bodyPr wrap="square" lIns="0" tIns="0" rIns="0" bIns="0" rtlCol="0" anchor="ctr"/>
          <a:lstStyle/>
          <a:p>
            <a:pPr algn="l" indent="0" marL="0">
              <a:buNone/>
            </a:pPr>
            <a:r>
              <a:rPr lang="en-US" sz="1600" b="1" dirty="0">
                <a:solidFill>
                  <a:schemeClr val="tx1"/>
                </a:solidFill>
              </a:rPr>
              <a:t>Backoff exponencial</a:t>
            </a:r>
            <a:endParaRPr lang="en-US" sz="1600" dirty="0"/>
          </a:p>
        </p:txBody>
      </p:sp>
      <p:sp>
        <p:nvSpPr>
          <p:cNvPr id="23" name="text-289"/>
          <p:cNvSpPr txBox="1"/>
          <p:nvPr/>
        </p:nvSpPr>
        <p:spPr>
          <a:xfrm>
            <a:off x="6035040" y="3383280"/>
            <a:ext cx="5577840" cy="640080"/>
          </a:xfrm>
          <a:prstGeom prst="rect">
            <a:avLst/>
          </a:prstGeom>
          <a:noFill/>
          <a:ln/>
        </p:spPr>
        <p:txBody>
          <a:bodyPr wrap="square" lIns="0" tIns="0" rIns="0" bIns="0" rtlCol="0" anchor="t"/>
          <a:lstStyle/>
          <a:p>
            <a:pPr algn="l" indent="0" marL="0">
              <a:buNone/>
            </a:pPr>
            <a:r>
              <a:rPr lang="en-US" sz="1400" dirty="0">
                <a:solidFill>
                  <a:schemeClr val="tx1"/>
                </a:solidFill>
              </a:rPr>
              <a:t>Los reintentos se hacen en memoria, en el mismo consumidor: un error pasajero (la BD se demora) se resuelve solo.</a:t>
            </a:r>
            <a:endParaRPr lang="en-US" sz="1400" dirty="0"/>
          </a:p>
        </p:txBody>
      </p:sp>
      <p:sp>
        <p:nvSpPr>
          <p:cNvPr id="24" name="text-290"/>
          <p:cNvSpPr txBox="1"/>
          <p:nvPr/>
        </p:nvSpPr>
        <p:spPr>
          <a:xfrm>
            <a:off x="6035040" y="4069080"/>
            <a:ext cx="5577840" cy="365760"/>
          </a:xfrm>
          <a:prstGeom prst="rect">
            <a:avLst/>
          </a:prstGeom>
          <a:noFill/>
          <a:ln/>
        </p:spPr>
        <p:txBody>
          <a:bodyPr wrap="square" lIns="0" tIns="0" rIns="0" bIns="0" rtlCol="0" anchor="ctr"/>
          <a:lstStyle/>
          <a:p>
            <a:pPr algn="l" indent="0" marL="0">
              <a:buNone/>
            </a:pPr>
            <a:r>
              <a:rPr lang="en-US" sz="1600" b="1" dirty="0">
                <a:solidFill>
                  <a:schemeClr val="tx1"/>
                </a:solidFill>
              </a:rPr>
              <a:t>Sin requeue</a:t>
            </a:r>
            <a:endParaRPr lang="en-US" sz="1600" dirty="0"/>
          </a:p>
        </p:txBody>
      </p:sp>
      <p:sp>
        <p:nvSpPr>
          <p:cNvPr id="25" name="text-291"/>
          <p:cNvSpPr txBox="1"/>
          <p:nvPr/>
        </p:nvSpPr>
        <p:spPr>
          <a:xfrm>
            <a:off x="6035040" y="4434840"/>
            <a:ext cx="5577840" cy="640080"/>
          </a:xfrm>
          <a:prstGeom prst="rect">
            <a:avLst/>
          </a:prstGeom>
          <a:noFill/>
          <a:ln/>
        </p:spPr>
        <p:txBody>
          <a:bodyPr wrap="square" lIns="0" tIns="0" rIns="0" bIns="0" rtlCol="0" anchor="t"/>
          <a:lstStyle/>
          <a:p>
            <a:pPr algn="l" indent="0" marL="0">
              <a:buNone/>
            </a:pPr>
            <a:r>
              <a:rPr lang="en-US" sz="1400" dirty="0">
                <a:solidFill>
                  <a:schemeClr val="tx1"/>
                </a:solidFill>
              </a:rPr>
              <a:t>Reencolar un mensaje que siempre falla crearía un loop infinito. Por eso se rechaza y RabbitMQ lo manda al DLX.</a:t>
            </a:r>
            <a:endParaRPr lang="en-US" sz="1400" dirty="0"/>
          </a:p>
        </p:txBody>
      </p:sp>
      <p:sp>
        <p:nvSpPr>
          <p:cNvPr id="26" name="text-292"/>
          <p:cNvSpPr txBox="1"/>
          <p:nvPr/>
        </p:nvSpPr>
        <p:spPr>
          <a:xfrm>
            <a:off x="6035040" y="5120640"/>
            <a:ext cx="5577840" cy="365760"/>
          </a:xfrm>
          <a:prstGeom prst="rect">
            <a:avLst/>
          </a:prstGeom>
          <a:noFill/>
          <a:ln/>
        </p:spPr>
        <p:txBody>
          <a:bodyPr wrap="square" lIns="0" tIns="0" rIns="0" bIns="0" rtlCol="0" anchor="ctr"/>
          <a:lstStyle/>
          <a:p>
            <a:pPr algn="l" indent="0" marL="0">
              <a:buNone/>
            </a:pPr>
            <a:r>
              <a:rPr lang="en-US" sz="1600" b="1" dirty="0">
                <a:solidFill>
                  <a:schemeClr val="tx1"/>
                </a:solidFill>
              </a:rPr>
              <a:t>La DLQ no tiene consumidor</a:t>
            </a:r>
            <a:endParaRPr lang="en-US" sz="1600" dirty="0"/>
          </a:p>
        </p:txBody>
      </p:sp>
      <p:sp>
        <p:nvSpPr>
          <p:cNvPr id="27" name="text-293"/>
          <p:cNvSpPr txBox="1"/>
          <p:nvPr/>
        </p:nvSpPr>
        <p:spPr>
          <a:xfrm>
            <a:off x="6035040" y="5486400"/>
            <a:ext cx="5577840" cy="640080"/>
          </a:xfrm>
          <a:prstGeom prst="rect">
            <a:avLst/>
          </a:prstGeom>
          <a:noFill/>
          <a:ln/>
        </p:spPr>
        <p:txBody>
          <a:bodyPr wrap="square" lIns="0" tIns="0" rIns="0" bIns="0" rtlCol="0" anchor="t"/>
          <a:lstStyle/>
          <a:p>
            <a:pPr algn="l" indent="0" marL="0">
              <a:buNone/>
            </a:pPr>
            <a:r>
              <a:rPr lang="en-US" sz="1400" dirty="0">
                <a:solidFill>
                  <a:schemeClr val="tx1"/>
                </a:solidFill>
              </a:rPr>
              <a:t>El mensaje queda guardado para revisarlo o reenviarlo desde el panel de RabbitMQ (puerto 15672).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Cómo llega la notificación al frontend</a:t>
            </a:r>
            <a:endParaRPr lang="en-US" sz="3200" dirty="0"/>
          </a:p>
        </p:txBody>
      </p:sp>
      <p:sp>
        <p:nvSpPr>
          <p:cNvPr id="3" name="timeline-294"/>
          <p:cNvSpPr/>
          <p:nvPr/>
        </p:nvSpPr>
        <p:spPr>
          <a:xfrm>
            <a:off x="685800" y="2148840"/>
            <a:ext cx="10927080" cy="0"/>
          </a:xfrm>
          <a:prstGeom prst="line">
            <a:avLst/>
          </a:prstGeom>
          <a:noFill/>
          <a:ln w="25400">
            <a:solidFill>
              <a:schemeClr val="accent6"/>
            </a:solidFill>
            <a:prstDash val="solid"/>
          </a:ln>
        </p:spPr>
      </p:sp>
      <p:sp>
        <p:nvSpPr>
          <p:cNvPr id="4" name="mark-295"/>
          <p:cNvSpPr/>
          <p:nvPr/>
        </p:nvSpPr>
        <p:spPr>
          <a:xfrm>
            <a:off x="557784" y="2020824"/>
            <a:ext cx="256032" cy="256032"/>
          </a:xfrm>
          <a:prstGeom prst="ellipse">
            <a:avLst/>
          </a:prstGeom>
          <a:solidFill>
            <a:schemeClr val="accent5"/>
          </a:solidFill>
          <a:ln/>
        </p:spPr>
      </p:sp>
      <p:sp>
        <p:nvSpPr>
          <p:cNvPr id="5" name="text-296"/>
          <p:cNvSpPr txBox="1"/>
          <p:nvPr/>
        </p:nvSpPr>
        <p:spPr>
          <a:xfrm>
            <a:off x="548640" y="1417320"/>
            <a:ext cx="2377440" cy="457200"/>
          </a:xfrm>
          <a:prstGeom prst="rect">
            <a:avLst/>
          </a:prstGeom>
          <a:noFill/>
          <a:ln/>
        </p:spPr>
        <p:txBody>
          <a:bodyPr wrap="square" lIns="0" tIns="0" rIns="0" bIns="0" rtlCol="0" anchor="ctr"/>
          <a:lstStyle/>
          <a:p>
            <a:pPr algn="l" indent="0" marL="0">
              <a:buNone/>
            </a:pPr>
            <a:r>
              <a:rPr lang="en-US" sz="1600" b="1" dirty="0">
                <a:solidFill>
                  <a:schemeClr val="tx1"/>
                </a:solidFill>
              </a:rPr>
              <a:t>0 s</a:t>
            </a:r>
            <a:endParaRPr lang="en-US" sz="1600" dirty="0"/>
          </a:p>
        </p:txBody>
      </p:sp>
      <p:sp>
        <p:nvSpPr>
          <p:cNvPr id="6" name="text-297"/>
          <p:cNvSpPr txBox="1"/>
          <p:nvPr/>
        </p:nvSpPr>
        <p:spPr>
          <a:xfrm>
            <a:off x="548640" y="2423160"/>
            <a:ext cx="2651760" cy="731520"/>
          </a:xfrm>
          <a:prstGeom prst="rect">
            <a:avLst/>
          </a:prstGeom>
          <a:noFill/>
          <a:ln/>
        </p:spPr>
        <p:txBody>
          <a:bodyPr wrap="square" lIns="0" tIns="0" rIns="0" bIns="0" rtlCol="0" anchor="t"/>
          <a:lstStyle/>
          <a:p>
            <a:pPr algn="l" indent="0" marL="0">
              <a:buNone/>
            </a:pPr>
            <a:r>
              <a:rPr lang="en-US" sz="1300" dirty="0">
                <a:solidFill>
                  <a:schemeClr val="tx1"/>
                </a:solidFill>
              </a:rPr>
              <a:t>El usuario reserva y recibe 201</a:t>
            </a:r>
            <a:endParaRPr lang="en-US" sz="1300" dirty="0"/>
          </a:p>
        </p:txBody>
      </p:sp>
      <p:sp>
        <p:nvSpPr>
          <p:cNvPr id="7" name="mark-298"/>
          <p:cNvSpPr/>
          <p:nvPr/>
        </p:nvSpPr>
        <p:spPr>
          <a:xfrm>
            <a:off x="3392424" y="2020824"/>
            <a:ext cx="256032" cy="256032"/>
          </a:xfrm>
          <a:prstGeom prst="ellipse">
            <a:avLst/>
          </a:prstGeom>
          <a:solidFill>
            <a:schemeClr val="accent1"/>
          </a:solidFill>
          <a:ln/>
        </p:spPr>
      </p:sp>
      <p:sp>
        <p:nvSpPr>
          <p:cNvPr id="8" name="text-299"/>
          <p:cNvSpPr txBox="1"/>
          <p:nvPr/>
        </p:nvSpPr>
        <p:spPr>
          <a:xfrm>
            <a:off x="3383280" y="1417320"/>
            <a:ext cx="2377440" cy="457200"/>
          </a:xfrm>
          <a:prstGeom prst="rect">
            <a:avLst/>
          </a:prstGeom>
          <a:noFill/>
          <a:ln/>
        </p:spPr>
        <p:txBody>
          <a:bodyPr wrap="square" lIns="0" tIns="0" rIns="0" bIns="0" rtlCol="0" anchor="ctr"/>
          <a:lstStyle/>
          <a:p>
            <a:pPr algn="l" indent="0" marL="0">
              <a:buNone/>
            </a:pPr>
            <a:r>
              <a:rPr lang="en-US" sz="1600" b="1" dirty="0">
                <a:solidFill>
                  <a:schemeClr val="tx1"/>
                </a:solidFill>
              </a:rPr>
              <a:t>milisegundos</a:t>
            </a:r>
            <a:endParaRPr lang="en-US" sz="1600" dirty="0"/>
          </a:p>
        </p:txBody>
      </p:sp>
      <p:sp>
        <p:nvSpPr>
          <p:cNvPr id="9" name="text-300"/>
          <p:cNvSpPr txBox="1"/>
          <p:nvPr/>
        </p:nvSpPr>
        <p:spPr>
          <a:xfrm>
            <a:off x="3383280" y="2423160"/>
            <a:ext cx="2651760" cy="731520"/>
          </a:xfrm>
          <a:prstGeom prst="rect">
            <a:avLst/>
          </a:prstGeom>
          <a:noFill/>
          <a:ln/>
        </p:spPr>
        <p:txBody>
          <a:bodyPr wrap="square" lIns="0" tIns="0" rIns="0" bIns="0" rtlCol="0" anchor="t"/>
          <a:lstStyle/>
          <a:p>
            <a:pPr algn="l" indent="0" marL="0">
              <a:buNone/>
            </a:pPr>
            <a:r>
              <a:rPr lang="en-US" sz="1300" dirty="0">
                <a:solidFill>
                  <a:schemeClr val="tx1"/>
                </a:solidFill>
              </a:rPr>
              <a:t>RabbitMQ entrega a ms-notificaciones</a:t>
            </a:r>
            <a:endParaRPr lang="en-US" sz="1300" dirty="0"/>
          </a:p>
        </p:txBody>
      </p:sp>
      <p:sp>
        <p:nvSpPr>
          <p:cNvPr id="10" name="mark-301"/>
          <p:cNvSpPr/>
          <p:nvPr/>
        </p:nvSpPr>
        <p:spPr>
          <a:xfrm>
            <a:off x="6227064" y="2020824"/>
            <a:ext cx="256032" cy="256032"/>
          </a:xfrm>
          <a:prstGeom prst="ellipse">
            <a:avLst/>
          </a:prstGeom>
          <a:solidFill>
            <a:schemeClr val="accent5"/>
          </a:solidFill>
          <a:ln/>
        </p:spPr>
      </p:sp>
      <p:sp>
        <p:nvSpPr>
          <p:cNvPr id="11" name="text-302"/>
          <p:cNvSpPr txBox="1"/>
          <p:nvPr/>
        </p:nvSpPr>
        <p:spPr>
          <a:xfrm>
            <a:off x="6217920" y="1417320"/>
            <a:ext cx="2377440" cy="457200"/>
          </a:xfrm>
          <a:prstGeom prst="rect">
            <a:avLst/>
          </a:prstGeom>
          <a:noFill/>
          <a:ln/>
        </p:spPr>
        <p:txBody>
          <a:bodyPr wrap="square" lIns="0" tIns="0" rIns="0" bIns="0" rtlCol="0" anchor="ctr"/>
          <a:lstStyle/>
          <a:p>
            <a:pPr algn="l" indent="0" marL="0">
              <a:buNone/>
            </a:pPr>
            <a:r>
              <a:rPr lang="en-US" sz="1600" b="1" dirty="0">
                <a:solidFill>
                  <a:schemeClr val="tx1"/>
                </a:solidFill>
              </a:rPr>
              <a:t>1,5 s</a:t>
            </a:r>
            <a:endParaRPr lang="en-US" sz="1600" dirty="0"/>
          </a:p>
        </p:txBody>
      </p:sp>
      <p:sp>
        <p:nvSpPr>
          <p:cNvPr id="12" name="text-303"/>
          <p:cNvSpPr txBox="1"/>
          <p:nvPr/>
        </p:nvSpPr>
        <p:spPr>
          <a:xfrm>
            <a:off x="6217920" y="2423160"/>
            <a:ext cx="2651760" cy="731520"/>
          </a:xfrm>
          <a:prstGeom prst="rect">
            <a:avLst/>
          </a:prstGeom>
          <a:noFill/>
          <a:ln/>
        </p:spPr>
        <p:txBody>
          <a:bodyPr wrap="square" lIns="0" tIns="0" rIns="0" bIns="0" rtlCol="0" anchor="t"/>
          <a:lstStyle/>
          <a:p>
            <a:pPr algn="l" indent="0" marL="0">
              <a:buNone/>
            </a:pPr>
            <a:r>
              <a:rPr lang="en-US" sz="1300" dirty="0">
                <a:solidFill>
                  <a:schemeClr val="tx1"/>
                </a:solidFill>
              </a:rPr>
              <a:t>requestNotificationsRefresh() recarga la campana</a:t>
            </a:r>
            <a:endParaRPr lang="en-US" sz="1300" dirty="0"/>
          </a:p>
        </p:txBody>
      </p:sp>
      <p:sp>
        <p:nvSpPr>
          <p:cNvPr id="13" name="mark-304"/>
          <p:cNvSpPr/>
          <p:nvPr/>
        </p:nvSpPr>
        <p:spPr>
          <a:xfrm>
            <a:off x="9061704" y="2020824"/>
            <a:ext cx="256032" cy="256032"/>
          </a:xfrm>
          <a:prstGeom prst="ellipse">
            <a:avLst/>
          </a:prstGeom>
          <a:solidFill>
            <a:schemeClr val="accent5"/>
          </a:solidFill>
          <a:ln/>
        </p:spPr>
      </p:sp>
      <p:sp>
        <p:nvSpPr>
          <p:cNvPr id="14" name="text-305"/>
          <p:cNvSpPr txBox="1"/>
          <p:nvPr/>
        </p:nvSpPr>
        <p:spPr>
          <a:xfrm>
            <a:off x="9052560" y="1417320"/>
            <a:ext cx="2377440" cy="457200"/>
          </a:xfrm>
          <a:prstGeom prst="rect">
            <a:avLst/>
          </a:prstGeom>
          <a:noFill/>
          <a:ln/>
        </p:spPr>
        <p:txBody>
          <a:bodyPr wrap="square" lIns="0" tIns="0" rIns="0" bIns="0" rtlCol="0" anchor="ctr"/>
          <a:lstStyle/>
          <a:p>
            <a:pPr algn="l" indent="0" marL="0">
              <a:buNone/>
            </a:pPr>
            <a:r>
              <a:rPr lang="en-US" sz="1600" b="1" dirty="0">
                <a:solidFill>
                  <a:schemeClr val="tx1"/>
                </a:solidFill>
              </a:rPr>
              <a:t>cada 30 s</a:t>
            </a:r>
            <a:endParaRPr lang="en-US" sz="1600" dirty="0"/>
          </a:p>
        </p:txBody>
      </p:sp>
      <p:sp>
        <p:nvSpPr>
          <p:cNvPr id="15" name="text-306"/>
          <p:cNvSpPr txBox="1"/>
          <p:nvPr/>
        </p:nvSpPr>
        <p:spPr>
          <a:xfrm>
            <a:off x="9052560" y="2423160"/>
            <a:ext cx="2651760" cy="731520"/>
          </a:xfrm>
          <a:prstGeom prst="rect">
            <a:avLst/>
          </a:prstGeom>
          <a:noFill/>
          <a:ln/>
        </p:spPr>
        <p:txBody>
          <a:bodyPr wrap="square" lIns="0" tIns="0" rIns="0" bIns="0" rtlCol="0" anchor="t"/>
          <a:lstStyle/>
          <a:p>
            <a:pPr algn="l" indent="0" marL="0">
              <a:buNone/>
            </a:pPr>
            <a:r>
              <a:rPr lang="en-US" sz="1300" dirty="0">
                <a:solidFill>
                  <a:schemeClr val="tx1"/>
                </a:solidFill>
              </a:rPr>
              <a:t>Polling de GET /api/notificaciones</a:t>
            </a:r>
            <a:endParaRPr lang="en-US" sz="1300" dirty="0"/>
          </a:p>
        </p:txBody>
      </p:sp>
      <p:sp>
        <p:nvSpPr>
          <p:cNvPr id="16" name="box-307"/>
          <p:cNvSpPr/>
          <p:nvPr/>
        </p:nvSpPr>
        <p:spPr>
          <a:xfrm>
            <a:off x="548640" y="3429000"/>
            <a:ext cx="3520440" cy="2377440"/>
          </a:xfrm>
          <a:prstGeom prst="roundRect">
            <a:avLst>
              <a:gd name="adj" fmla="val 4615"/>
            </a:avLst>
          </a:prstGeom>
          <a:solidFill>
            <a:schemeClr val="bg2"/>
          </a:solidFill>
          <a:ln/>
        </p:spPr>
      </p:sp>
      <p:sp>
        <p:nvSpPr>
          <p:cNvPr id="17" name="circle-308"/>
          <p:cNvSpPr/>
          <p:nvPr/>
        </p:nvSpPr>
        <p:spPr>
          <a:xfrm>
            <a:off x="822960" y="3657600"/>
            <a:ext cx="548640" cy="548640"/>
          </a:xfrm>
          <a:prstGeom prst="ellipse">
            <a:avLst/>
          </a:prstGeom>
          <a:solidFill>
            <a:schemeClr val="accent5"/>
          </a:solidFill>
          <a:ln/>
        </p:spPr>
      </p:sp>
      <p:pic>
        <p:nvPicPr>
          <p:cNvPr id="18" name="icon-309" descr="preencoded.png">    </p:cNvPr>
          <p:cNvPicPr>
            <a:picLocks noChangeAspect="1"/>
          </p:cNvPicPr>
          <p:nvPr/>
        </p:nvPicPr>
        <p:blipFill>
          <a:blip r:embed="rId1"/>
          <a:stretch>
            <a:fillRect/>
          </a:stretch>
        </p:blipFill>
        <p:spPr>
          <a:xfrm>
            <a:off x="960120" y="3794760"/>
            <a:ext cx="274320" cy="274320"/>
          </a:xfrm>
          <a:prstGeom prst="rect">
            <a:avLst/>
          </a:prstGeom>
        </p:spPr>
      </p:pic>
      <p:sp>
        <p:nvSpPr>
          <p:cNvPr id="19" name="text-310"/>
          <p:cNvSpPr txBox="1"/>
          <p:nvPr/>
        </p:nvSpPr>
        <p:spPr>
          <a:xfrm>
            <a:off x="1508760" y="3657600"/>
            <a:ext cx="2423160" cy="548640"/>
          </a:xfrm>
          <a:prstGeom prst="rect">
            <a:avLst/>
          </a:prstGeom>
          <a:noFill/>
          <a:ln/>
        </p:spPr>
        <p:txBody>
          <a:bodyPr wrap="square" lIns="0" tIns="0" rIns="0" bIns="0" rtlCol="0" anchor="ctr"/>
          <a:lstStyle/>
          <a:p>
            <a:pPr algn="l" indent="0" marL="0">
              <a:buNone/>
            </a:pPr>
            <a:r>
              <a:rPr lang="en-US" sz="1600" b="1" dirty="0">
                <a:solidFill>
                  <a:schemeClr val="tx1"/>
                </a:solidFill>
              </a:rPr>
              <a:t>NotificationBell</a:t>
            </a:r>
            <a:endParaRPr lang="en-US" sz="1600" dirty="0"/>
          </a:p>
        </p:txBody>
      </p:sp>
      <p:sp>
        <p:nvSpPr>
          <p:cNvPr id="20" name="text-311"/>
          <p:cNvSpPr txBox="1"/>
          <p:nvPr/>
        </p:nvSpPr>
        <p:spPr>
          <a:xfrm>
            <a:off x="822960" y="4389120"/>
            <a:ext cx="3017520" cy="1645920"/>
          </a:xfrm>
          <a:prstGeom prst="rect">
            <a:avLst/>
          </a:prstGeom>
          <a:noFill/>
          <a:ln/>
        </p:spPr>
        <p:txBody>
          <a:bodyPr wrap="square" lIns="0" tIns="0" rIns="0" bIns="0" rtlCol="0" anchor="t"/>
          <a:lstStyle/>
          <a:p>
            <a:pPr algn="l" indent="0" marL="0">
              <a:buNone/>
            </a:pPr>
            <a:r>
              <a:rPr lang="en-US" sz="1400" dirty="0">
                <a:solidFill>
                  <a:schemeClr val="tx1"/>
                </a:solidFill>
              </a:rPr>
              <a:t>Componente en AppNav. Muestra el contador de no leídas y permite marcarlas con PUT /{id}/leida o PUT /leidas.</a:t>
            </a:r>
            <a:endParaRPr lang="en-US" sz="1400" dirty="0"/>
          </a:p>
        </p:txBody>
      </p:sp>
      <p:sp>
        <p:nvSpPr>
          <p:cNvPr id="21" name="box-312"/>
          <p:cNvSpPr/>
          <p:nvPr/>
        </p:nvSpPr>
        <p:spPr>
          <a:xfrm>
            <a:off x="4320540" y="3429000"/>
            <a:ext cx="3520440" cy="2377440"/>
          </a:xfrm>
          <a:prstGeom prst="roundRect">
            <a:avLst>
              <a:gd name="adj" fmla="val 4615"/>
            </a:avLst>
          </a:prstGeom>
          <a:solidFill>
            <a:schemeClr val="bg2"/>
          </a:solidFill>
          <a:ln/>
        </p:spPr>
      </p:sp>
      <p:sp>
        <p:nvSpPr>
          <p:cNvPr id="22" name="circle-313"/>
          <p:cNvSpPr/>
          <p:nvPr/>
        </p:nvSpPr>
        <p:spPr>
          <a:xfrm>
            <a:off x="4594860" y="3657600"/>
            <a:ext cx="548640" cy="548640"/>
          </a:xfrm>
          <a:prstGeom prst="ellipse">
            <a:avLst/>
          </a:prstGeom>
          <a:solidFill>
            <a:schemeClr val="accent5"/>
          </a:solidFill>
          <a:ln/>
        </p:spPr>
      </p:sp>
      <p:pic>
        <p:nvPicPr>
          <p:cNvPr id="23" name="icon-314" descr="preencoded.png">    </p:cNvPr>
          <p:cNvPicPr>
            <a:picLocks noChangeAspect="1"/>
          </p:cNvPicPr>
          <p:nvPr/>
        </p:nvPicPr>
        <p:blipFill>
          <a:blip r:embed="rId2"/>
          <a:stretch>
            <a:fillRect/>
          </a:stretch>
        </p:blipFill>
        <p:spPr>
          <a:xfrm>
            <a:off x="4732020" y="3794760"/>
            <a:ext cx="274320" cy="274320"/>
          </a:xfrm>
          <a:prstGeom prst="rect">
            <a:avLst/>
          </a:prstGeom>
        </p:spPr>
      </p:pic>
      <p:sp>
        <p:nvSpPr>
          <p:cNvPr id="24" name="text-315"/>
          <p:cNvSpPr txBox="1"/>
          <p:nvPr/>
        </p:nvSpPr>
        <p:spPr>
          <a:xfrm>
            <a:off x="5280660" y="3657600"/>
            <a:ext cx="2423160" cy="548640"/>
          </a:xfrm>
          <a:prstGeom prst="rect">
            <a:avLst/>
          </a:prstGeom>
          <a:noFill/>
          <a:ln/>
        </p:spPr>
        <p:txBody>
          <a:bodyPr wrap="square" lIns="0" tIns="0" rIns="0" bIns="0" rtlCol="0" anchor="ctr"/>
          <a:lstStyle/>
          <a:p>
            <a:pPr algn="l" indent="0" marL="0">
              <a:buNone/>
            </a:pPr>
            <a:r>
              <a:rPr lang="en-US" sz="1600" b="1" dirty="0">
                <a:solidFill>
                  <a:schemeClr val="tx1"/>
                </a:solidFill>
              </a:rPr>
              <a:t>Pestaña oculta = sin polling</a:t>
            </a:r>
            <a:endParaRPr lang="en-US" sz="1600" dirty="0"/>
          </a:p>
        </p:txBody>
      </p:sp>
      <p:sp>
        <p:nvSpPr>
          <p:cNvPr id="25" name="text-316"/>
          <p:cNvSpPr txBox="1"/>
          <p:nvPr/>
        </p:nvSpPr>
        <p:spPr>
          <a:xfrm>
            <a:off x="4594860" y="4389120"/>
            <a:ext cx="3017520" cy="1645920"/>
          </a:xfrm>
          <a:prstGeom prst="rect">
            <a:avLst/>
          </a:prstGeom>
          <a:noFill/>
          <a:ln/>
        </p:spPr>
        <p:txBody>
          <a:bodyPr wrap="square" lIns="0" tIns="0" rIns="0" bIns="0" rtlCol="0" anchor="t"/>
          <a:lstStyle/>
          <a:p>
            <a:pPr algn="l" indent="0" marL="0">
              <a:buNone/>
            </a:pPr>
            <a:r>
              <a:rPr lang="en-US" sz="1400" dirty="0">
                <a:solidFill>
                  <a:schemeClr val="tx1"/>
                </a:solidFill>
              </a:rPr>
              <a:t>Se salta las consultas con la pestaña en segundo plano y recarga al volver (visibilitychange).</a:t>
            </a:r>
            <a:endParaRPr lang="en-US" sz="1400" dirty="0"/>
          </a:p>
        </p:txBody>
      </p:sp>
      <p:sp>
        <p:nvSpPr>
          <p:cNvPr id="26" name="box-317"/>
          <p:cNvSpPr/>
          <p:nvPr/>
        </p:nvSpPr>
        <p:spPr>
          <a:xfrm>
            <a:off x="8092440" y="3429000"/>
            <a:ext cx="3520440" cy="2377440"/>
          </a:xfrm>
          <a:prstGeom prst="roundRect">
            <a:avLst>
              <a:gd name="adj" fmla="val 4615"/>
            </a:avLst>
          </a:prstGeom>
          <a:solidFill>
            <a:schemeClr val="bg2"/>
          </a:solidFill>
          <a:ln/>
        </p:spPr>
      </p:sp>
      <p:sp>
        <p:nvSpPr>
          <p:cNvPr id="27" name="circle-318"/>
          <p:cNvSpPr/>
          <p:nvPr/>
        </p:nvSpPr>
        <p:spPr>
          <a:xfrm>
            <a:off x="8366760" y="3657600"/>
            <a:ext cx="548640" cy="548640"/>
          </a:xfrm>
          <a:prstGeom prst="ellipse">
            <a:avLst/>
          </a:prstGeom>
          <a:solidFill>
            <a:schemeClr val="accent1"/>
          </a:solidFill>
          <a:ln/>
        </p:spPr>
      </p:sp>
      <p:pic>
        <p:nvPicPr>
          <p:cNvPr id="28" name="icon-319" descr="preencoded.png">    </p:cNvPr>
          <p:cNvPicPr>
            <a:picLocks noChangeAspect="1"/>
          </p:cNvPicPr>
          <p:nvPr/>
        </p:nvPicPr>
        <p:blipFill>
          <a:blip r:embed="rId3"/>
          <a:stretch>
            <a:fillRect/>
          </a:stretch>
        </p:blipFill>
        <p:spPr>
          <a:xfrm>
            <a:off x="8503920" y="3794760"/>
            <a:ext cx="274320" cy="274320"/>
          </a:xfrm>
          <a:prstGeom prst="rect">
            <a:avLst/>
          </a:prstGeom>
        </p:spPr>
      </p:pic>
      <p:sp>
        <p:nvSpPr>
          <p:cNvPr id="29" name="text-320"/>
          <p:cNvSpPr txBox="1"/>
          <p:nvPr/>
        </p:nvSpPr>
        <p:spPr>
          <a:xfrm>
            <a:off x="9052560" y="3657600"/>
            <a:ext cx="2423160" cy="548640"/>
          </a:xfrm>
          <a:prstGeom prst="rect">
            <a:avLst/>
          </a:prstGeom>
          <a:noFill/>
          <a:ln/>
        </p:spPr>
        <p:txBody>
          <a:bodyPr wrap="square" lIns="0" tIns="0" rIns="0" bIns="0" rtlCol="0" anchor="ctr"/>
          <a:lstStyle/>
          <a:p>
            <a:pPr algn="l" indent="0" marL="0">
              <a:buNone/>
            </a:pPr>
            <a:r>
              <a:rPr lang="en-US" sz="1600" b="1" dirty="0">
                <a:solidFill>
                  <a:schemeClr val="tx1"/>
                </a:solidFill>
              </a:rPr>
              <a:t>Consistencia eventual</a:t>
            </a:r>
            <a:endParaRPr lang="en-US" sz="1600" dirty="0"/>
          </a:p>
        </p:txBody>
      </p:sp>
      <p:sp>
        <p:nvSpPr>
          <p:cNvPr id="30" name="text-321"/>
          <p:cNvSpPr txBox="1"/>
          <p:nvPr/>
        </p:nvSpPr>
        <p:spPr>
          <a:xfrm>
            <a:off x="8366760" y="4389120"/>
            <a:ext cx="3017520" cy="1645920"/>
          </a:xfrm>
          <a:prstGeom prst="rect">
            <a:avLst/>
          </a:prstGeom>
          <a:noFill/>
          <a:ln/>
        </p:spPr>
        <p:txBody>
          <a:bodyPr wrap="square" lIns="0" tIns="0" rIns="0" bIns="0" rtlCol="0" anchor="t"/>
          <a:lstStyle/>
          <a:p>
            <a:pPr algn="l" indent="0" marL="0">
              <a:buNone/>
            </a:pPr>
            <a:r>
              <a:rPr lang="en-US" sz="1400" dirty="0">
                <a:solidFill>
                  <a:schemeClr val="tx1"/>
                </a:solidFill>
              </a:rPr>
              <a:t>El mensaje llega un momento después del 201, por eso la campana espera 1,5 s antes de recargar.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Despliegue y orden de arranque</a:t>
            </a:r>
            <a:endParaRPr lang="en-US" sz="3200" dirty="0"/>
          </a:p>
        </p:txBody>
      </p:sp>
      <p:sp>
        <p:nvSpPr>
          <p:cNvPr id="3" name="box-322"/>
          <p:cNvSpPr/>
          <p:nvPr/>
        </p:nvSpPr>
        <p:spPr>
          <a:xfrm>
            <a:off x="548640" y="1280160"/>
            <a:ext cx="5120640" cy="640080"/>
          </a:xfrm>
          <a:prstGeom prst="roundRect">
            <a:avLst>
              <a:gd name="adj" fmla="val 17143"/>
            </a:avLst>
          </a:prstGeom>
          <a:solidFill>
            <a:schemeClr val="tx2"/>
          </a:solidFill>
          <a:ln/>
        </p:spPr>
      </p:sp>
      <p:sp>
        <p:nvSpPr>
          <p:cNvPr id="4" name="label-323"/>
          <p:cNvSpPr txBox="1"/>
          <p:nvPr/>
        </p:nvSpPr>
        <p:spPr>
          <a:xfrm>
            <a:off x="548640" y="1280160"/>
            <a:ext cx="5120640" cy="640080"/>
          </a:xfrm>
          <a:prstGeom prst="rect">
            <a:avLst/>
          </a:prstGeom>
          <a:noFill/>
          <a:ln/>
        </p:spPr>
        <p:txBody>
          <a:bodyPr wrap="square" lIns="762" tIns="762" rIns="762" bIns="762" rtlCol="0" anchor="ctr"/>
          <a:lstStyle/>
          <a:p>
            <a:pPr algn="ctr" indent="0" marL="0">
              <a:buNone/>
            </a:pPr>
            <a:r>
              <a:rPr lang="en-US" sz="1500" b="1" dirty="0">
                <a:solidFill>
                  <a:schemeClr val="bg1"/>
                </a:solidFill>
              </a:rPr>
              <a:t>mysql · rabbitmq</a:t>
            </a:r>
            <a:endParaRPr lang="en-US" sz="1500" dirty="0"/>
          </a:p>
        </p:txBody>
      </p:sp>
      <p:sp>
        <p:nvSpPr>
          <p:cNvPr id="5" name="arrow-324"/>
          <p:cNvSpPr/>
          <p:nvPr/>
        </p:nvSpPr>
        <p:spPr>
          <a:xfrm>
            <a:off x="3108960" y="1920240"/>
            <a:ext cx="914" cy="274320"/>
          </a:xfrm>
          <a:prstGeom prst="line">
            <a:avLst/>
          </a:prstGeom>
          <a:noFill/>
          <a:ln w="19050">
            <a:solidFill>
              <a:schemeClr val="accent6"/>
            </a:solidFill>
            <a:prstDash val="solid"/>
            <a:tailEnd type="triangle"/>
          </a:ln>
        </p:spPr>
      </p:sp>
      <p:sp>
        <p:nvSpPr>
          <p:cNvPr id="6" name="box-325"/>
          <p:cNvSpPr/>
          <p:nvPr/>
        </p:nvSpPr>
        <p:spPr>
          <a:xfrm>
            <a:off x="548640" y="2194560"/>
            <a:ext cx="5120640" cy="640080"/>
          </a:xfrm>
          <a:prstGeom prst="roundRect">
            <a:avLst>
              <a:gd name="adj" fmla="val 17143"/>
            </a:avLst>
          </a:prstGeom>
          <a:solidFill>
            <a:schemeClr val="accent2"/>
          </a:solidFill>
          <a:ln/>
        </p:spPr>
      </p:sp>
      <p:sp>
        <p:nvSpPr>
          <p:cNvPr id="7" name="label-326"/>
          <p:cNvSpPr txBox="1"/>
          <p:nvPr/>
        </p:nvSpPr>
        <p:spPr>
          <a:xfrm>
            <a:off x="548640" y="2194560"/>
            <a:ext cx="5120640" cy="640080"/>
          </a:xfrm>
          <a:prstGeom prst="rect">
            <a:avLst/>
          </a:prstGeom>
          <a:noFill/>
          <a:ln/>
        </p:spPr>
        <p:txBody>
          <a:bodyPr wrap="square" lIns="762" tIns="762" rIns="762" bIns="762" rtlCol="0" anchor="ctr"/>
          <a:lstStyle/>
          <a:p>
            <a:pPr algn="ctr" indent="0" marL="0">
              <a:buNone/>
            </a:pPr>
            <a:r>
              <a:rPr lang="en-US" sz="1500" b="1" dirty="0">
                <a:solidFill>
                  <a:schemeClr val="bg1"/>
                </a:solidFill>
              </a:rPr>
              <a:t>ms-gimnasios · ms-notificaciones · ms-usuarios</a:t>
            </a:r>
            <a:endParaRPr lang="en-US" sz="1500" dirty="0"/>
          </a:p>
        </p:txBody>
      </p:sp>
      <p:sp>
        <p:nvSpPr>
          <p:cNvPr id="8" name="arrow-327"/>
          <p:cNvSpPr/>
          <p:nvPr/>
        </p:nvSpPr>
        <p:spPr>
          <a:xfrm>
            <a:off x="3108960" y="2834640"/>
            <a:ext cx="914" cy="274320"/>
          </a:xfrm>
          <a:prstGeom prst="line">
            <a:avLst/>
          </a:prstGeom>
          <a:noFill/>
          <a:ln w="19050">
            <a:solidFill>
              <a:schemeClr val="accent6"/>
            </a:solidFill>
            <a:prstDash val="solid"/>
            <a:tailEnd type="triangle"/>
          </a:ln>
        </p:spPr>
      </p:sp>
      <p:sp>
        <p:nvSpPr>
          <p:cNvPr id="9" name="box-328"/>
          <p:cNvSpPr/>
          <p:nvPr/>
        </p:nvSpPr>
        <p:spPr>
          <a:xfrm>
            <a:off x="548640" y="3108960"/>
            <a:ext cx="5120640" cy="640080"/>
          </a:xfrm>
          <a:prstGeom prst="roundRect">
            <a:avLst>
              <a:gd name="adj" fmla="val 17143"/>
            </a:avLst>
          </a:prstGeom>
          <a:solidFill>
            <a:schemeClr val="accent1"/>
          </a:solidFill>
          <a:ln/>
        </p:spPr>
      </p:sp>
      <p:sp>
        <p:nvSpPr>
          <p:cNvPr id="10" name="label-329"/>
          <p:cNvSpPr txBox="1"/>
          <p:nvPr/>
        </p:nvSpPr>
        <p:spPr>
          <a:xfrm>
            <a:off x="548640" y="3108960"/>
            <a:ext cx="5120640" cy="640080"/>
          </a:xfrm>
          <a:prstGeom prst="rect">
            <a:avLst/>
          </a:prstGeom>
          <a:noFill/>
          <a:ln/>
        </p:spPr>
        <p:txBody>
          <a:bodyPr wrap="square" lIns="762" tIns="762" rIns="762" bIns="762" rtlCol="0" anchor="ctr"/>
          <a:lstStyle/>
          <a:p>
            <a:pPr algn="ctr" indent="0" marL="0">
              <a:buNone/>
            </a:pPr>
            <a:r>
              <a:rPr lang="en-US" sz="1500" b="1" dirty="0">
                <a:solidFill>
                  <a:schemeClr val="bg1"/>
                </a:solidFill>
              </a:rPr>
              <a:t>ms-reservas</a:t>
            </a:r>
            <a:endParaRPr lang="en-US" sz="1500" dirty="0"/>
          </a:p>
        </p:txBody>
      </p:sp>
      <p:sp>
        <p:nvSpPr>
          <p:cNvPr id="11" name="arrow-330"/>
          <p:cNvSpPr/>
          <p:nvPr/>
        </p:nvSpPr>
        <p:spPr>
          <a:xfrm>
            <a:off x="3108960" y="3749040"/>
            <a:ext cx="914" cy="274320"/>
          </a:xfrm>
          <a:prstGeom prst="line">
            <a:avLst/>
          </a:prstGeom>
          <a:noFill/>
          <a:ln w="19050">
            <a:solidFill>
              <a:schemeClr val="accent6"/>
            </a:solidFill>
            <a:prstDash val="solid"/>
            <a:tailEnd type="triangle"/>
          </a:ln>
        </p:spPr>
      </p:sp>
      <p:sp>
        <p:nvSpPr>
          <p:cNvPr id="12" name="box-331"/>
          <p:cNvSpPr/>
          <p:nvPr/>
        </p:nvSpPr>
        <p:spPr>
          <a:xfrm>
            <a:off x="548640" y="4023360"/>
            <a:ext cx="5120640" cy="640080"/>
          </a:xfrm>
          <a:prstGeom prst="roundRect">
            <a:avLst>
              <a:gd name="adj" fmla="val 17143"/>
            </a:avLst>
          </a:prstGeom>
          <a:solidFill>
            <a:schemeClr val="accent6"/>
          </a:solidFill>
          <a:ln/>
        </p:spPr>
      </p:sp>
      <p:sp>
        <p:nvSpPr>
          <p:cNvPr id="13" name="label-332"/>
          <p:cNvSpPr txBox="1"/>
          <p:nvPr/>
        </p:nvSpPr>
        <p:spPr>
          <a:xfrm>
            <a:off x="548640" y="4023360"/>
            <a:ext cx="5120640" cy="640080"/>
          </a:xfrm>
          <a:prstGeom prst="rect">
            <a:avLst/>
          </a:prstGeom>
          <a:noFill/>
          <a:ln/>
        </p:spPr>
        <p:txBody>
          <a:bodyPr wrap="square" lIns="762" tIns="762" rIns="762" bIns="762" rtlCol="0" anchor="ctr"/>
          <a:lstStyle/>
          <a:p>
            <a:pPr algn="ctr" indent="0" marL="0">
              <a:buNone/>
            </a:pPr>
            <a:r>
              <a:rPr lang="en-US" sz="1500" b="1" dirty="0">
                <a:solidFill>
                  <a:schemeClr val="bg1"/>
                </a:solidFill>
              </a:rPr>
              <a:t>api-gateway</a:t>
            </a:r>
            <a:endParaRPr lang="en-US" sz="1500" dirty="0"/>
          </a:p>
        </p:txBody>
      </p:sp>
      <p:sp>
        <p:nvSpPr>
          <p:cNvPr id="14" name="arrow-333"/>
          <p:cNvSpPr/>
          <p:nvPr/>
        </p:nvSpPr>
        <p:spPr>
          <a:xfrm>
            <a:off x="3108960" y="4663440"/>
            <a:ext cx="914" cy="274320"/>
          </a:xfrm>
          <a:prstGeom prst="line">
            <a:avLst/>
          </a:prstGeom>
          <a:noFill/>
          <a:ln w="19050">
            <a:solidFill>
              <a:schemeClr val="accent6"/>
            </a:solidFill>
            <a:prstDash val="solid"/>
            <a:tailEnd type="triangle"/>
          </a:ln>
        </p:spPr>
      </p:sp>
      <p:sp>
        <p:nvSpPr>
          <p:cNvPr id="15" name="box-334"/>
          <p:cNvSpPr/>
          <p:nvPr/>
        </p:nvSpPr>
        <p:spPr>
          <a:xfrm>
            <a:off x="548640" y="4937760"/>
            <a:ext cx="5120640" cy="640080"/>
          </a:xfrm>
          <a:prstGeom prst="roundRect">
            <a:avLst>
              <a:gd name="adj" fmla="val 17143"/>
            </a:avLst>
          </a:prstGeom>
          <a:solidFill>
            <a:schemeClr val="accent5"/>
          </a:solidFill>
          <a:ln/>
        </p:spPr>
      </p:sp>
      <p:sp>
        <p:nvSpPr>
          <p:cNvPr id="16" name="label-335"/>
          <p:cNvSpPr txBox="1"/>
          <p:nvPr/>
        </p:nvSpPr>
        <p:spPr>
          <a:xfrm>
            <a:off x="548640" y="4937760"/>
            <a:ext cx="5120640" cy="640080"/>
          </a:xfrm>
          <a:prstGeom prst="rect">
            <a:avLst/>
          </a:prstGeom>
          <a:noFill/>
          <a:ln/>
        </p:spPr>
        <p:txBody>
          <a:bodyPr wrap="square" lIns="762" tIns="762" rIns="762" bIns="762" rtlCol="0" anchor="ctr"/>
          <a:lstStyle/>
          <a:p>
            <a:pPr algn="ctr" indent="0" marL="0">
              <a:buNone/>
            </a:pPr>
            <a:r>
              <a:rPr lang="en-US" sz="1500" b="1" dirty="0">
                <a:solidFill>
                  <a:schemeClr val="bg1"/>
                </a:solidFill>
              </a:rPr>
              <a:t>frontend (nginx)</a:t>
            </a:r>
            <a:endParaRPr lang="en-US" sz="1500" dirty="0"/>
          </a:p>
        </p:txBody>
      </p:sp>
      <p:sp>
        <p:nvSpPr>
          <p:cNvPr id="17" name="text-336"/>
          <p:cNvSpPr txBox="1"/>
          <p:nvPr/>
        </p:nvSpPr>
        <p:spPr>
          <a:xfrm>
            <a:off x="548640" y="5715000"/>
            <a:ext cx="5120640" cy="457200"/>
          </a:xfrm>
          <a:prstGeom prst="rect">
            <a:avLst/>
          </a:prstGeom>
          <a:noFill/>
          <a:ln/>
        </p:spPr>
        <p:txBody>
          <a:bodyPr wrap="square" lIns="0" tIns="0" rIns="0" bIns="0" rtlCol="0" anchor="t"/>
          <a:lstStyle/>
          <a:p>
            <a:pPr algn="l" indent="0" marL="0">
              <a:buNone/>
            </a:pPr>
            <a:r>
              <a:rPr lang="en-US" sz="1100" dirty="0">
                <a:solidFill>
                  <a:schemeClr val="accent6"/>
                </a:solidFill>
              </a:rPr>
              <a:t>docker compose: cada servicio espera a que el anterior esté healthy (depends_on + healthcheck)</a:t>
            </a:r>
            <a:endParaRPr lang="en-US" sz="1100" dirty="0"/>
          </a:p>
        </p:txBody>
      </p:sp>
      <p:sp>
        <p:nvSpPr>
          <p:cNvPr id="18" name="circle-337"/>
          <p:cNvSpPr/>
          <p:nvPr/>
        </p:nvSpPr>
        <p:spPr>
          <a:xfrm>
            <a:off x="6172200" y="1325880"/>
            <a:ext cx="548640" cy="548640"/>
          </a:xfrm>
          <a:prstGeom prst="ellipse">
            <a:avLst/>
          </a:prstGeom>
          <a:solidFill>
            <a:schemeClr val="accent2"/>
          </a:solidFill>
          <a:ln/>
        </p:spPr>
      </p:sp>
      <p:pic>
        <p:nvPicPr>
          <p:cNvPr id="19" name="icon-338" descr="preencoded.png">    </p:cNvPr>
          <p:cNvPicPr>
            <a:picLocks noChangeAspect="1"/>
          </p:cNvPicPr>
          <p:nvPr/>
        </p:nvPicPr>
        <p:blipFill>
          <a:blip r:embed="rId1"/>
          <a:stretch>
            <a:fillRect/>
          </a:stretch>
        </p:blipFill>
        <p:spPr>
          <a:xfrm>
            <a:off x="6309360" y="1463040"/>
            <a:ext cx="274320" cy="274320"/>
          </a:xfrm>
          <a:prstGeom prst="rect">
            <a:avLst/>
          </a:prstGeom>
        </p:spPr>
      </p:pic>
      <p:sp>
        <p:nvSpPr>
          <p:cNvPr id="20" name="text-339"/>
          <p:cNvSpPr txBox="1"/>
          <p:nvPr/>
        </p:nvSpPr>
        <p:spPr>
          <a:xfrm>
            <a:off x="6903720" y="1280160"/>
            <a:ext cx="4709160" cy="411480"/>
          </a:xfrm>
          <a:prstGeom prst="rect">
            <a:avLst/>
          </a:prstGeom>
          <a:noFill/>
          <a:ln/>
        </p:spPr>
        <p:txBody>
          <a:bodyPr wrap="square" lIns="0" tIns="0" rIns="0" bIns="0" rtlCol="0" anchor="ctr"/>
          <a:lstStyle/>
          <a:p>
            <a:pPr algn="l" indent="0" marL="0">
              <a:buNone/>
            </a:pPr>
            <a:r>
              <a:rPr lang="en-US" sz="1600" b="1" dirty="0">
                <a:solidFill>
                  <a:schemeClr val="tx1"/>
                </a:solidFill>
              </a:rPr>
              <a:t>Los consumidores primero</a:t>
            </a:r>
            <a:endParaRPr lang="en-US" sz="1600" dirty="0"/>
          </a:p>
        </p:txBody>
      </p:sp>
      <p:sp>
        <p:nvSpPr>
          <p:cNvPr id="21" name="text-340"/>
          <p:cNvSpPr txBox="1"/>
          <p:nvPr/>
        </p:nvSpPr>
        <p:spPr>
          <a:xfrm>
            <a:off x="6903720" y="1691640"/>
            <a:ext cx="4709160" cy="777240"/>
          </a:xfrm>
          <a:prstGeom prst="rect">
            <a:avLst/>
          </a:prstGeom>
          <a:noFill/>
          <a:ln/>
        </p:spPr>
        <p:txBody>
          <a:bodyPr wrap="square" lIns="0" tIns="0" rIns="0" bIns="0" rtlCol="0" anchor="t"/>
          <a:lstStyle/>
          <a:p>
            <a:pPr algn="l" indent="0" marL="0">
              <a:buNone/>
            </a:pPr>
            <a:r>
              <a:rPr lang="en-US" sz="1400" dirty="0">
                <a:solidFill>
                  <a:schemeClr val="tx1"/>
                </a:solidFill>
              </a:rPr>
              <a:t>Ellos declaran sus colas. Si ms-reservas publica antes, el mensaje no tiene cola y solo queda el log.warn.</a:t>
            </a:r>
            <a:endParaRPr lang="en-US" sz="1400" dirty="0"/>
          </a:p>
        </p:txBody>
      </p:sp>
      <p:sp>
        <p:nvSpPr>
          <p:cNvPr id="22" name="circle-341"/>
          <p:cNvSpPr/>
          <p:nvPr/>
        </p:nvSpPr>
        <p:spPr>
          <a:xfrm>
            <a:off x="6172200" y="2532888"/>
            <a:ext cx="548640" cy="548640"/>
          </a:xfrm>
          <a:prstGeom prst="ellipse">
            <a:avLst/>
          </a:prstGeom>
          <a:solidFill>
            <a:schemeClr val="accent4"/>
          </a:solidFill>
          <a:ln/>
        </p:spPr>
      </p:sp>
      <p:pic>
        <p:nvPicPr>
          <p:cNvPr id="23" name="icon-342" descr="preencoded.png">    </p:cNvPr>
          <p:cNvPicPr>
            <a:picLocks noChangeAspect="1"/>
          </p:cNvPicPr>
          <p:nvPr/>
        </p:nvPicPr>
        <p:blipFill>
          <a:blip r:embed="rId2"/>
          <a:stretch>
            <a:fillRect/>
          </a:stretch>
        </p:blipFill>
        <p:spPr>
          <a:xfrm>
            <a:off x="6309360" y="2670048"/>
            <a:ext cx="274320" cy="274320"/>
          </a:xfrm>
          <a:prstGeom prst="rect">
            <a:avLst/>
          </a:prstGeom>
        </p:spPr>
      </p:pic>
      <p:sp>
        <p:nvSpPr>
          <p:cNvPr id="24" name="text-343"/>
          <p:cNvSpPr txBox="1"/>
          <p:nvPr/>
        </p:nvSpPr>
        <p:spPr>
          <a:xfrm>
            <a:off x="6903720" y="2487168"/>
            <a:ext cx="4709160" cy="411480"/>
          </a:xfrm>
          <a:prstGeom prst="rect">
            <a:avLst/>
          </a:prstGeom>
          <a:noFill/>
          <a:ln/>
        </p:spPr>
        <p:txBody>
          <a:bodyPr wrap="square" lIns="0" tIns="0" rIns="0" bIns="0" rtlCol="0" anchor="ctr"/>
          <a:lstStyle/>
          <a:p>
            <a:pPr algn="l" indent="0" marL="0">
              <a:buNone/>
            </a:pPr>
            <a:r>
              <a:rPr lang="en-US" sz="1600" b="1" dirty="0">
                <a:solidFill>
                  <a:schemeClr val="tx1"/>
                </a:solidFill>
              </a:rPr>
              <a:t>Cambiar argumentos de una cola</a:t>
            </a:r>
            <a:endParaRPr lang="en-US" sz="1600" dirty="0"/>
          </a:p>
        </p:txBody>
      </p:sp>
      <p:sp>
        <p:nvSpPr>
          <p:cNvPr id="25" name="text-344"/>
          <p:cNvSpPr txBox="1"/>
          <p:nvPr/>
        </p:nvSpPr>
        <p:spPr>
          <a:xfrm>
            <a:off x="6903720" y="2898648"/>
            <a:ext cx="4709160" cy="777240"/>
          </a:xfrm>
          <a:prstGeom prst="rect">
            <a:avLst/>
          </a:prstGeom>
          <a:noFill/>
          <a:ln/>
        </p:spPr>
        <p:txBody>
          <a:bodyPr wrap="square" lIns="0" tIns="0" rIns="0" bIns="0" rtlCol="0" anchor="t"/>
          <a:lstStyle/>
          <a:p>
            <a:pPr algn="l" indent="0" marL="0">
              <a:buNone/>
            </a:pPr>
            <a:r>
              <a:rPr lang="en-US" sz="1400" dirty="0">
                <a:solidFill>
                  <a:schemeClr val="tx1"/>
                </a:solidFill>
              </a:rPr>
              <a:t>RabbitMQ rechaza redeclararla (PRECONDITION_FAILED). Hay que borrarla en el panel o usar docker compose down -v.</a:t>
            </a:r>
            <a:endParaRPr lang="en-US" sz="1400" dirty="0"/>
          </a:p>
        </p:txBody>
      </p:sp>
      <p:sp>
        <p:nvSpPr>
          <p:cNvPr id="26" name="circle-345"/>
          <p:cNvSpPr/>
          <p:nvPr/>
        </p:nvSpPr>
        <p:spPr>
          <a:xfrm>
            <a:off x="6172200" y="3739896"/>
            <a:ext cx="548640" cy="548640"/>
          </a:xfrm>
          <a:prstGeom prst="ellipse">
            <a:avLst/>
          </a:prstGeom>
          <a:solidFill>
            <a:schemeClr val="accent1"/>
          </a:solidFill>
          <a:ln/>
        </p:spPr>
      </p:sp>
      <p:pic>
        <p:nvPicPr>
          <p:cNvPr id="27" name="icon-346" descr="preencoded.png">    </p:cNvPr>
          <p:cNvPicPr>
            <a:picLocks noChangeAspect="1"/>
          </p:cNvPicPr>
          <p:nvPr/>
        </p:nvPicPr>
        <p:blipFill>
          <a:blip r:embed="rId3"/>
          <a:stretch>
            <a:fillRect/>
          </a:stretch>
        </p:blipFill>
        <p:spPr>
          <a:xfrm>
            <a:off x="6309360" y="3877056"/>
            <a:ext cx="274320" cy="274320"/>
          </a:xfrm>
          <a:prstGeom prst="rect">
            <a:avLst/>
          </a:prstGeom>
        </p:spPr>
      </p:pic>
      <p:sp>
        <p:nvSpPr>
          <p:cNvPr id="28" name="text-347"/>
          <p:cNvSpPr txBox="1"/>
          <p:nvPr/>
        </p:nvSpPr>
        <p:spPr>
          <a:xfrm>
            <a:off x="6903720" y="3694176"/>
            <a:ext cx="4709160" cy="411480"/>
          </a:xfrm>
          <a:prstGeom prst="rect">
            <a:avLst/>
          </a:prstGeom>
          <a:noFill/>
          <a:ln/>
        </p:spPr>
        <p:txBody>
          <a:bodyPr wrap="square" lIns="0" tIns="0" rIns="0" bIns="0" rtlCol="0" anchor="ctr"/>
          <a:lstStyle/>
          <a:p>
            <a:pPr algn="l" indent="0" marL="0">
              <a:buNone/>
            </a:pPr>
            <a:r>
              <a:rPr lang="en-US" sz="1600" b="1" dirty="0">
                <a:solidFill>
                  <a:schemeClr val="tx1"/>
                </a:solidFill>
              </a:rPr>
              <a:t>Datos persistentes</a:t>
            </a:r>
            <a:endParaRPr lang="en-US" sz="1600" dirty="0"/>
          </a:p>
        </p:txBody>
      </p:sp>
      <p:sp>
        <p:nvSpPr>
          <p:cNvPr id="29" name="text-348"/>
          <p:cNvSpPr txBox="1"/>
          <p:nvPr/>
        </p:nvSpPr>
        <p:spPr>
          <a:xfrm>
            <a:off x="6903720" y="4105656"/>
            <a:ext cx="4709160" cy="777240"/>
          </a:xfrm>
          <a:prstGeom prst="rect">
            <a:avLst/>
          </a:prstGeom>
          <a:noFill/>
          <a:ln/>
        </p:spPr>
        <p:txBody>
          <a:bodyPr wrap="square" lIns="0" tIns="0" rIns="0" bIns="0" rtlCol="0" anchor="t"/>
          <a:lstStyle/>
          <a:p>
            <a:pPr algn="l" indent="0" marL="0">
              <a:buNone/>
            </a:pPr>
            <a:r>
              <a:rPr lang="en-US" sz="1400" dirty="0">
                <a:solidFill>
                  <a:schemeClr val="tx1"/>
                </a:solidFill>
              </a:rPr>
              <a:t>Volúmenes mysql-data y rabbitmq-data: los mensajes y las DLQ sobreviven a docker compose down.</a:t>
            </a:r>
            <a:endParaRPr lang="en-US" sz="1400" dirty="0"/>
          </a:p>
        </p:txBody>
      </p:sp>
      <p:sp>
        <p:nvSpPr>
          <p:cNvPr id="30" name="circle-349"/>
          <p:cNvSpPr/>
          <p:nvPr/>
        </p:nvSpPr>
        <p:spPr>
          <a:xfrm>
            <a:off x="6172200" y="4946904"/>
            <a:ext cx="548640" cy="548640"/>
          </a:xfrm>
          <a:prstGeom prst="ellipse">
            <a:avLst/>
          </a:prstGeom>
          <a:solidFill>
            <a:schemeClr val="accent3"/>
          </a:solidFill>
          <a:ln/>
        </p:spPr>
      </p:sp>
      <p:pic>
        <p:nvPicPr>
          <p:cNvPr id="31" name="icon-350" descr="preencoded.png">    </p:cNvPr>
          <p:cNvPicPr>
            <a:picLocks noChangeAspect="1"/>
          </p:cNvPicPr>
          <p:nvPr/>
        </p:nvPicPr>
        <p:blipFill>
          <a:blip r:embed="rId4"/>
          <a:stretch>
            <a:fillRect/>
          </a:stretch>
        </p:blipFill>
        <p:spPr>
          <a:xfrm>
            <a:off x="6309360" y="5084064"/>
            <a:ext cx="274320" cy="274320"/>
          </a:xfrm>
          <a:prstGeom prst="rect">
            <a:avLst/>
          </a:prstGeom>
        </p:spPr>
      </p:pic>
      <p:sp>
        <p:nvSpPr>
          <p:cNvPr id="32" name="text-351"/>
          <p:cNvSpPr txBox="1"/>
          <p:nvPr/>
        </p:nvSpPr>
        <p:spPr>
          <a:xfrm>
            <a:off x="6903720" y="4901184"/>
            <a:ext cx="4709160" cy="411480"/>
          </a:xfrm>
          <a:prstGeom prst="rect">
            <a:avLst/>
          </a:prstGeom>
          <a:noFill/>
          <a:ln/>
        </p:spPr>
        <p:txBody>
          <a:bodyPr wrap="square" lIns="0" tIns="0" rIns="0" bIns="0" rtlCol="0" anchor="ctr"/>
          <a:lstStyle/>
          <a:p>
            <a:pPr algn="l" indent="0" marL="0">
              <a:buNone/>
            </a:pPr>
            <a:r>
              <a:rPr lang="en-US" sz="1600" b="1" dirty="0">
                <a:solidFill>
                  <a:schemeClr val="tx1"/>
                </a:solidFill>
              </a:rPr>
              <a:t>Observabilidad</a:t>
            </a:r>
            <a:endParaRPr lang="en-US" sz="1600" dirty="0"/>
          </a:p>
        </p:txBody>
      </p:sp>
      <p:sp>
        <p:nvSpPr>
          <p:cNvPr id="33" name="text-352"/>
          <p:cNvSpPr txBox="1"/>
          <p:nvPr/>
        </p:nvSpPr>
        <p:spPr>
          <a:xfrm>
            <a:off x="6903720" y="5312664"/>
            <a:ext cx="4709160" cy="777240"/>
          </a:xfrm>
          <a:prstGeom prst="rect">
            <a:avLst/>
          </a:prstGeom>
          <a:noFill/>
          <a:ln/>
        </p:spPr>
        <p:txBody>
          <a:bodyPr wrap="square" lIns="0" tIns="0" rIns="0" bIns="0" rtlCol="0" anchor="t"/>
          <a:lstStyle/>
          <a:p>
            <a:pPr algn="l" indent="0" marL="0">
              <a:buNone/>
            </a:pPr>
            <a:r>
              <a:rPr lang="en-US" sz="1400" dirty="0">
                <a:solidFill>
                  <a:schemeClr val="tx1"/>
                </a:solidFill>
              </a:rPr>
              <a:t>Panel en localhost:15672 y logs en logs/&lt;servicio&gt;.log con cada publicación, entrega y fallo.</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rPr>
              <a:t>Lo que hay que llevarse</a:t>
            </a:r>
            <a:endParaRPr lang="en-US" sz="3200" dirty="0"/>
          </a:p>
        </p:txBody>
      </p:sp>
      <p:sp>
        <p:nvSpPr>
          <p:cNvPr id="3" name="circle-353"/>
          <p:cNvSpPr/>
          <p:nvPr/>
        </p:nvSpPr>
        <p:spPr>
          <a:xfrm>
            <a:off x="548640" y="1371600"/>
            <a:ext cx="685800" cy="685800"/>
          </a:xfrm>
          <a:prstGeom prst="ellipse">
            <a:avLst/>
          </a:prstGeom>
          <a:solidFill>
            <a:schemeClr val="accent1"/>
          </a:solidFill>
          <a:ln/>
        </p:spPr>
      </p:sp>
      <p:pic>
        <p:nvPicPr>
          <p:cNvPr id="4" name="icon-354" descr="preencoded.png">    </p:cNvPr>
          <p:cNvPicPr>
            <a:picLocks noChangeAspect="1"/>
          </p:cNvPicPr>
          <p:nvPr/>
        </p:nvPicPr>
        <p:blipFill>
          <a:blip r:embed="rId1"/>
          <a:stretch>
            <a:fillRect/>
          </a:stretch>
        </p:blipFill>
        <p:spPr>
          <a:xfrm>
            <a:off x="720090" y="1543050"/>
            <a:ext cx="342900" cy="342900"/>
          </a:xfrm>
          <a:prstGeom prst="rect">
            <a:avLst/>
          </a:prstGeom>
        </p:spPr>
      </p:pic>
      <p:sp>
        <p:nvSpPr>
          <p:cNvPr id="5" name="text-355"/>
          <p:cNvSpPr txBox="1"/>
          <p:nvPr/>
        </p:nvSpPr>
        <p:spPr>
          <a:xfrm>
            <a:off x="1463040" y="1353312"/>
            <a:ext cx="4480560" cy="457200"/>
          </a:xfrm>
          <a:prstGeom prst="rect">
            <a:avLst/>
          </a:prstGeom>
          <a:noFill/>
          <a:ln/>
        </p:spPr>
        <p:txBody>
          <a:bodyPr wrap="square" lIns="0" tIns="0" rIns="0" bIns="0" rtlCol="0" anchor="ctr"/>
          <a:lstStyle/>
          <a:p>
            <a:pPr algn="l" indent="0" marL="0">
              <a:buNone/>
            </a:pPr>
            <a:r>
              <a:rPr lang="en-US" sz="1900" b="1" dirty="0">
                <a:solidFill>
                  <a:schemeClr val="bg1"/>
                </a:solidFill>
              </a:rPr>
              <a:t>Desacoplamiento</a:t>
            </a:r>
            <a:endParaRPr lang="en-US" sz="1900" dirty="0"/>
          </a:p>
        </p:txBody>
      </p:sp>
      <p:sp>
        <p:nvSpPr>
          <p:cNvPr id="6" name="text-356"/>
          <p:cNvSpPr txBox="1"/>
          <p:nvPr/>
        </p:nvSpPr>
        <p:spPr>
          <a:xfrm>
            <a:off x="1463040" y="1828800"/>
            <a:ext cx="4480560" cy="777240"/>
          </a:xfrm>
          <a:prstGeom prst="rect">
            <a:avLst/>
          </a:prstGeom>
          <a:noFill/>
          <a:ln/>
        </p:spPr>
        <p:txBody>
          <a:bodyPr wrap="square" lIns="0" tIns="0" rIns="0" bIns="0" rtlCol="0" anchor="t"/>
          <a:lstStyle/>
          <a:p>
            <a:pPr algn="l" indent="0" marL="0">
              <a:buNone/>
            </a:pPr>
            <a:r>
              <a:rPr lang="en-US" sz="1500" dirty="0">
                <a:solidFill>
                  <a:schemeClr val="bg2"/>
                </a:solidFill>
              </a:rPr>
              <a:t>ms-reservas publica en un exchange topic y no conoce a sus consumidores.</a:t>
            </a:r>
            <a:endParaRPr lang="en-US" sz="1500" dirty="0"/>
          </a:p>
        </p:txBody>
      </p:sp>
      <p:sp>
        <p:nvSpPr>
          <p:cNvPr id="7" name="circle-357"/>
          <p:cNvSpPr/>
          <p:nvPr/>
        </p:nvSpPr>
        <p:spPr>
          <a:xfrm>
            <a:off x="6172200" y="1371600"/>
            <a:ext cx="685800" cy="685800"/>
          </a:xfrm>
          <a:prstGeom prst="ellipse">
            <a:avLst/>
          </a:prstGeom>
          <a:solidFill>
            <a:schemeClr val="accent1"/>
          </a:solidFill>
          <a:ln/>
        </p:spPr>
      </p:sp>
      <p:pic>
        <p:nvPicPr>
          <p:cNvPr id="8" name="icon-358" descr="preencoded.png">    </p:cNvPr>
          <p:cNvPicPr>
            <a:picLocks noChangeAspect="1"/>
          </p:cNvPicPr>
          <p:nvPr/>
        </p:nvPicPr>
        <p:blipFill>
          <a:blip r:embed="rId2"/>
          <a:stretch>
            <a:fillRect/>
          </a:stretch>
        </p:blipFill>
        <p:spPr>
          <a:xfrm>
            <a:off x="6343650" y="1543050"/>
            <a:ext cx="342900" cy="342900"/>
          </a:xfrm>
          <a:prstGeom prst="rect">
            <a:avLst/>
          </a:prstGeom>
        </p:spPr>
      </p:pic>
      <p:sp>
        <p:nvSpPr>
          <p:cNvPr id="9" name="text-359"/>
          <p:cNvSpPr txBox="1"/>
          <p:nvPr/>
        </p:nvSpPr>
        <p:spPr>
          <a:xfrm>
            <a:off x="7086600" y="1353312"/>
            <a:ext cx="4480560" cy="457200"/>
          </a:xfrm>
          <a:prstGeom prst="rect">
            <a:avLst/>
          </a:prstGeom>
          <a:noFill/>
          <a:ln/>
        </p:spPr>
        <p:txBody>
          <a:bodyPr wrap="square" lIns="0" tIns="0" rIns="0" bIns="0" rtlCol="0" anchor="ctr"/>
          <a:lstStyle/>
          <a:p>
            <a:pPr algn="l" indent="0" marL="0">
              <a:buNone/>
            </a:pPr>
            <a:r>
              <a:rPr lang="en-US" sz="1900" b="1" dirty="0">
                <a:solidFill>
                  <a:schemeClr val="bg1"/>
                </a:solidFill>
              </a:rPr>
              <a:t>Una cola por consumidor</a:t>
            </a:r>
            <a:endParaRPr lang="en-US" sz="1900" dirty="0"/>
          </a:p>
        </p:txBody>
      </p:sp>
      <p:sp>
        <p:nvSpPr>
          <p:cNvPr id="10" name="text-360"/>
          <p:cNvSpPr txBox="1"/>
          <p:nvPr/>
        </p:nvSpPr>
        <p:spPr>
          <a:xfrm>
            <a:off x="7086600" y="1828800"/>
            <a:ext cx="4480560" cy="777240"/>
          </a:xfrm>
          <a:prstGeom prst="rect">
            <a:avLst/>
          </a:prstGeom>
          <a:noFill/>
          <a:ln/>
        </p:spPr>
        <p:txBody>
          <a:bodyPr wrap="square" lIns="0" tIns="0" rIns="0" bIns="0" rtlCol="0" anchor="t"/>
          <a:lstStyle/>
          <a:p>
            <a:pPr algn="l" indent="0" marL="0">
              <a:buNone/>
            </a:pPr>
            <a:r>
              <a:rPr lang="en-US" sz="1500" dirty="0">
                <a:solidFill>
                  <a:schemeClr val="bg2"/>
                </a:solidFill>
              </a:rPr>
              <a:t>Cada servicio declara su cola y recibe su propia copia (pub/sub).</a:t>
            </a:r>
            <a:endParaRPr lang="en-US" sz="1500" dirty="0"/>
          </a:p>
        </p:txBody>
      </p:sp>
      <p:sp>
        <p:nvSpPr>
          <p:cNvPr id="11" name="circle-361"/>
          <p:cNvSpPr/>
          <p:nvPr/>
        </p:nvSpPr>
        <p:spPr>
          <a:xfrm>
            <a:off x="548640" y="2971800"/>
            <a:ext cx="685800" cy="685800"/>
          </a:xfrm>
          <a:prstGeom prst="ellipse">
            <a:avLst/>
          </a:prstGeom>
          <a:solidFill>
            <a:schemeClr val="accent1"/>
          </a:solidFill>
          <a:ln/>
        </p:spPr>
      </p:sp>
      <p:pic>
        <p:nvPicPr>
          <p:cNvPr id="12" name="icon-362" descr="preencoded.png">    </p:cNvPr>
          <p:cNvPicPr>
            <a:picLocks noChangeAspect="1"/>
          </p:cNvPicPr>
          <p:nvPr/>
        </p:nvPicPr>
        <p:blipFill>
          <a:blip r:embed="rId3"/>
          <a:stretch>
            <a:fillRect/>
          </a:stretch>
        </p:blipFill>
        <p:spPr>
          <a:xfrm>
            <a:off x="720090" y="3143250"/>
            <a:ext cx="342900" cy="342900"/>
          </a:xfrm>
          <a:prstGeom prst="rect">
            <a:avLst/>
          </a:prstGeom>
        </p:spPr>
      </p:pic>
      <p:sp>
        <p:nvSpPr>
          <p:cNvPr id="13" name="text-363"/>
          <p:cNvSpPr txBox="1"/>
          <p:nvPr/>
        </p:nvSpPr>
        <p:spPr>
          <a:xfrm>
            <a:off x="1463040" y="2953512"/>
            <a:ext cx="4480560" cy="457200"/>
          </a:xfrm>
          <a:prstGeom prst="rect">
            <a:avLst/>
          </a:prstGeom>
          <a:noFill/>
          <a:ln/>
        </p:spPr>
        <p:txBody>
          <a:bodyPr wrap="square" lIns="0" tIns="0" rIns="0" bIns="0" rtlCol="0" anchor="ctr"/>
          <a:lstStyle/>
          <a:p>
            <a:pPr algn="l" indent="0" marL="0">
              <a:buNone/>
            </a:pPr>
            <a:r>
              <a:rPr lang="en-US" sz="1900" b="1" dirty="0">
                <a:solidFill>
                  <a:schemeClr val="bg1"/>
                </a:solidFill>
              </a:rPr>
              <a:t>Mensajes seguros</a:t>
            </a:r>
            <a:endParaRPr lang="en-US" sz="1900" dirty="0"/>
          </a:p>
        </p:txBody>
      </p:sp>
      <p:sp>
        <p:nvSpPr>
          <p:cNvPr id="14" name="text-364"/>
          <p:cNvSpPr txBox="1"/>
          <p:nvPr/>
        </p:nvSpPr>
        <p:spPr>
          <a:xfrm>
            <a:off x="1463040" y="3429000"/>
            <a:ext cx="4480560" cy="777240"/>
          </a:xfrm>
          <a:prstGeom prst="rect">
            <a:avLst/>
          </a:prstGeom>
          <a:noFill/>
          <a:ln/>
        </p:spPr>
        <p:txBody>
          <a:bodyPr wrap="square" lIns="0" tIns="0" rIns="0" bIns="0" rtlCol="0" anchor="t"/>
          <a:lstStyle/>
          <a:p>
            <a:pPr algn="l" indent="0" marL="0">
              <a:buNone/>
            </a:pPr>
            <a:r>
              <a:rPr lang="en-US" sz="1500" dirty="0">
                <a:solidFill>
                  <a:schemeClr val="bg2"/>
                </a:solidFill>
              </a:rPr>
              <a:t>Se publica tras el commit; confirms y returns avisan si algo no llegó.</a:t>
            </a:r>
            <a:endParaRPr lang="en-US" sz="1500" dirty="0"/>
          </a:p>
        </p:txBody>
      </p:sp>
      <p:sp>
        <p:nvSpPr>
          <p:cNvPr id="15" name="circle-365"/>
          <p:cNvSpPr/>
          <p:nvPr/>
        </p:nvSpPr>
        <p:spPr>
          <a:xfrm>
            <a:off x="6172200" y="2971800"/>
            <a:ext cx="685800" cy="685800"/>
          </a:xfrm>
          <a:prstGeom prst="ellipse">
            <a:avLst/>
          </a:prstGeom>
          <a:solidFill>
            <a:schemeClr val="accent1"/>
          </a:solidFill>
          <a:ln/>
        </p:spPr>
      </p:sp>
      <p:pic>
        <p:nvPicPr>
          <p:cNvPr id="16" name="icon-366" descr="preencoded.png">    </p:cNvPr>
          <p:cNvPicPr>
            <a:picLocks noChangeAspect="1"/>
          </p:cNvPicPr>
          <p:nvPr/>
        </p:nvPicPr>
        <p:blipFill>
          <a:blip r:embed="rId4"/>
          <a:stretch>
            <a:fillRect/>
          </a:stretch>
        </p:blipFill>
        <p:spPr>
          <a:xfrm>
            <a:off x="6343650" y="3143250"/>
            <a:ext cx="342900" cy="342900"/>
          </a:xfrm>
          <a:prstGeom prst="rect">
            <a:avLst/>
          </a:prstGeom>
        </p:spPr>
      </p:pic>
      <p:sp>
        <p:nvSpPr>
          <p:cNvPr id="17" name="text-367"/>
          <p:cNvSpPr txBox="1"/>
          <p:nvPr/>
        </p:nvSpPr>
        <p:spPr>
          <a:xfrm>
            <a:off x="7086600" y="2953512"/>
            <a:ext cx="4480560" cy="457200"/>
          </a:xfrm>
          <a:prstGeom prst="rect">
            <a:avLst/>
          </a:prstGeom>
          <a:noFill/>
          <a:ln/>
        </p:spPr>
        <p:txBody>
          <a:bodyPr wrap="square" lIns="0" tIns="0" rIns="0" bIns="0" rtlCol="0" anchor="ctr"/>
          <a:lstStyle/>
          <a:p>
            <a:pPr algn="l" indent="0" marL="0">
              <a:buNone/>
            </a:pPr>
            <a:r>
              <a:rPr lang="en-US" sz="1900" b="1" dirty="0">
                <a:solidFill>
                  <a:schemeClr val="bg1"/>
                </a:solidFill>
              </a:rPr>
              <a:t>Consumidores idempotentes</a:t>
            </a:r>
            <a:endParaRPr lang="en-US" sz="1900" dirty="0"/>
          </a:p>
        </p:txBody>
      </p:sp>
      <p:sp>
        <p:nvSpPr>
          <p:cNvPr id="18" name="text-368"/>
          <p:cNvSpPr txBox="1"/>
          <p:nvPr/>
        </p:nvSpPr>
        <p:spPr>
          <a:xfrm>
            <a:off x="7086600" y="3429000"/>
            <a:ext cx="4480560" cy="777240"/>
          </a:xfrm>
          <a:prstGeom prst="rect">
            <a:avLst/>
          </a:prstGeom>
          <a:noFill/>
          <a:ln/>
        </p:spPr>
        <p:txBody>
          <a:bodyPr wrap="square" lIns="0" tIns="0" rIns="0" bIns="0" rtlCol="0" anchor="t"/>
          <a:lstStyle/>
          <a:p>
            <a:pPr algn="l" indent="0" marL="0">
              <a:buNone/>
            </a:pPr>
            <a:r>
              <a:rPr lang="en-US" sz="1500" dirty="0">
                <a:solidFill>
                  <a:schemeClr val="bg2"/>
                </a:solidFill>
              </a:rPr>
              <a:t>Upsert por id y UNIQUE(reserva_id, tipo) toleran duplicados.</a:t>
            </a:r>
            <a:endParaRPr lang="en-US" sz="1500" dirty="0"/>
          </a:p>
        </p:txBody>
      </p:sp>
      <p:sp>
        <p:nvSpPr>
          <p:cNvPr id="19" name="circle-369"/>
          <p:cNvSpPr/>
          <p:nvPr/>
        </p:nvSpPr>
        <p:spPr>
          <a:xfrm>
            <a:off x="548640" y="4572000"/>
            <a:ext cx="685800" cy="685800"/>
          </a:xfrm>
          <a:prstGeom prst="ellipse">
            <a:avLst/>
          </a:prstGeom>
          <a:solidFill>
            <a:schemeClr val="accent1"/>
          </a:solidFill>
          <a:ln/>
        </p:spPr>
      </p:sp>
      <p:pic>
        <p:nvPicPr>
          <p:cNvPr id="20" name="icon-370" descr="preencoded.png">    </p:cNvPr>
          <p:cNvPicPr>
            <a:picLocks noChangeAspect="1"/>
          </p:cNvPicPr>
          <p:nvPr/>
        </p:nvPicPr>
        <p:blipFill>
          <a:blip r:embed="rId5"/>
          <a:stretch>
            <a:fillRect/>
          </a:stretch>
        </p:blipFill>
        <p:spPr>
          <a:xfrm>
            <a:off x="720090" y="4743450"/>
            <a:ext cx="342900" cy="342900"/>
          </a:xfrm>
          <a:prstGeom prst="rect">
            <a:avLst/>
          </a:prstGeom>
        </p:spPr>
      </p:pic>
      <p:sp>
        <p:nvSpPr>
          <p:cNvPr id="21" name="text-371"/>
          <p:cNvSpPr txBox="1"/>
          <p:nvPr/>
        </p:nvSpPr>
        <p:spPr>
          <a:xfrm>
            <a:off x="1463040" y="4553712"/>
            <a:ext cx="4480560" cy="457200"/>
          </a:xfrm>
          <a:prstGeom prst="rect">
            <a:avLst/>
          </a:prstGeom>
          <a:noFill/>
          <a:ln/>
        </p:spPr>
        <p:txBody>
          <a:bodyPr wrap="square" lIns="0" tIns="0" rIns="0" bIns="0" rtlCol="0" anchor="ctr"/>
          <a:lstStyle/>
          <a:p>
            <a:pPr algn="l" indent="0" marL="0">
              <a:buNone/>
            </a:pPr>
            <a:r>
              <a:rPr lang="en-US" sz="1900" b="1" dirty="0">
                <a:solidFill>
                  <a:schemeClr val="bg1"/>
                </a:solidFill>
              </a:rPr>
              <a:t>Fallos controlados</a:t>
            </a:r>
            <a:endParaRPr lang="en-US" sz="1900" dirty="0"/>
          </a:p>
        </p:txBody>
      </p:sp>
      <p:sp>
        <p:nvSpPr>
          <p:cNvPr id="22" name="text-372"/>
          <p:cNvSpPr txBox="1"/>
          <p:nvPr/>
        </p:nvSpPr>
        <p:spPr>
          <a:xfrm>
            <a:off x="1463040" y="5029200"/>
            <a:ext cx="4480560" cy="777240"/>
          </a:xfrm>
          <a:prstGeom prst="rect">
            <a:avLst/>
          </a:prstGeom>
          <a:noFill/>
          <a:ln/>
        </p:spPr>
        <p:txBody>
          <a:bodyPr wrap="square" lIns="0" tIns="0" rIns="0" bIns="0" rtlCol="0" anchor="t"/>
          <a:lstStyle/>
          <a:p>
            <a:pPr algn="l" indent="0" marL="0">
              <a:buNone/>
            </a:pPr>
            <a:r>
              <a:rPr lang="en-US" sz="1500" dirty="0">
                <a:solidFill>
                  <a:schemeClr val="bg2"/>
                </a:solidFill>
              </a:rPr>
              <a:t>4 intentos con backoff, luego DLX y DLQ para revisar a mano.</a:t>
            </a:r>
            <a:endParaRPr lang="en-US" sz="1500" dirty="0"/>
          </a:p>
        </p:txBody>
      </p:sp>
      <p:sp>
        <p:nvSpPr>
          <p:cNvPr id="23" name="circle-373"/>
          <p:cNvSpPr/>
          <p:nvPr/>
        </p:nvSpPr>
        <p:spPr>
          <a:xfrm>
            <a:off x="6172200" y="4572000"/>
            <a:ext cx="685800" cy="685800"/>
          </a:xfrm>
          <a:prstGeom prst="ellipse">
            <a:avLst/>
          </a:prstGeom>
          <a:solidFill>
            <a:schemeClr val="accent1"/>
          </a:solidFill>
          <a:ln/>
        </p:spPr>
      </p:sp>
      <p:pic>
        <p:nvPicPr>
          <p:cNvPr id="24" name="icon-374" descr="preencoded.png">    </p:cNvPr>
          <p:cNvPicPr>
            <a:picLocks noChangeAspect="1"/>
          </p:cNvPicPr>
          <p:nvPr/>
        </p:nvPicPr>
        <p:blipFill>
          <a:blip r:embed="rId6"/>
          <a:stretch>
            <a:fillRect/>
          </a:stretch>
        </p:blipFill>
        <p:spPr>
          <a:xfrm>
            <a:off x="6343650" y="4743450"/>
            <a:ext cx="342900" cy="342900"/>
          </a:xfrm>
          <a:prstGeom prst="rect">
            <a:avLst/>
          </a:prstGeom>
        </p:spPr>
      </p:pic>
      <p:sp>
        <p:nvSpPr>
          <p:cNvPr id="25" name="text-375"/>
          <p:cNvSpPr txBox="1"/>
          <p:nvPr/>
        </p:nvSpPr>
        <p:spPr>
          <a:xfrm>
            <a:off x="7086600" y="4553712"/>
            <a:ext cx="4480560" cy="457200"/>
          </a:xfrm>
          <a:prstGeom prst="rect">
            <a:avLst/>
          </a:prstGeom>
          <a:noFill/>
          <a:ln/>
        </p:spPr>
        <p:txBody>
          <a:bodyPr wrap="square" lIns="0" tIns="0" rIns="0" bIns="0" rtlCol="0" anchor="ctr"/>
          <a:lstStyle/>
          <a:p>
            <a:pPr algn="l" indent="0" marL="0">
              <a:buNone/>
            </a:pPr>
            <a:r>
              <a:rPr lang="en-US" sz="1900" b="1" dirty="0">
                <a:solidFill>
                  <a:schemeClr val="bg1"/>
                </a:solidFill>
              </a:rPr>
              <a:t>Consistencia eventual</a:t>
            </a:r>
            <a:endParaRPr lang="en-US" sz="1900" dirty="0"/>
          </a:p>
        </p:txBody>
      </p:sp>
      <p:sp>
        <p:nvSpPr>
          <p:cNvPr id="26" name="text-376"/>
          <p:cNvSpPr txBox="1"/>
          <p:nvPr/>
        </p:nvSpPr>
        <p:spPr>
          <a:xfrm>
            <a:off x="7086600" y="5029200"/>
            <a:ext cx="4480560" cy="777240"/>
          </a:xfrm>
          <a:prstGeom prst="rect">
            <a:avLst/>
          </a:prstGeom>
          <a:noFill/>
          <a:ln/>
        </p:spPr>
        <p:txBody>
          <a:bodyPr wrap="square" lIns="0" tIns="0" rIns="0" bIns="0" rtlCol="0" anchor="t"/>
          <a:lstStyle/>
          <a:p>
            <a:pPr algn="l" indent="0" marL="0">
              <a:buNone/>
            </a:pPr>
            <a:r>
              <a:rPr lang="en-US" sz="1500" dirty="0">
                <a:solidFill>
                  <a:schemeClr val="bg2"/>
                </a:solidFill>
              </a:rPr>
              <a:t>El frontend muestra el aviso un momento después, por polling.</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ReservaFit RabbitMQ">
  <a:themeElements>
    <a:clrScheme name="ReservaFit RabbitMQ">
      <a:dk1>
        <a:srgbClr val="1A1D26"/>
      </a:dk1>
      <a:lt1>
        <a:srgbClr val="FFFFFF"/>
      </a:lt1>
      <a:dk2>
        <a:srgbClr val="1F2433"/>
      </a:dk2>
      <a:lt2>
        <a:srgbClr val="F2F3F6"/>
      </a:lt2>
      <a:accent1>
        <a:srgbClr val="FF6B2C"/>
      </a:accent1>
      <a:accent2>
        <a:srgbClr val="14A394"/>
      </a:accent2>
      <a:accent3>
        <a:srgbClr val="7457E8"/>
      </a:accent3>
      <a:accent4>
        <a:srgbClr val="D93F46"/>
      </a:accent4>
      <a:accent5>
        <a:srgbClr val="2F6FE0"/>
      </a:accent5>
      <a:accent6>
        <a:srgbClr val="6B7285"/>
      </a:accent6>
      <a:hlink>
        <a:srgbClr val="2F6FE0"/>
      </a:hlink>
      <a:folHlink>
        <a:srgbClr val="7457E8"/>
      </a:folHlink>
    </a:clrScheme>
    <a:fontScheme name="ReservaFit RabbitMQ">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ReservaFit: mensajería con RabbitMQ</dc:title>
  <dc:subject>PptxGenJS Presentation</dc:subject>
  <dc:creator>ReservaFit</dc:creator>
  <cp:lastModifiedBy>ReservaFit</cp:lastModifiedBy>
  <cp:revision>1</cp:revision>
  <dcterms:created xsi:type="dcterms:W3CDTF">2026-10-22T14:13:13Z</dcterms:created>
  <dcterms:modified xsi:type="dcterms:W3CDTF">2026-10-22T14:13:13Z</dcterms:modified>
</cp:coreProperties>
</file>